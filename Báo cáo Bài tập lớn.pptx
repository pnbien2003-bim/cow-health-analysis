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Red Hat Display" charset="1" panose="02010503040201060303"/>
      <p:regular r:id="rId27"/>
    </p:embeddedFont>
    <p:embeddedFont>
      <p:font typeface="Red Hat Display Bold" charset="1" panose="02010803040201060303"/>
      <p:regular r:id="rId28"/>
    </p:embeddedFont>
    <p:embeddedFont>
      <p:font typeface="Red Hat Display Bold Italics" charset="1" panose="020108030402010D0303"/>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0">
            <a:off x="8760629" y="-2095015"/>
            <a:ext cx="10960234" cy="7472887"/>
          </a:xfrm>
          <a:custGeom>
            <a:avLst/>
            <a:gdLst/>
            <a:ahLst/>
            <a:cxnLst/>
            <a:rect r="r" b="b" t="t" l="l"/>
            <a:pathLst>
              <a:path h="7472887" w="10960234">
                <a:moveTo>
                  <a:pt x="0" y="0"/>
                </a:moveTo>
                <a:lnTo>
                  <a:pt x="10960234" y="0"/>
                </a:lnTo>
                <a:lnTo>
                  <a:pt x="10960234"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868185" y="2136222"/>
            <a:ext cx="6925852" cy="6014556"/>
          </a:xfrm>
          <a:custGeom>
            <a:avLst/>
            <a:gdLst/>
            <a:ahLst/>
            <a:cxnLst/>
            <a:rect r="r" b="b" t="t" l="l"/>
            <a:pathLst>
              <a:path h="6014556" w="6925852">
                <a:moveTo>
                  <a:pt x="0" y="0"/>
                </a:moveTo>
                <a:lnTo>
                  <a:pt x="6925852" y="0"/>
                </a:lnTo>
                <a:lnTo>
                  <a:pt x="6925852" y="6014556"/>
                </a:lnTo>
                <a:lnTo>
                  <a:pt x="0" y="60145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635325">
            <a:off x="-1336143" y="6923321"/>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6">
              <a:alphaModFix amt="50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226878">
            <a:off x="-216283" y="847655"/>
            <a:ext cx="4576141" cy="2579280"/>
          </a:xfrm>
          <a:custGeom>
            <a:avLst/>
            <a:gdLst/>
            <a:ahLst/>
            <a:cxnLst/>
            <a:rect r="r" b="b" t="t" l="l"/>
            <a:pathLst>
              <a:path h="2579280" w="4576141">
                <a:moveTo>
                  <a:pt x="0" y="0"/>
                </a:moveTo>
                <a:lnTo>
                  <a:pt x="4576141" y="0"/>
                </a:lnTo>
                <a:lnTo>
                  <a:pt x="4576141" y="2579280"/>
                </a:lnTo>
                <a:lnTo>
                  <a:pt x="0" y="25792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2830696">
            <a:off x="12315724" y="82296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2071788" y="5330247"/>
            <a:ext cx="5756398" cy="1543656"/>
          </a:xfrm>
          <a:prstGeom prst="rect">
            <a:avLst/>
          </a:prstGeom>
        </p:spPr>
        <p:txBody>
          <a:bodyPr anchor="t" rtlCol="false" tIns="0" lIns="0" bIns="0" rIns="0">
            <a:spAutoFit/>
          </a:bodyPr>
          <a:lstStyle/>
          <a:p>
            <a:pPr algn="l">
              <a:lnSpc>
                <a:spcPts val="4166"/>
              </a:lnSpc>
            </a:pPr>
            <a:r>
              <a:rPr lang="en-US" sz="2976">
                <a:solidFill>
                  <a:srgbClr val="5B7ABE"/>
                </a:solidFill>
                <a:latin typeface="Red Hat Display"/>
                <a:ea typeface="Red Hat Display"/>
                <a:cs typeface="Red Hat Display"/>
                <a:sym typeface="Red Hat Display"/>
              </a:rPr>
              <a:t>Phân tích dữ liệu lớn</a:t>
            </a:r>
          </a:p>
          <a:p>
            <a:pPr algn="l">
              <a:lnSpc>
                <a:spcPts val="4166"/>
              </a:lnSpc>
            </a:pPr>
            <a:r>
              <a:rPr lang="en-US" sz="2976">
                <a:solidFill>
                  <a:srgbClr val="5B7ABE"/>
                </a:solidFill>
                <a:latin typeface="Red Hat Display"/>
                <a:ea typeface="Red Hat Display"/>
                <a:cs typeface="Red Hat Display"/>
                <a:sym typeface="Red Hat Display"/>
              </a:rPr>
              <a:t>Nhóm 11</a:t>
            </a:r>
          </a:p>
          <a:p>
            <a:pPr algn="l">
              <a:lnSpc>
                <a:spcPts val="4166"/>
              </a:lnSpc>
            </a:pPr>
            <a:r>
              <a:rPr lang="en-US" sz="2976">
                <a:solidFill>
                  <a:srgbClr val="5B7ABE"/>
                </a:solidFill>
                <a:latin typeface="Red Hat Display"/>
                <a:ea typeface="Red Hat Display"/>
                <a:cs typeface="Red Hat Display"/>
                <a:sym typeface="Red Hat Display"/>
              </a:rPr>
              <a:t>Giảng viên : Nguyễn Hoàng Huy</a:t>
            </a:r>
          </a:p>
        </p:txBody>
      </p:sp>
      <p:sp>
        <p:nvSpPr>
          <p:cNvPr name="TextBox 8" id="8"/>
          <p:cNvSpPr txBox="true"/>
          <p:nvPr/>
        </p:nvSpPr>
        <p:spPr>
          <a:xfrm rot="0">
            <a:off x="1753451" y="3919670"/>
            <a:ext cx="8114734" cy="1084979"/>
          </a:xfrm>
          <a:prstGeom prst="rect">
            <a:avLst/>
          </a:prstGeom>
        </p:spPr>
        <p:txBody>
          <a:bodyPr anchor="t" rtlCol="false" tIns="0" lIns="0" bIns="0" rIns="0">
            <a:spAutoFit/>
          </a:bodyPr>
          <a:lstStyle/>
          <a:p>
            <a:pPr algn="l">
              <a:lnSpc>
                <a:spcPts val="8675"/>
              </a:lnSpc>
            </a:pPr>
            <a:r>
              <a:rPr lang="en-US" b="true" sz="6974">
                <a:solidFill>
                  <a:srgbClr val="2D2261"/>
                </a:solidFill>
                <a:latin typeface="Red Hat Display Bold"/>
                <a:ea typeface="Red Hat Display Bold"/>
                <a:cs typeface="Red Hat Display Bold"/>
                <a:sym typeface="Red Hat Display Bold"/>
              </a:rPr>
              <a:t>Báo cáo Bài tập lớn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TextBox 2" id="2"/>
          <p:cNvSpPr txBox="true"/>
          <p:nvPr/>
        </p:nvSpPr>
        <p:spPr>
          <a:xfrm rot="0">
            <a:off x="4645218" y="1386963"/>
            <a:ext cx="8994142" cy="728158"/>
          </a:xfrm>
          <a:prstGeom prst="rect">
            <a:avLst/>
          </a:prstGeom>
        </p:spPr>
        <p:txBody>
          <a:bodyPr anchor="t" rtlCol="false" tIns="0" lIns="0" bIns="0" rIns="0">
            <a:spAutoFit/>
          </a:bodyPr>
          <a:lstStyle/>
          <a:p>
            <a:pPr algn="ctr">
              <a:lnSpc>
                <a:spcPts val="6065"/>
              </a:lnSpc>
            </a:pPr>
            <a:r>
              <a:rPr lang="en-US" b="true" sz="4332">
                <a:solidFill>
                  <a:srgbClr val="2D2261"/>
                </a:solidFill>
                <a:latin typeface="Red Hat Display Bold"/>
                <a:ea typeface="Red Hat Display Bold"/>
                <a:cs typeface="Red Hat Display Bold"/>
                <a:sym typeface="Red Hat Display Bold"/>
              </a:rPr>
              <a:t>Nhóm 11</a:t>
            </a:r>
          </a:p>
        </p:txBody>
      </p:sp>
      <p:grpSp>
        <p:nvGrpSpPr>
          <p:cNvPr name="Group 3" id="3"/>
          <p:cNvGrpSpPr/>
          <p:nvPr/>
        </p:nvGrpSpPr>
        <p:grpSpPr>
          <a:xfrm rot="0">
            <a:off x="2281895" y="3949509"/>
            <a:ext cx="4061528" cy="2138023"/>
            <a:chOff x="0" y="0"/>
            <a:chExt cx="1069703" cy="563101"/>
          </a:xfrm>
        </p:grpSpPr>
        <p:sp>
          <p:nvSpPr>
            <p:cNvPr name="Freeform 4" id="4"/>
            <p:cNvSpPr/>
            <p:nvPr/>
          </p:nvSpPr>
          <p:spPr>
            <a:xfrm flipH="false" flipV="false" rot="0">
              <a:off x="0" y="0"/>
              <a:ext cx="1069703" cy="563101"/>
            </a:xfrm>
            <a:custGeom>
              <a:avLst/>
              <a:gdLst/>
              <a:ahLst/>
              <a:cxnLst/>
              <a:rect r="r" b="b" t="t" l="l"/>
              <a:pathLst>
                <a:path h="563101" w="1069703">
                  <a:moveTo>
                    <a:pt x="57185" y="0"/>
                  </a:moveTo>
                  <a:lnTo>
                    <a:pt x="1012518" y="0"/>
                  </a:lnTo>
                  <a:cubicBezTo>
                    <a:pt x="1027684" y="0"/>
                    <a:pt x="1042230" y="6025"/>
                    <a:pt x="1052954" y="16749"/>
                  </a:cubicBezTo>
                  <a:cubicBezTo>
                    <a:pt x="1063678" y="27473"/>
                    <a:pt x="1069703" y="42018"/>
                    <a:pt x="1069703" y="57185"/>
                  </a:cubicBezTo>
                  <a:lnTo>
                    <a:pt x="1069703" y="505916"/>
                  </a:lnTo>
                  <a:cubicBezTo>
                    <a:pt x="1069703" y="521082"/>
                    <a:pt x="1063678" y="535627"/>
                    <a:pt x="1052954" y="546352"/>
                  </a:cubicBezTo>
                  <a:cubicBezTo>
                    <a:pt x="1042230" y="557076"/>
                    <a:pt x="1027684" y="563101"/>
                    <a:pt x="1012518" y="563101"/>
                  </a:cubicBezTo>
                  <a:lnTo>
                    <a:pt x="57185" y="563101"/>
                  </a:lnTo>
                  <a:cubicBezTo>
                    <a:pt x="42018" y="563101"/>
                    <a:pt x="27473" y="557076"/>
                    <a:pt x="16749" y="546352"/>
                  </a:cubicBezTo>
                  <a:cubicBezTo>
                    <a:pt x="6025" y="535627"/>
                    <a:pt x="0" y="521082"/>
                    <a:pt x="0" y="505916"/>
                  </a:cubicBezTo>
                  <a:lnTo>
                    <a:pt x="0" y="57185"/>
                  </a:lnTo>
                  <a:cubicBezTo>
                    <a:pt x="0" y="42018"/>
                    <a:pt x="6025" y="27473"/>
                    <a:pt x="16749" y="16749"/>
                  </a:cubicBezTo>
                  <a:cubicBezTo>
                    <a:pt x="27473" y="6025"/>
                    <a:pt x="42018" y="0"/>
                    <a:pt x="57185" y="0"/>
                  </a:cubicBezTo>
                  <a:close/>
                </a:path>
              </a:pathLst>
            </a:custGeom>
            <a:solidFill>
              <a:srgbClr val="ECE1D7"/>
            </a:solidFill>
          </p:spPr>
        </p:sp>
        <p:sp>
          <p:nvSpPr>
            <p:cNvPr name="TextBox 5" id="5"/>
            <p:cNvSpPr txBox="true"/>
            <p:nvPr/>
          </p:nvSpPr>
          <p:spPr>
            <a:xfrm>
              <a:off x="0" y="-47625"/>
              <a:ext cx="1069703" cy="610726"/>
            </a:xfrm>
            <a:prstGeom prst="rect">
              <a:avLst/>
            </a:prstGeom>
          </p:spPr>
          <p:txBody>
            <a:bodyPr anchor="ctr" rtlCol="false" tIns="50800" lIns="50800" bIns="50800" rIns="50800"/>
            <a:lstStyle/>
            <a:p>
              <a:pPr algn="ctr">
                <a:lnSpc>
                  <a:spcPts val="3032"/>
                </a:lnSpc>
              </a:pPr>
            </a:p>
          </p:txBody>
        </p:sp>
      </p:grpSp>
      <p:grpSp>
        <p:nvGrpSpPr>
          <p:cNvPr name="Group 6" id="6"/>
          <p:cNvGrpSpPr/>
          <p:nvPr/>
        </p:nvGrpSpPr>
        <p:grpSpPr>
          <a:xfrm rot="0">
            <a:off x="7111525" y="3949509"/>
            <a:ext cx="4061528" cy="2138023"/>
            <a:chOff x="0" y="0"/>
            <a:chExt cx="1069703" cy="563101"/>
          </a:xfrm>
        </p:grpSpPr>
        <p:sp>
          <p:nvSpPr>
            <p:cNvPr name="Freeform 7" id="7"/>
            <p:cNvSpPr/>
            <p:nvPr/>
          </p:nvSpPr>
          <p:spPr>
            <a:xfrm flipH="false" flipV="false" rot="0">
              <a:off x="0" y="0"/>
              <a:ext cx="1069703" cy="563101"/>
            </a:xfrm>
            <a:custGeom>
              <a:avLst/>
              <a:gdLst/>
              <a:ahLst/>
              <a:cxnLst/>
              <a:rect r="r" b="b" t="t" l="l"/>
              <a:pathLst>
                <a:path h="563101" w="1069703">
                  <a:moveTo>
                    <a:pt x="57185" y="0"/>
                  </a:moveTo>
                  <a:lnTo>
                    <a:pt x="1012518" y="0"/>
                  </a:lnTo>
                  <a:cubicBezTo>
                    <a:pt x="1027684" y="0"/>
                    <a:pt x="1042230" y="6025"/>
                    <a:pt x="1052954" y="16749"/>
                  </a:cubicBezTo>
                  <a:cubicBezTo>
                    <a:pt x="1063678" y="27473"/>
                    <a:pt x="1069703" y="42018"/>
                    <a:pt x="1069703" y="57185"/>
                  </a:cubicBezTo>
                  <a:lnTo>
                    <a:pt x="1069703" y="505916"/>
                  </a:lnTo>
                  <a:cubicBezTo>
                    <a:pt x="1069703" y="521082"/>
                    <a:pt x="1063678" y="535627"/>
                    <a:pt x="1052954" y="546352"/>
                  </a:cubicBezTo>
                  <a:cubicBezTo>
                    <a:pt x="1042230" y="557076"/>
                    <a:pt x="1027684" y="563101"/>
                    <a:pt x="1012518" y="563101"/>
                  </a:cubicBezTo>
                  <a:lnTo>
                    <a:pt x="57185" y="563101"/>
                  </a:lnTo>
                  <a:cubicBezTo>
                    <a:pt x="42018" y="563101"/>
                    <a:pt x="27473" y="557076"/>
                    <a:pt x="16749" y="546352"/>
                  </a:cubicBezTo>
                  <a:cubicBezTo>
                    <a:pt x="6025" y="535627"/>
                    <a:pt x="0" y="521082"/>
                    <a:pt x="0" y="505916"/>
                  </a:cubicBezTo>
                  <a:lnTo>
                    <a:pt x="0" y="57185"/>
                  </a:lnTo>
                  <a:cubicBezTo>
                    <a:pt x="0" y="42018"/>
                    <a:pt x="6025" y="27473"/>
                    <a:pt x="16749" y="16749"/>
                  </a:cubicBezTo>
                  <a:cubicBezTo>
                    <a:pt x="27473" y="6025"/>
                    <a:pt x="42018" y="0"/>
                    <a:pt x="57185" y="0"/>
                  </a:cubicBezTo>
                  <a:close/>
                </a:path>
              </a:pathLst>
            </a:custGeom>
            <a:solidFill>
              <a:srgbClr val="ECE1D7"/>
            </a:solidFill>
          </p:spPr>
        </p:sp>
        <p:sp>
          <p:nvSpPr>
            <p:cNvPr name="TextBox 8" id="8"/>
            <p:cNvSpPr txBox="true"/>
            <p:nvPr/>
          </p:nvSpPr>
          <p:spPr>
            <a:xfrm>
              <a:off x="0" y="-47625"/>
              <a:ext cx="1069703" cy="610726"/>
            </a:xfrm>
            <a:prstGeom prst="rect">
              <a:avLst/>
            </a:prstGeom>
          </p:spPr>
          <p:txBody>
            <a:bodyPr anchor="ctr" rtlCol="false" tIns="50800" lIns="50800" bIns="50800" rIns="50800"/>
            <a:lstStyle/>
            <a:p>
              <a:pPr algn="ctr">
                <a:lnSpc>
                  <a:spcPts val="3032"/>
                </a:lnSpc>
              </a:pPr>
            </a:p>
          </p:txBody>
        </p:sp>
      </p:grpSp>
      <p:grpSp>
        <p:nvGrpSpPr>
          <p:cNvPr name="Group 9" id="9"/>
          <p:cNvGrpSpPr/>
          <p:nvPr/>
        </p:nvGrpSpPr>
        <p:grpSpPr>
          <a:xfrm rot="0">
            <a:off x="11944577" y="3949509"/>
            <a:ext cx="4061528" cy="2138023"/>
            <a:chOff x="0" y="0"/>
            <a:chExt cx="1069703" cy="563101"/>
          </a:xfrm>
        </p:grpSpPr>
        <p:sp>
          <p:nvSpPr>
            <p:cNvPr name="Freeform 10" id="10"/>
            <p:cNvSpPr/>
            <p:nvPr/>
          </p:nvSpPr>
          <p:spPr>
            <a:xfrm flipH="false" flipV="false" rot="0">
              <a:off x="0" y="0"/>
              <a:ext cx="1069703" cy="563101"/>
            </a:xfrm>
            <a:custGeom>
              <a:avLst/>
              <a:gdLst/>
              <a:ahLst/>
              <a:cxnLst/>
              <a:rect r="r" b="b" t="t" l="l"/>
              <a:pathLst>
                <a:path h="563101" w="1069703">
                  <a:moveTo>
                    <a:pt x="57185" y="0"/>
                  </a:moveTo>
                  <a:lnTo>
                    <a:pt x="1012518" y="0"/>
                  </a:lnTo>
                  <a:cubicBezTo>
                    <a:pt x="1027684" y="0"/>
                    <a:pt x="1042230" y="6025"/>
                    <a:pt x="1052954" y="16749"/>
                  </a:cubicBezTo>
                  <a:cubicBezTo>
                    <a:pt x="1063678" y="27473"/>
                    <a:pt x="1069703" y="42018"/>
                    <a:pt x="1069703" y="57185"/>
                  </a:cubicBezTo>
                  <a:lnTo>
                    <a:pt x="1069703" y="505916"/>
                  </a:lnTo>
                  <a:cubicBezTo>
                    <a:pt x="1069703" y="521082"/>
                    <a:pt x="1063678" y="535627"/>
                    <a:pt x="1052954" y="546352"/>
                  </a:cubicBezTo>
                  <a:cubicBezTo>
                    <a:pt x="1042230" y="557076"/>
                    <a:pt x="1027684" y="563101"/>
                    <a:pt x="1012518" y="563101"/>
                  </a:cubicBezTo>
                  <a:lnTo>
                    <a:pt x="57185" y="563101"/>
                  </a:lnTo>
                  <a:cubicBezTo>
                    <a:pt x="42018" y="563101"/>
                    <a:pt x="27473" y="557076"/>
                    <a:pt x="16749" y="546352"/>
                  </a:cubicBezTo>
                  <a:cubicBezTo>
                    <a:pt x="6025" y="535627"/>
                    <a:pt x="0" y="521082"/>
                    <a:pt x="0" y="505916"/>
                  </a:cubicBezTo>
                  <a:lnTo>
                    <a:pt x="0" y="57185"/>
                  </a:lnTo>
                  <a:cubicBezTo>
                    <a:pt x="0" y="42018"/>
                    <a:pt x="6025" y="27473"/>
                    <a:pt x="16749" y="16749"/>
                  </a:cubicBezTo>
                  <a:cubicBezTo>
                    <a:pt x="27473" y="6025"/>
                    <a:pt x="42018" y="0"/>
                    <a:pt x="57185" y="0"/>
                  </a:cubicBezTo>
                  <a:close/>
                </a:path>
              </a:pathLst>
            </a:custGeom>
            <a:solidFill>
              <a:srgbClr val="ECE1D7"/>
            </a:solidFill>
          </p:spPr>
        </p:sp>
        <p:sp>
          <p:nvSpPr>
            <p:cNvPr name="TextBox 11" id="11"/>
            <p:cNvSpPr txBox="true"/>
            <p:nvPr/>
          </p:nvSpPr>
          <p:spPr>
            <a:xfrm>
              <a:off x="0" y="-47625"/>
              <a:ext cx="1069703" cy="610726"/>
            </a:xfrm>
            <a:prstGeom prst="rect">
              <a:avLst/>
            </a:prstGeom>
          </p:spPr>
          <p:txBody>
            <a:bodyPr anchor="ctr" rtlCol="false" tIns="50800" lIns="50800" bIns="50800" rIns="50800"/>
            <a:lstStyle/>
            <a:p>
              <a:pPr algn="ctr">
                <a:lnSpc>
                  <a:spcPts val="3032"/>
                </a:lnSpc>
              </a:pPr>
            </a:p>
          </p:txBody>
        </p:sp>
      </p:grpSp>
      <p:grpSp>
        <p:nvGrpSpPr>
          <p:cNvPr name="Group 12" id="12"/>
          <p:cNvGrpSpPr/>
          <p:nvPr/>
        </p:nvGrpSpPr>
        <p:grpSpPr>
          <a:xfrm rot="0">
            <a:off x="2281895" y="3016101"/>
            <a:ext cx="4061528" cy="1419711"/>
            <a:chOff x="0" y="0"/>
            <a:chExt cx="1069703" cy="373916"/>
          </a:xfrm>
        </p:grpSpPr>
        <p:sp>
          <p:nvSpPr>
            <p:cNvPr name="Freeform 13" id="13"/>
            <p:cNvSpPr/>
            <p:nvPr/>
          </p:nvSpPr>
          <p:spPr>
            <a:xfrm flipH="false" flipV="false" rot="0">
              <a:off x="0" y="0"/>
              <a:ext cx="1069703" cy="373916"/>
            </a:xfrm>
            <a:custGeom>
              <a:avLst/>
              <a:gdLst/>
              <a:ahLst/>
              <a:cxnLst/>
              <a:rect r="r" b="b" t="t" l="l"/>
              <a:pathLst>
                <a:path h="373916" w="1069703">
                  <a:moveTo>
                    <a:pt x="57185" y="0"/>
                  </a:moveTo>
                  <a:lnTo>
                    <a:pt x="1012518" y="0"/>
                  </a:lnTo>
                  <a:cubicBezTo>
                    <a:pt x="1027684" y="0"/>
                    <a:pt x="1042230" y="6025"/>
                    <a:pt x="1052954" y="16749"/>
                  </a:cubicBezTo>
                  <a:cubicBezTo>
                    <a:pt x="1063678" y="27473"/>
                    <a:pt x="1069703" y="42018"/>
                    <a:pt x="1069703" y="57185"/>
                  </a:cubicBezTo>
                  <a:lnTo>
                    <a:pt x="1069703" y="316731"/>
                  </a:lnTo>
                  <a:cubicBezTo>
                    <a:pt x="1069703" y="331897"/>
                    <a:pt x="1063678" y="346442"/>
                    <a:pt x="1052954" y="357167"/>
                  </a:cubicBezTo>
                  <a:cubicBezTo>
                    <a:pt x="1042230" y="367891"/>
                    <a:pt x="1027684" y="373916"/>
                    <a:pt x="1012518" y="373916"/>
                  </a:cubicBezTo>
                  <a:lnTo>
                    <a:pt x="57185" y="373916"/>
                  </a:lnTo>
                  <a:cubicBezTo>
                    <a:pt x="42018" y="373916"/>
                    <a:pt x="27473" y="367891"/>
                    <a:pt x="16749" y="357167"/>
                  </a:cubicBezTo>
                  <a:cubicBezTo>
                    <a:pt x="6025" y="346442"/>
                    <a:pt x="0" y="331897"/>
                    <a:pt x="0" y="316731"/>
                  </a:cubicBezTo>
                  <a:lnTo>
                    <a:pt x="0" y="57185"/>
                  </a:lnTo>
                  <a:cubicBezTo>
                    <a:pt x="0" y="42018"/>
                    <a:pt x="6025" y="27473"/>
                    <a:pt x="16749" y="16749"/>
                  </a:cubicBezTo>
                  <a:cubicBezTo>
                    <a:pt x="27473" y="6025"/>
                    <a:pt x="42018" y="0"/>
                    <a:pt x="57185" y="0"/>
                  </a:cubicBezTo>
                  <a:close/>
                </a:path>
              </a:pathLst>
            </a:custGeom>
            <a:solidFill>
              <a:srgbClr val="5B7ABE"/>
            </a:solidFill>
          </p:spPr>
        </p:sp>
        <p:sp>
          <p:nvSpPr>
            <p:cNvPr name="TextBox 14" id="14"/>
            <p:cNvSpPr txBox="true"/>
            <p:nvPr/>
          </p:nvSpPr>
          <p:spPr>
            <a:xfrm>
              <a:off x="0" y="-47625"/>
              <a:ext cx="1069703" cy="421541"/>
            </a:xfrm>
            <a:prstGeom prst="rect">
              <a:avLst/>
            </a:prstGeom>
          </p:spPr>
          <p:txBody>
            <a:bodyPr anchor="ctr" rtlCol="false" tIns="50800" lIns="50800" bIns="50800" rIns="50800"/>
            <a:lstStyle/>
            <a:p>
              <a:pPr algn="ctr">
                <a:lnSpc>
                  <a:spcPts val="3032"/>
                </a:lnSpc>
              </a:pPr>
            </a:p>
          </p:txBody>
        </p:sp>
      </p:grpSp>
      <p:grpSp>
        <p:nvGrpSpPr>
          <p:cNvPr name="Group 15" id="15"/>
          <p:cNvGrpSpPr/>
          <p:nvPr/>
        </p:nvGrpSpPr>
        <p:grpSpPr>
          <a:xfrm rot="0">
            <a:off x="7111525" y="3016101"/>
            <a:ext cx="4061528" cy="1419711"/>
            <a:chOff x="0" y="0"/>
            <a:chExt cx="1069703" cy="373916"/>
          </a:xfrm>
        </p:grpSpPr>
        <p:sp>
          <p:nvSpPr>
            <p:cNvPr name="Freeform 16" id="16"/>
            <p:cNvSpPr/>
            <p:nvPr/>
          </p:nvSpPr>
          <p:spPr>
            <a:xfrm flipH="false" flipV="false" rot="0">
              <a:off x="0" y="0"/>
              <a:ext cx="1069703" cy="373916"/>
            </a:xfrm>
            <a:custGeom>
              <a:avLst/>
              <a:gdLst/>
              <a:ahLst/>
              <a:cxnLst/>
              <a:rect r="r" b="b" t="t" l="l"/>
              <a:pathLst>
                <a:path h="373916" w="1069703">
                  <a:moveTo>
                    <a:pt x="57185" y="0"/>
                  </a:moveTo>
                  <a:lnTo>
                    <a:pt x="1012518" y="0"/>
                  </a:lnTo>
                  <a:cubicBezTo>
                    <a:pt x="1027684" y="0"/>
                    <a:pt x="1042230" y="6025"/>
                    <a:pt x="1052954" y="16749"/>
                  </a:cubicBezTo>
                  <a:cubicBezTo>
                    <a:pt x="1063678" y="27473"/>
                    <a:pt x="1069703" y="42018"/>
                    <a:pt x="1069703" y="57185"/>
                  </a:cubicBezTo>
                  <a:lnTo>
                    <a:pt x="1069703" y="316731"/>
                  </a:lnTo>
                  <a:cubicBezTo>
                    <a:pt x="1069703" y="331897"/>
                    <a:pt x="1063678" y="346442"/>
                    <a:pt x="1052954" y="357167"/>
                  </a:cubicBezTo>
                  <a:cubicBezTo>
                    <a:pt x="1042230" y="367891"/>
                    <a:pt x="1027684" y="373916"/>
                    <a:pt x="1012518" y="373916"/>
                  </a:cubicBezTo>
                  <a:lnTo>
                    <a:pt x="57185" y="373916"/>
                  </a:lnTo>
                  <a:cubicBezTo>
                    <a:pt x="42018" y="373916"/>
                    <a:pt x="27473" y="367891"/>
                    <a:pt x="16749" y="357167"/>
                  </a:cubicBezTo>
                  <a:cubicBezTo>
                    <a:pt x="6025" y="346442"/>
                    <a:pt x="0" y="331897"/>
                    <a:pt x="0" y="316731"/>
                  </a:cubicBezTo>
                  <a:lnTo>
                    <a:pt x="0" y="57185"/>
                  </a:lnTo>
                  <a:cubicBezTo>
                    <a:pt x="0" y="42018"/>
                    <a:pt x="6025" y="27473"/>
                    <a:pt x="16749" y="16749"/>
                  </a:cubicBezTo>
                  <a:cubicBezTo>
                    <a:pt x="27473" y="6025"/>
                    <a:pt x="42018" y="0"/>
                    <a:pt x="57185" y="0"/>
                  </a:cubicBezTo>
                  <a:close/>
                </a:path>
              </a:pathLst>
            </a:custGeom>
            <a:solidFill>
              <a:srgbClr val="5B7ABE"/>
            </a:solidFill>
          </p:spPr>
        </p:sp>
        <p:sp>
          <p:nvSpPr>
            <p:cNvPr name="TextBox 17" id="17"/>
            <p:cNvSpPr txBox="true"/>
            <p:nvPr/>
          </p:nvSpPr>
          <p:spPr>
            <a:xfrm>
              <a:off x="0" y="-47625"/>
              <a:ext cx="1069703" cy="421541"/>
            </a:xfrm>
            <a:prstGeom prst="rect">
              <a:avLst/>
            </a:prstGeom>
          </p:spPr>
          <p:txBody>
            <a:bodyPr anchor="ctr" rtlCol="false" tIns="50800" lIns="50800" bIns="50800" rIns="50800"/>
            <a:lstStyle/>
            <a:p>
              <a:pPr algn="ctr">
                <a:lnSpc>
                  <a:spcPts val="3032"/>
                </a:lnSpc>
              </a:pPr>
            </a:p>
          </p:txBody>
        </p:sp>
      </p:grpSp>
      <p:grpSp>
        <p:nvGrpSpPr>
          <p:cNvPr name="Group 18" id="18"/>
          <p:cNvGrpSpPr/>
          <p:nvPr/>
        </p:nvGrpSpPr>
        <p:grpSpPr>
          <a:xfrm rot="0">
            <a:off x="11944577" y="3016101"/>
            <a:ext cx="4061528" cy="1419711"/>
            <a:chOff x="0" y="0"/>
            <a:chExt cx="1069703" cy="373916"/>
          </a:xfrm>
        </p:grpSpPr>
        <p:sp>
          <p:nvSpPr>
            <p:cNvPr name="Freeform 19" id="19"/>
            <p:cNvSpPr/>
            <p:nvPr/>
          </p:nvSpPr>
          <p:spPr>
            <a:xfrm flipH="false" flipV="false" rot="0">
              <a:off x="0" y="0"/>
              <a:ext cx="1069703" cy="373916"/>
            </a:xfrm>
            <a:custGeom>
              <a:avLst/>
              <a:gdLst/>
              <a:ahLst/>
              <a:cxnLst/>
              <a:rect r="r" b="b" t="t" l="l"/>
              <a:pathLst>
                <a:path h="373916" w="1069703">
                  <a:moveTo>
                    <a:pt x="57185" y="0"/>
                  </a:moveTo>
                  <a:lnTo>
                    <a:pt x="1012518" y="0"/>
                  </a:lnTo>
                  <a:cubicBezTo>
                    <a:pt x="1027684" y="0"/>
                    <a:pt x="1042230" y="6025"/>
                    <a:pt x="1052954" y="16749"/>
                  </a:cubicBezTo>
                  <a:cubicBezTo>
                    <a:pt x="1063678" y="27473"/>
                    <a:pt x="1069703" y="42018"/>
                    <a:pt x="1069703" y="57185"/>
                  </a:cubicBezTo>
                  <a:lnTo>
                    <a:pt x="1069703" y="316731"/>
                  </a:lnTo>
                  <a:cubicBezTo>
                    <a:pt x="1069703" y="331897"/>
                    <a:pt x="1063678" y="346442"/>
                    <a:pt x="1052954" y="357167"/>
                  </a:cubicBezTo>
                  <a:cubicBezTo>
                    <a:pt x="1042230" y="367891"/>
                    <a:pt x="1027684" y="373916"/>
                    <a:pt x="1012518" y="373916"/>
                  </a:cubicBezTo>
                  <a:lnTo>
                    <a:pt x="57185" y="373916"/>
                  </a:lnTo>
                  <a:cubicBezTo>
                    <a:pt x="42018" y="373916"/>
                    <a:pt x="27473" y="367891"/>
                    <a:pt x="16749" y="357167"/>
                  </a:cubicBezTo>
                  <a:cubicBezTo>
                    <a:pt x="6025" y="346442"/>
                    <a:pt x="0" y="331897"/>
                    <a:pt x="0" y="316731"/>
                  </a:cubicBezTo>
                  <a:lnTo>
                    <a:pt x="0" y="57185"/>
                  </a:lnTo>
                  <a:cubicBezTo>
                    <a:pt x="0" y="42018"/>
                    <a:pt x="6025" y="27473"/>
                    <a:pt x="16749" y="16749"/>
                  </a:cubicBezTo>
                  <a:cubicBezTo>
                    <a:pt x="27473" y="6025"/>
                    <a:pt x="42018" y="0"/>
                    <a:pt x="57185" y="0"/>
                  </a:cubicBezTo>
                  <a:close/>
                </a:path>
              </a:pathLst>
            </a:custGeom>
            <a:solidFill>
              <a:srgbClr val="5B7ABE"/>
            </a:solidFill>
          </p:spPr>
        </p:sp>
        <p:sp>
          <p:nvSpPr>
            <p:cNvPr name="TextBox 20" id="20"/>
            <p:cNvSpPr txBox="true"/>
            <p:nvPr/>
          </p:nvSpPr>
          <p:spPr>
            <a:xfrm>
              <a:off x="0" y="-47625"/>
              <a:ext cx="1069703" cy="421541"/>
            </a:xfrm>
            <a:prstGeom prst="rect">
              <a:avLst/>
            </a:prstGeom>
          </p:spPr>
          <p:txBody>
            <a:bodyPr anchor="ctr" rtlCol="false" tIns="50800" lIns="50800" bIns="50800" rIns="50800"/>
            <a:lstStyle/>
            <a:p>
              <a:pPr algn="ctr">
                <a:lnSpc>
                  <a:spcPts val="3032"/>
                </a:lnSpc>
              </a:pPr>
            </a:p>
          </p:txBody>
        </p:sp>
      </p:grpSp>
      <p:sp>
        <p:nvSpPr>
          <p:cNvPr name="TextBox 21" id="21"/>
          <p:cNvSpPr txBox="true"/>
          <p:nvPr/>
        </p:nvSpPr>
        <p:spPr>
          <a:xfrm rot="0">
            <a:off x="2561139" y="3522789"/>
            <a:ext cx="3503040" cy="396240"/>
          </a:xfrm>
          <a:prstGeom prst="rect">
            <a:avLst/>
          </a:prstGeom>
        </p:spPr>
        <p:txBody>
          <a:bodyPr anchor="t" rtlCol="false" tIns="0" lIns="0" bIns="0" rIns="0">
            <a:spAutoFit/>
          </a:bodyPr>
          <a:lstStyle/>
          <a:p>
            <a:pPr algn="ctr">
              <a:lnSpc>
                <a:spcPts val="3359"/>
              </a:lnSpc>
            </a:pPr>
            <a:r>
              <a:rPr lang="en-US" b="true" sz="2400">
                <a:solidFill>
                  <a:srgbClr val="FBFCFE"/>
                </a:solidFill>
                <a:latin typeface="Red Hat Display Bold"/>
                <a:ea typeface="Red Hat Display Bold"/>
                <a:cs typeface="Red Hat Display Bold"/>
                <a:sym typeface="Red Hat Display Bold"/>
              </a:rPr>
              <a:t>Trưởng nhóm</a:t>
            </a:r>
          </a:p>
        </p:txBody>
      </p:sp>
      <p:sp>
        <p:nvSpPr>
          <p:cNvPr name="TextBox 22" id="22"/>
          <p:cNvSpPr txBox="true"/>
          <p:nvPr/>
        </p:nvSpPr>
        <p:spPr>
          <a:xfrm rot="0">
            <a:off x="7555435" y="3522789"/>
            <a:ext cx="3173706" cy="396240"/>
          </a:xfrm>
          <a:prstGeom prst="rect">
            <a:avLst/>
          </a:prstGeom>
        </p:spPr>
        <p:txBody>
          <a:bodyPr anchor="t" rtlCol="false" tIns="0" lIns="0" bIns="0" rIns="0">
            <a:spAutoFit/>
          </a:bodyPr>
          <a:lstStyle/>
          <a:p>
            <a:pPr algn="ctr">
              <a:lnSpc>
                <a:spcPts val="3359"/>
              </a:lnSpc>
            </a:pPr>
            <a:r>
              <a:rPr lang="en-US" b="true" sz="2400">
                <a:solidFill>
                  <a:srgbClr val="FBFCFE"/>
                </a:solidFill>
                <a:latin typeface="Red Hat Display Bold"/>
                <a:ea typeface="Red Hat Display Bold"/>
                <a:cs typeface="Red Hat Display Bold"/>
                <a:sym typeface="Red Hat Display Bold"/>
              </a:rPr>
              <a:t>Thành viên</a:t>
            </a:r>
          </a:p>
        </p:txBody>
      </p:sp>
      <p:sp>
        <p:nvSpPr>
          <p:cNvPr name="TextBox 23" id="23"/>
          <p:cNvSpPr txBox="true"/>
          <p:nvPr/>
        </p:nvSpPr>
        <p:spPr>
          <a:xfrm rot="0">
            <a:off x="12388488" y="3522789"/>
            <a:ext cx="3173706" cy="396240"/>
          </a:xfrm>
          <a:prstGeom prst="rect">
            <a:avLst/>
          </a:prstGeom>
        </p:spPr>
        <p:txBody>
          <a:bodyPr anchor="t" rtlCol="false" tIns="0" lIns="0" bIns="0" rIns="0">
            <a:spAutoFit/>
          </a:bodyPr>
          <a:lstStyle/>
          <a:p>
            <a:pPr algn="ctr">
              <a:lnSpc>
                <a:spcPts val="3359"/>
              </a:lnSpc>
            </a:pPr>
            <a:r>
              <a:rPr lang="en-US" b="true" sz="2400">
                <a:solidFill>
                  <a:srgbClr val="FBFCFE"/>
                </a:solidFill>
                <a:latin typeface="Red Hat Display Bold"/>
                <a:ea typeface="Red Hat Display Bold"/>
                <a:cs typeface="Red Hat Display Bold"/>
                <a:sym typeface="Red Hat Display Bold"/>
              </a:rPr>
              <a:t>Thành viên</a:t>
            </a:r>
          </a:p>
        </p:txBody>
      </p:sp>
      <p:sp>
        <p:nvSpPr>
          <p:cNvPr name="TextBox 24" id="24"/>
          <p:cNvSpPr txBox="true"/>
          <p:nvPr/>
        </p:nvSpPr>
        <p:spPr>
          <a:xfrm rot="0">
            <a:off x="2890472" y="5202580"/>
            <a:ext cx="2844373" cy="306705"/>
          </a:xfrm>
          <a:prstGeom prst="rect">
            <a:avLst/>
          </a:prstGeom>
        </p:spPr>
        <p:txBody>
          <a:bodyPr anchor="t" rtlCol="false" tIns="0" lIns="0" bIns="0" rIns="0">
            <a:spAutoFit/>
          </a:bodyPr>
          <a:lstStyle/>
          <a:p>
            <a:pPr algn="ctr">
              <a:lnSpc>
                <a:spcPts val="2519"/>
              </a:lnSpc>
            </a:pPr>
            <a:r>
              <a:rPr lang="en-US" sz="1799">
                <a:solidFill>
                  <a:srgbClr val="2D2261"/>
                </a:solidFill>
                <a:latin typeface="Red Hat Display"/>
                <a:ea typeface="Red Hat Display"/>
                <a:cs typeface="Red Hat Display"/>
                <a:sym typeface="Red Hat Display"/>
              </a:rPr>
              <a:t>Phạm Như Biển</a:t>
            </a:r>
          </a:p>
        </p:txBody>
      </p:sp>
      <p:sp>
        <p:nvSpPr>
          <p:cNvPr name="TextBox 25" id="25"/>
          <p:cNvSpPr txBox="true"/>
          <p:nvPr/>
        </p:nvSpPr>
        <p:spPr>
          <a:xfrm rot="0">
            <a:off x="7700444" y="5202580"/>
            <a:ext cx="2887111" cy="306705"/>
          </a:xfrm>
          <a:prstGeom prst="rect">
            <a:avLst/>
          </a:prstGeom>
        </p:spPr>
        <p:txBody>
          <a:bodyPr anchor="t" rtlCol="false" tIns="0" lIns="0" bIns="0" rIns="0">
            <a:spAutoFit/>
          </a:bodyPr>
          <a:lstStyle/>
          <a:p>
            <a:pPr algn="ctr">
              <a:lnSpc>
                <a:spcPts val="2519"/>
              </a:lnSpc>
            </a:pPr>
            <a:r>
              <a:rPr lang="en-US" sz="1799">
                <a:solidFill>
                  <a:srgbClr val="2D2261"/>
                </a:solidFill>
                <a:latin typeface="Red Hat Display"/>
                <a:ea typeface="Red Hat Display"/>
                <a:cs typeface="Red Hat Display"/>
                <a:sym typeface="Red Hat Display"/>
              </a:rPr>
              <a:t>Đỗ Kim Cương</a:t>
            </a:r>
          </a:p>
        </p:txBody>
      </p:sp>
      <p:sp>
        <p:nvSpPr>
          <p:cNvPr name="TextBox 26" id="26"/>
          <p:cNvSpPr txBox="true"/>
          <p:nvPr/>
        </p:nvSpPr>
        <p:spPr>
          <a:xfrm rot="0">
            <a:off x="12525602" y="5202580"/>
            <a:ext cx="2837426" cy="306705"/>
          </a:xfrm>
          <a:prstGeom prst="rect">
            <a:avLst/>
          </a:prstGeom>
        </p:spPr>
        <p:txBody>
          <a:bodyPr anchor="t" rtlCol="false" tIns="0" lIns="0" bIns="0" rIns="0">
            <a:spAutoFit/>
          </a:bodyPr>
          <a:lstStyle/>
          <a:p>
            <a:pPr algn="ctr">
              <a:lnSpc>
                <a:spcPts val="2519"/>
              </a:lnSpc>
            </a:pPr>
            <a:r>
              <a:rPr lang="en-US" sz="1799">
                <a:solidFill>
                  <a:srgbClr val="2D2261"/>
                </a:solidFill>
                <a:latin typeface="Red Hat Display"/>
                <a:ea typeface="Red Hat Display"/>
                <a:cs typeface="Red Hat Display"/>
                <a:sym typeface="Red Hat Display"/>
              </a:rPr>
              <a:t>Phạm Văn Đạt </a:t>
            </a:r>
          </a:p>
        </p:txBody>
      </p:sp>
      <p:sp>
        <p:nvSpPr>
          <p:cNvPr name="Freeform 27" id="27"/>
          <p:cNvSpPr/>
          <p:nvPr/>
        </p:nvSpPr>
        <p:spPr>
          <a:xfrm flipH="false" flipV="false" rot="-2080684">
            <a:off x="10082077" y="8242051"/>
            <a:ext cx="10960234" cy="7472887"/>
          </a:xfrm>
          <a:custGeom>
            <a:avLst/>
            <a:gdLst/>
            <a:ahLst/>
            <a:cxnLst/>
            <a:rect r="r" b="b" t="t" l="l"/>
            <a:pathLst>
              <a:path h="7472887" w="10960234">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28" id="28"/>
          <p:cNvSpPr/>
          <p:nvPr/>
        </p:nvSpPr>
        <p:spPr>
          <a:xfrm flipH="false" flipV="false" rot="9426524">
            <a:off x="-3984660" y="-4765086"/>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29" id="29"/>
          <p:cNvSpPr/>
          <p:nvPr/>
        </p:nvSpPr>
        <p:spPr>
          <a:xfrm flipH="false" flipV="false" rot="-2624874">
            <a:off x="-884948" y="9077955"/>
            <a:ext cx="3242701" cy="1827704"/>
          </a:xfrm>
          <a:custGeom>
            <a:avLst/>
            <a:gdLst/>
            <a:ahLst/>
            <a:cxnLst/>
            <a:rect r="r" b="b" t="t" l="l"/>
            <a:pathLst>
              <a:path h="1827704" w="3242701">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0" id="30"/>
          <p:cNvSpPr/>
          <p:nvPr/>
        </p:nvSpPr>
        <p:spPr>
          <a:xfrm flipH="false" flipV="false" rot="2830696">
            <a:off x="16075185" y="-10287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0">
            <a:off x="0" y="2678289"/>
            <a:ext cx="1227828" cy="1227828"/>
          </a:xfrm>
          <a:custGeom>
            <a:avLst/>
            <a:gdLst/>
            <a:ahLst/>
            <a:cxnLst/>
            <a:rect r="r" b="b" t="t" l="l"/>
            <a:pathLst>
              <a:path h="1227828" w="1227828">
                <a:moveTo>
                  <a:pt x="0" y="0"/>
                </a:moveTo>
                <a:lnTo>
                  <a:pt x="1227828" y="0"/>
                </a:lnTo>
                <a:lnTo>
                  <a:pt x="1227828" y="1227829"/>
                </a:lnTo>
                <a:lnTo>
                  <a:pt x="0" y="1227829"/>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4268406"/>
            <a:ext cx="1227828" cy="1227828"/>
          </a:xfrm>
          <a:custGeom>
            <a:avLst/>
            <a:gdLst/>
            <a:ahLst/>
            <a:cxnLst/>
            <a:rect r="r" b="b" t="t" l="l"/>
            <a:pathLst>
              <a:path h="1227828" w="1227828">
                <a:moveTo>
                  <a:pt x="0" y="0"/>
                </a:moveTo>
                <a:lnTo>
                  <a:pt x="1227828" y="0"/>
                </a:lnTo>
                <a:lnTo>
                  <a:pt x="1227828" y="1227829"/>
                </a:lnTo>
                <a:lnTo>
                  <a:pt x="0" y="1227829"/>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1313" y="5860232"/>
            <a:ext cx="1227828" cy="1227828"/>
          </a:xfrm>
          <a:custGeom>
            <a:avLst/>
            <a:gdLst/>
            <a:ahLst/>
            <a:cxnLst/>
            <a:rect r="r" b="b" t="t" l="l"/>
            <a:pathLst>
              <a:path h="1227828" w="1227828">
                <a:moveTo>
                  <a:pt x="0" y="0"/>
                </a:moveTo>
                <a:lnTo>
                  <a:pt x="1227828" y="0"/>
                </a:lnTo>
                <a:lnTo>
                  <a:pt x="1227828" y="1227828"/>
                </a:lnTo>
                <a:lnTo>
                  <a:pt x="0" y="1227828"/>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156446" y="2834736"/>
            <a:ext cx="914936" cy="91493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grpSp>
        <p:nvGrpSpPr>
          <p:cNvPr name="Group 8" id="8"/>
          <p:cNvGrpSpPr/>
          <p:nvPr/>
        </p:nvGrpSpPr>
        <p:grpSpPr>
          <a:xfrm rot="0">
            <a:off x="156446" y="4424853"/>
            <a:ext cx="914936" cy="91493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grpSp>
        <p:nvGrpSpPr>
          <p:cNvPr name="Group 11" id="11"/>
          <p:cNvGrpSpPr/>
          <p:nvPr/>
        </p:nvGrpSpPr>
        <p:grpSpPr>
          <a:xfrm rot="0">
            <a:off x="187759" y="6016678"/>
            <a:ext cx="914936" cy="914936"/>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TextBox 14" id="14"/>
          <p:cNvSpPr txBox="true"/>
          <p:nvPr/>
        </p:nvSpPr>
        <p:spPr>
          <a:xfrm rot="0">
            <a:off x="1466930" y="3123570"/>
            <a:ext cx="5276161" cy="385012"/>
          </a:xfrm>
          <a:prstGeom prst="rect">
            <a:avLst/>
          </a:prstGeom>
        </p:spPr>
        <p:txBody>
          <a:bodyPr anchor="t" rtlCol="false" tIns="0" lIns="0" bIns="0" rIns="0">
            <a:spAutoFit/>
          </a:bodyPr>
          <a:lstStyle/>
          <a:p>
            <a:pPr algn="l">
              <a:lnSpc>
                <a:spcPts val="3095"/>
              </a:lnSpc>
            </a:pPr>
            <a:r>
              <a:rPr lang="en-US" b="true" sz="2488">
                <a:solidFill>
                  <a:srgbClr val="2D2261"/>
                </a:solidFill>
                <a:latin typeface="Red Hat Display Bold"/>
                <a:ea typeface="Red Hat Display Bold"/>
                <a:cs typeface="Red Hat Display Bold"/>
                <a:sym typeface="Red Hat Display Bold"/>
              </a:rPr>
              <a:t>Bối cảnh nghiên cứu</a:t>
            </a:r>
          </a:p>
        </p:txBody>
      </p:sp>
      <p:sp>
        <p:nvSpPr>
          <p:cNvPr name="TextBox 15" id="15"/>
          <p:cNvSpPr txBox="true"/>
          <p:nvPr/>
        </p:nvSpPr>
        <p:spPr>
          <a:xfrm rot="0">
            <a:off x="1466930" y="4758488"/>
            <a:ext cx="6885933" cy="385012"/>
          </a:xfrm>
          <a:prstGeom prst="rect">
            <a:avLst/>
          </a:prstGeom>
        </p:spPr>
        <p:txBody>
          <a:bodyPr anchor="t" rtlCol="false" tIns="0" lIns="0" bIns="0" rIns="0">
            <a:spAutoFit/>
          </a:bodyPr>
          <a:lstStyle/>
          <a:p>
            <a:pPr algn="l">
              <a:lnSpc>
                <a:spcPts val="3095"/>
              </a:lnSpc>
            </a:pPr>
            <a:r>
              <a:rPr lang="en-US" b="true" sz="2488">
                <a:solidFill>
                  <a:srgbClr val="2D2261"/>
                </a:solidFill>
                <a:latin typeface="Red Hat Display Bold"/>
                <a:ea typeface="Red Hat Display Bold"/>
                <a:cs typeface="Red Hat Display Bold"/>
                <a:sym typeface="Red Hat Display Bold"/>
              </a:rPr>
              <a:t>Lí do chọn đề tài</a:t>
            </a:r>
          </a:p>
        </p:txBody>
      </p:sp>
      <p:sp>
        <p:nvSpPr>
          <p:cNvPr name="TextBox 16" id="16"/>
          <p:cNvSpPr txBox="true"/>
          <p:nvPr/>
        </p:nvSpPr>
        <p:spPr>
          <a:xfrm rot="0">
            <a:off x="1466930" y="6305512"/>
            <a:ext cx="5276161" cy="385012"/>
          </a:xfrm>
          <a:prstGeom prst="rect">
            <a:avLst/>
          </a:prstGeom>
        </p:spPr>
        <p:txBody>
          <a:bodyPr anchor="t" rtlCol="false" tIns="0" lIns="0" bIns="0" rIns="0">
            <a:spAutoFit/>
          </a:bodyPr>
          <a:lstStyle/>
          <a:p>
            <a:pPr algn="l">
              <a:lnSpc>
                <a:spcPts val="3095"/>
              </a:lnSpc>
            </a:pPr>
            <a:r>
              <a:rPr lang="en-US" b="true" sz="2488">
                <a:solidFill>
                  <a:srgbClr val="2D2261"/>
                </a:solidFill>
                <a:latin typeface="Red Hat Display Bold"/>
                <a:ea typeface="Red Hat Display Bold"/>
                <a:cs typeface="Red Hat Display Bold"/>
                <a:sym typeface="Red Hat Display Bold"/>
              </a:rPr>
              <a:t>Mục tiêu nghiên cứu</a:t>
            </a:r>
          </a:p>
        </p:txBody>
      </p:sp>
      <p:sp>
        <p:nvSpPr>
          <p:cNvPr name="TextBox 17" id="17"/>
          <p:cNvSpPr txBox="true"/>
          <p:nvPr/>
        </p:nvSpPr>
        <p:spPr>
          <a:xfrm rot="0">
            <a:off x="187406" y="3056776"/>
            <a:ext cx="853015" cy="451806"/>
          </a:xfrm>
          <a:prstGeom prst="rect">
            <a:avLst/>
          </a:prstGeom>
        </p:spPr>
        <p:txBody>
          <a:bodyPr anchor="t" rtlCol="false" tIns="0" lIns="0" bIns="0" rIns="0">
            <a:spAutoFit/>
          </a:bodyPr>
          <a:lstStyle/>
          <a:p>
            <a:pPr algn="ctr">
              <a:lnSpc>
                <a:spcPts val="3537"/>
              </a:lnSpc>
            </a:pPr>
            <a:r>
              <a:rPr lang="en-US" b="true" sz="2843">
                <a:solidFill>
                  <a:srgbClr val="2D2261"/>
                </a:solidFill>
                <a:latin typeface="Red Hat Display Bold"/>
                <a:ea typeface="Red Hat Display Bold"/>
                <a:cs typeface="Red Hat Display Bold"/>
                <a:sym typeface="Red Hat Display Bold"/>
              </a:rPr>
              <a:t>01</a:t>
            </a:r>
          </a:p>
        </p:txBody>
      </p:sp>
      <p:sp>
        <p:nvSpPr>
          <p:cNvPr name="TextBox 18" id="18"/>
          <p:cNvSpPr txBox="true"/>
          <p:nvPr/>
        </p:nvSpPr>
        <p:spPr>
          <a:xfrm rot="0">
            <a:off x="187406" y="4646892"/>
            <a:ext cx="853015" cy="451806"/>
          </a:xfrm>
          <a:prstGeom prst="rect">
            <a:avLst/>
          </a:prstGeom>
        </p:spPr>
        <p:txBody>
          <a:bodyPr anchor="t" rtlCol="false" tIns="0" lIns="0" bIns="0" rIns="0">
            <a:spAutoFit/>
          </a:bodyPr>
          <a:lstStyle/>
          <a:p>
            <a:pPr algn="ctr">
              <a:lnSpc>
                <a:spcPts val="3537"/>
              </a:lnSpc>
            </a:pPr>
            <a:r>
              <a:rPr lang="en-US" b="true" sz="2843">
                <a:solidFill>
                  <a:srgbClr val="2D2261"/>
                </a:solidFill>
                <a:latin typeface="Red Hat Display Bold"/>
                <a:ea typeface="Red Hat Display Bold"/>
                <a:cs typeface="Red Hat Display Bold"/>
                <a:sym typeface="Red Hat Display Bold"/>
              </a:rPr>
              <a:t>02</a:t>
            </a:r>
          </a:p>
        </p:txBody>
      </p:sp>
      <p:sp>
        <p:nvSpPr>
          <p:cNvPr name="TextBox 19" id="19"/>
          <p:cNvSpPr txBox="true"/>
          <p:nvPr/>
        </p:nvSpPr>
        <p:spPr>
          <a:xfrm rot="0">
            <a:off x="218719" y="6238718"/>
            <a:ext cx="853015" cy="451806"/>
          </a:xfrm>
          <a:prstGeom prst="rect">
            <a:avLst/>
          </a:prstGeom>
        </p:spPr>
        <p:txBody>
          <a:bodyPr anchor="t" rtlCol="false" tIns="0" lIns="0" bIns="0" rIns="0">
            <a:spAutoFit/>
          </a:bodyPr>
          <a:lstStyle/>
          <a:p>
            <a:pPr algn="ctr">
              <a:lnSpc>
                <a:spcPts val="3537"/>
              </a:lnSpc>
            </a:pPr>
            <a:r>
              <a:rPr lang="en-US" b="true" sz="2843">
                <a:solidFill>
                  <a:srgbClr val="2D2261"/>
                </a:solidFill>
                <a:latin typeface="Red Hat Display Bold"/>
                <a:ea typeface="Red Hat Display Bold"/>
                <a:cs typeface="Red Hat Display Bold"/>
                <a:sym typeface="Red Hat Display Bold"/>
              </a:rPr>
              <a:t>03</a:t>
            </a:r>
          </a:p>
        </p:txBody>
      </p:sp>
      <p:sp>
        <p:nvSpPr>
          <p:cNvPr name="TextBox 20" id="20"/>
          <p:cNvSpPr txBox="true"/>
          <p:nvPr/>
        </p:nvSpPr>
        <p:spPr>
          <a:xfrm rot="0">
            <a:off x="4899276" y="1352002"/>
            <a:ext cx="10918083" cy="789690"/>
          </a:xfrm>
          <a:prstGeom prst="rect">
            <a:avLst/>
          </a:prstGeom>
        </p:spPr>
        <p:txBody>
          <a:bodyPr anchor="t" rtlCol="false" tIns="0" lIns="0" bIns="0" rIns="0">
            <a:spAutoFit/>
          </a:bodyPr>
          <a:lstStyle/>
          <a:p>
            <a:pPr algn="l">
              <a:lnSpc>
                <a:spcPts val="6543"/>
              </a:lnSpc>
            </a:pPr>
            <a:r>
              <a:rPr lang="en-US" sz="4673">
                <a:solidFill>
                  <a:srgbClr val="5B7ABE"/>
                </a:solidFill>
                <a:latin typeface="Red Hat Display"/>
                <a:ea typeface="Red Hat Display"/>
                <a:cs typeface="Red Hat Display"/>
                <a:sym typeface="Red Hat Display"/>
              </a:rPr>
              <a:t>từ trang trại bò sữa</a:t>
            </a:r>
          </a:p>
        </p:txBody>
      </p:sp>
      <p:sp>
        <p:nvSpPr>
          <p:cNvPr name="TextBox 21" id="21"/>
          <p:cNvSpPr txBox="true"/>
          <p:nvPr/>
        </p:nvSpPr>
        <p:spPr>
          <a:xfrm rot="0">
            <a:off x="4899276" y="497336"/>
            <a:ext cx="6559765" cy="897496"/>
          </a:xfrm>
          <a:prstGeom prst="rect">
            <a:avLst/>
          </a:prstGeom>
        </p:spPr>
        <p:txBody>
          <a:bodyPr anchor="t" rtlCol="false" tIns="0" lIns="0" bIns="0" rIns="0">
            <a:spAutoFit/>
          </a:bodyPr>
          <a:lstStyle/>
          <a:p>
            <a:pPr algn="l">
              <a:lnSpc>
                <a:spcPts val="7113"/>
              </a:lnSpc>
            </a:pPr>
            <a:r>
              <a:rPr lang="en-US" b="true" sz="5718">
                <a:solidFill>
                  <a:srgbClr val="2D2261"/>
                </a:solidFill>
                <a:latin typeface="Red Hat Display Bold"/>
                <a:ea typeface="Red Hat Display Bold"/>
                <a:cs typeface="Red Hat Display Bold"/>
                <a:sym typeface="Red Hat Display Bold"/>
              </a:rPr>
              <a:t>Phân tích data </a:t>
            </a:r>
          </a:p>
        </p:txBody>
      </p:sp>
      <p:sp>
        <p:nvSpPr>
          <p:cNvPr name="Freeform 22" id="22"/>
          <p:cNvSpPr/>
          <p:nvPr/>
        </p:nvSpPr>
        <p:spPr>
          <a:xfrm flipH="false" flipV="false" rot="0">
            <a:off x="12993540" y="-2095015"/>
            <a:ext cx="6727323" cy="4586811"/>
          </a:xfrm>
          <a:custGeom>
            <a:avLst/>
            <a:gdLst/>
            <a:ahLst/>
            <a:cxnLst/>
            <a:rect r="r" b="b" t="t" l="l"/>
            <a:pathLst>
              <a:path h="4586811" w="6727323">
                <a:moveTo>
                  <a:pt x="0" y="0"/>
                </a:moveTo>
                <a:lnTo>
                  <a:pt x="6727323" y="0"/>
                </a:lnTo>
                <a:lnTo>
                  <a:pt x="6727323" y="4586812"/>
                </a:lnTo>
                <a:lnTo>
                  <a:pt x="0" y="4586812"/>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23" id="23"/>
          <p:cNvSpPr/>
          <p:nvPr/>
        </p:nvSpPr>
        <p:spPr>
          <a:xfrm flipH="false" flipV="false" rot="635325">
            <a:off x="-2410078" y="8011631"/>
            <a:ext cx="8606161" cy="7291765"/>
          </a:xfrm>
          <a:custGeom>
            <a:avLst/>
            <a:gdLst/>
            <a:ahLst/>
            <a:cxnLst/>
            <a:rect r="r" b="b" t="t" l="l"/>
            <a:pathLst>
              <a:path h="7291765" w="8606161">
                <a:moveTo>
                  <a:pt x="0" y="0"/>
                </a:moveTo>
                <a:lnTo>
                  <a:pt x="8606161" y="0"/>
                </a:lnTo>
                <a:lnTo>
                  <a:pt x="8606161" y="7291765"/>
                </a:lnTo>
                <a:lnTo>
                  <a:pt x="0" y="7291765"/>
                </a:lnTo>
                <a:lnTo>
                  <a:pt x="0" y="0"/>
                </a:lnTo>
                <a:close/>
              </a:path>
            </a:pathLst>
          </a:custGeom>
          <a:blipFill>
            <a:blip r:embed="rId6">
              <a:alphaModFix amt="50000"/>
              <a:extLst>
                <a:ext uri="{96DAC541-7B7A-43D3-8B79-37D633B846F1}">
                  <asvg:svgBlip xmlns:asvg="http://schemas.microsoft.com/office/drawing/2016/SVG/main" r:embed="rId7"/>
                </a:ext>
              </a:extLst>
            </a:blip>
            <a:stretch>
              <a:fillRect l="0" t="0" r="0" b="0"/>
            </a:stretch>
          </a:blipFill>
        </p:spPr>
      </p:sp>
      <p:sp>
        <p:nvSpPr>
          <p:cNvPr name="Freeform 24" id="24"/>
          <p:cNvSpPr/>
          <p:nvPr/>
        </p:nvSpPr>
        <p:spPr>
          <a:xfrm flipH="false" flipV="false" rot="-226878">
            <a:off x="-267547" y="148087"/>
            <a:ext cx="4576141" cy="2579280"/>
          </a:xfrm>
          <a:custGeom>
            <a:avLst/>
            <a:gdLst/>
            <a:ahLst/>
            <a:cxnLst/>
            <a:rect r="r" b="b" t="t" l="l"/>
            <a:pathLst>
              <a:path h="2579280" w="4576141">
                <a:moveTo>
                  <a:pt x="0" y="0"/>
                </a:moveTo>
                <a:lnTo>
                  <a:pt x="4576141" y="0"/>
                </a:lnTo>
                <a:lnTo>
                  <a:pt x="4576141" y="2579280"/>
                </a:lnTo>
                <a:lnTo>
                  <a:pt x="0" y="25792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5" id="25"/>
          <p:cNvSpPr/>
          <p:nvPr/>
        </p:nvSpPr>
        <p:spPr>
          <a:xfrm flipH="false" flipV="false" rot="2830696">
            <a:off x="14939466" y="8144946"/>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6" id="26"/>
          <p:cNvSpPr/>
          <p:nvPr/>
        </p:nvSpPr>
        <p:spPr>
          <a:xfrm flipH="false" flipV="false" rot="0">
            <a:off x="0" y="7452057"/>
            <a:ext cx="1227828" cy="1227828"/>
          </a:xfrm>
          <a:custGeom>
            <a:avLst/>
            <a:gdLst/>
            <a:ahLst/>
            <a:cxnLst/>
            <a:rect r="r" b="b" t="t" l="l"/>
            <a:pathLst>
              <a:path h="1227828" w="1227828">
                <a:moveTo>
                  <a:pt x="0" y="0"/>
                </a:moveTo>
                <a:lnTo>
                  <a:pt x="1227828" y="0"/>
                </a:lnTo>
                <a:lnTo>
                  <a:pt x="1227828" y="1227829"/>
                </a:lnTo>
                <a:lnTo>
                  <a:pt x="0" y="1227829"/>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grpSp>
        <p:nvGrpSpPr>
          <p:cNvPr name="Group 27" id="27"/>
          <p:cNvGrpSpPr/>
          <p:nvPr/>
        </p:nvGrpSpPr>
        <p:grpSpPr>
          <a:xfrm rot="0">
            <a:off x="156446" y="7608504"/>
            <a:ext cx="914936" cy="914936"/>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9" id="29"/>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TextBox 30" id="30"/>
          <p:cNvSpPr txBox="true"/>
          <p:nvPr/>
        </p:nvSpPr>
        <p:spPr>
          <a:xfrm rot="0">
            <a:off x="1466930" y="7900199"/>
            <a:ext cx="5276161" cy="386145"/>
          </a:xfrm>
          <a:prstGeom prst="rect">
            <a:avLst/>
          </a:prstGeom>
        </p:spPr>
        <p:txBody>
          <a:bodyPr anchor="t" rtlCol="false" tIns="0" lIns="0" bIns="0" rIns="0">
            <a:spAutoFit/>
          </a:bodyPr>
          <a:lstStyle/>
          <a:p>
            <a:pPr algn="l">
              <a:lnSpc>
                <a:spcPts val="3095"/>
              </a:lnSpc>
            </a:pPr>
            <a:r>
              <a:rPr lang="en-US" b="true" sz="2488">
                <a:solidFill>
                  <a:srgbClr val="2D2261"/>
                </a:solidFill>
                <a:latin typeface="Red Hat Display Bold"/>
                <a:ea typeface="Red Hat Display Bold"/>
                <a:cs typeface="Red Hat Display Bold"/>
                <a:sym typeface="Red Hat Display Bold"/>
              </a:rPr>
              <a:t>Đánh giá kết quả</a:t>
            </a:r>
          </a:p>
        </p:txBody>
      </p:sp>
      <p:sp>
        <p:nvSpPr>
          <p:cNvPr name="TextBox 31" id="31"/>
          <p:cNvSpPr txBox="true"/>
          <p:nvPr/>
        </p:nvSpPr>
        <p:spPr>
          <a:xfrm rot="0">
            <a:off x="187406" y="7830544"/>
            <a:ext cx="853015" cy="451806"/>
          </a:xfrm>
          <a:prstGeom prst="rect">
            <a:avLst/>
          </a:prstGeom>
        </p:spPr>
        <p:txBody>
          <a:bodyPr anchor="t" rtlCol="false" tIns="0" lIns="0" bIns="0" rIns="0">
            <a:spAutoFit/>
          </a:bodyPr>
          <a:lstStyle/>
          <a:p>
            <a:pPr algn="ctr">
              <a:lnSpc>
                <a:spcPts val="3537"/>
              </a:lnSpc>
            </a:pPr>
            <a:r>
              <a:rPr lang="en-US" b="true" sz="2843">
                <a:solidFill>
                  <a:srgbClr val="2D2261"/>
                </a:solidFill>
                <a:latin typeface="Red Hat Display Bold"/>
                <a:ea typeface="Red Hat Display Bold"/>
                <a:cs typeface="Red Hat Display Bold"/>
                <a:sym typeface="Red Hat Display Bold"/>
              </a:rPr>
              <a:t>04</a:t>
            </a:r>
          </a:p>
        </p:txBody>
      </p:sp>
      <p:sp>
        <p:nvSpPr>
          <p:cNvPr name="Freeform 32" id="32"/>
          <p:cNvSpPr/>
          <p:nvPr/>
        </p:nvSpPr>
        <p:spPr>
          <a:xfrm flipH="false" flipV="false" rot="0">
            <a:off x="4724400" y="2678289"/>
            <a:ext cx="1227828" cy="1227828"/>
          </a:xfrm>
          <a:custGeom>
            <a:avLst/>
            <a:gdLst/>
            <a:ahLst/>
            <a:cxnLst/>
            <a:rect r="r" b="b" t="t" l="l"/>
            <a:pathLst>
              <a:path h="1227828" w="1227828">
                <a:moveTo>
                  <a:pt x="0" y="0"/>
                </a:moveTo>
                <a:lnTo>
                  <a:pt x="1227828" y="0"/>
                </a:lnTo>
                <a:lnTo>
                  <a:pt x="1227828" y="1227829"/>
                </a:lnTo>
                <a:lnTo>
                  <a:pt x="0" y="1227829"/>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33" id="33"/>
          <p:cNvSpPr/>
          <p:nvPr/>
        </p:nvSpPr>
        <p:spPr>
          <a:xfrm flipH="false" flipV="false" rot="0">
            <a:off x="4724400" y="4268406"/>
            <a:ext cx="1227828" cy="1227828"/>
          </a:xfrm>
          <a:custGeom>
            <a:avLst/>
            <a:gdLst/>
            <a:ahLst/>
            <a:cxnLst/>
            <a:rect r="r" b="b" t="t" l="l"/>
            <a:pathLst>
              <a:path h="1227828" w="1227828">
                <a:moveTo>
                  <a:pt x="0" y="0"/>
                </a:moveTo>
                <a:lnTo>
                  <a:pt x="1227828" y="0"/>
                </a:lnTo>
                <a:lnTo>
                  <a:pt x="1227828" y="1227829"/>
                </a:lnTo>
                <a:lnTo>
                  <a:pt x="0" y="1227829"/>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34" id="34"/>
          <p:cNvSpPr/>
          <p:nvPr/>
        </p:nvSpPr>
        <p:spPr>
          <a:xfrm flipH="false" flipV="false" rot="0">
            <a:off x="4755713" y="5860232"/>
            <a:ext cx="1227828" cy="1227828"/>
          </a:xfrm>
          <a:custGeom>
            <a:avLst/>
            <a:gdLst/>
            <a:ahLst/>
            <a:cxnLst/>
            <a:rect r="r" b="b" t="t" l="l"/>
            <a:pathLst>
              <a:path h="1227828" w="1227828">
                <a:moveTo>
                  <a:pt x="0" y="0"/>
                </a:moveTo>
                <a:lnTo>
                  <a:pt x="1227828" y="0"/>
                </a:lnTo>
                <a:lnTo>
                  <a:pt x="1227828" y="1227828"/>
                </a:lnTo>
                <a:lnTo>
                  <a:pt x="0" y="1227828"/>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grpSp>
        <p:nvGrpSpPr>
          <p:cNvPr name="Group 35" id="35"/>
          <p:cNvGrpSpPr/>
          <p:nvPr/>
        </p:nvGrpSpPr>
        <p:grpSpPr>
          <a:xfrm rot="0">
            <a:off x="4880846" y="2834736"/>
            <a:ext cx="914936" cy="914936"/>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7" id="37"/>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grpSp>
        <p:nvGrpSpPr>
          <p:cNvPr name="Group 38" id="38"/>
          <p:cNvGrpSpPr/>
          <p:nvPr/>
        </p:nvGrpSpPr>
        <p:grpSpPr>
          <a:xfrm rot="0">
            <a:off x="4880846" y="4424853"/>
            <a:ext cx="914936" cy="914936"/>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0" id="40"/>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grpSp>
        <p:nvGrpSpPr>
          <p:cNvPr name="Group 41" id="41"/>
          <p:cNvGrpSpPr/>
          <p:nvPr/>
        </p:nvGrpSpPr>
        <p:grpSpPr>
          <a:xfrm rot="0">
            <a:off x="4912159" y="6016678"/>
            <a:ext cx="914936" cy="914936"/>
            <a:chOff x="0" y="0"/>
            <a:chExt cx="812800" cy="812800"/>
          </a:xfrm>
        </p:grpSpPr>
        <p:sp>
          <p:nvSpPr>
            <p:cNvPr name="Freeform 42" id="4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3" id="43"/>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TextBox 44" id="44"/>
          <p:cNvSpPr txBox="true"/>
          <p:nvPr/>
        </p:nvSpPr>
        <p:spPr>
          <a:xfrm rot="0">
            <a:off x="6222642" y="3123570"/>
            <a:ext cx="5016553" cy="386145"/>
          </a:xfrm>
          <a:prstGeom prst="rect">
            <a:avLst/>
          </a:prstGeom>
        </p:spPr>
        <p:txBody>
          <a:bodyPr anchor="t" rtlCol="false" tIns="0" lIns="0" bIns="0" rIns="0">
            <a:spAutoFit/>
          </a:bodyPr>
          <a:lstStyle/>
          <a:p>
            <a:pPr algn="l">
              <a:lnSpc>
                <a:spcPts val="3095"/>
              </a:lnSpc>
            </a:pPr>
            <a:r>
              <a:rPr lang="en-US" b="true" sz="2488">
                <a:solidFill>
                  <a:srgbClr val="2D2261"/>
                </a:solidFill>
                <a:latin typeface="Red Hat Display Bold"/>
                <a:ea typeface="Red Hat Display Bold"/>
                <a:cs typeface="Red Hat Display Bold"/>
                <a:sym typeface="Red Hat Display Bold"/>
              </a:rPr>
              <a:t>Đối tượng và phạm vi nghiên cứu</a:t>
            </a:r>
          </a:p>
        </p:txBody>
      </p:sp>
      <p:sp>
        <p:nvSpPr>
          <p:cNvPr name="TextBox 45" id="45"/>
          <p:cNvSpPr txBox="true"/>
          <p:nvPr/>
        </p:nvSpPr>
        <p:spPr>
          <a:xfrm rot="0">
            <a:off x="6222642" y="4872795"/>
            <a:ext cx="2921358" cy="385012"/>
          </a:xfrm>
          <a:prstGeom prst="rect">
            <a:avLst/>
          </a:prstGeom>
        </p:spPr>
        <p:txBody>
          <a:bodyPr anchor="t" rtlCol="false" tIns="0" lIns="0" bIns="0" rIns="0">
            <a:spAutoFit/>
          </a:bodyPr>
          <a:lstStyle/>
          <a:p>
            <a:pPr algn="l">
              <a:lnSpc>
                <a:spcPts val="3095"/>
              </a:lnSpc>
            </a:pPr>
            <a:r>
              <a:rPr lang="en-US" b="true" sz="2488">
                <a:solidFill>
                  <a:srgbClr val="2D2261"/>
                </a:solidFill>
                <a:latin typeface="Red Hat Display Bold"/>
                <a:ea typeface="Red Hat Display Bold"/>
                <a:cs typeface="Red Hat Display Bold"/>
                <a:sym typeface="Red Hat Display Bold"/>
              </a:rPr>
              <a:t>Bài toán đặt ra </a:t>
            </a:r>
          </a:p>
        </p:txBody>
      </p:sp>
      <p:sp>
        <p:nvSpPr>
          <p:cNvPr name="TextBox 46" id="46"/>
          <p:cNvSpPr txBox="true"/>
          <p:nvPr/>
        </p:nvSpPr>
        <p:spPr>
          <a:xfrm rot="0">
            <a:off x="6191330" y="6391275"/>
            <a:ext cx="5276161" cy="385012"/>
          </a:xfrm>
          <a:prstGeom prst="rect">
            <a:avLst/>
          </a:prstGeom>
        </p:spPr>
        <p:txBody>
          <a:bodyPr anchor="t" rtlCol="false" tIns="0" lIns="0" bIns="0" rIns="0">
            <a:spAutoFit/>
          </a:bodyPr>
          <a:lstStyle/>
          <a:p>
            <a:pPr algn="l">
              <a:lnSpc>
                <a:spcPts val="3095"/>
              </a:lnSpc>
            </a:pPr>
            <a:r>
              <a:rPr lang="en-US" b="true" sz="2488">
                <a:solidFill>
                  <a:srgbClr val="2D2261"/>
                </a:solidFill>
                <a:latin typeface="Red Hat Display Bold"/>
                <a:ea typeface="Red Hat Display Bold"/>
                <a:cs typeface="Red Hat Display Bold"/>
                <a:sym typeface="Red Hat Display Bold"/>
              </a:rPr>
              <a:t>Tổng quan hóa giải pháp</a:t>
            </a:r>
          </a:p>
        </p:txBody>
      </p:sp>
      <p:sp>
        <p:nvSpPr>
          <p:cNvPr name="TextBox 47" id="47"/>
          <p:cNvSpPr txBox="true"/>
          <p:nvPr/>
        </p:nvSpPr>
        <p:spPr>
          <a:xfrm rot="0">
            <a:off x="4911806" y="3056776"/>
            <a:ext cx="853015" cy="451806"/>
          </a:xfrm>
          <a:prstGeom prst="rect">
            <a:avLst/>
          </a:prstGeom>
        </p:spPr>
        <p:txBody>
          <a:bodyPr anchor="t" rtlCol="false" tIns="0" lIns="0" bIns="0" rIns="0">
            <a:spAutoFit/>
          </a:bodyPr>
          <a:lstStyle/>
          <a:p>
            <a:pPr algn="ctr">
              <a:lnSpc>
                <a:spcPts val="3537"/>
              </a:lnSpc>
            </a:pPr>
            <a:r>
              <a:rPr lang="en-US" b="true" sz="2843">
                <a:solidFill>
                  <a:srgbClr val="2D2261"/>
                </a:solidFill>
                <a:latin typeface="Red Hat Display Bold"/>
                <a:ea typeface="Red Hat Display Bold"/>
                <a:cs typeface="Red Hat Display Bold"/>
                <a:sym typeface="Red Hat Display Bold"/>
              </a:rPr>
              <a:t>05</a:t>
            </a:r>
          </a:p>
        </p:txBody>
      </p:sp>
      <p:sp>
        <p:nvSpPr>
          <p:cNvPr name="TextBox 48" id="48"/>
          <p:cNvSpPr txBox="true"/>
          <p:nvPr/>
        </p:nvSpPr>
        <p:spPr>
          <a:xfrm rot="0">
            <a:off x="4911806" y="4646892"/>
            <a:ext cx="853015" cy="451806"/>
          </a:xfrm>
          <a:prstGeom prst="rect">
            <a:avLst/>
          </a:prstGeom>
        </p:spPr>
        <p:txBody>
          <a:bodyPr anchor="t" rtlCol="false" tIns="0" lIns="0" bIns="0" rIns="0">
            <a:spAutoFit/>
          </a:bodyPr>
          <a:lstStyle/>
          <a:p>
            <a:pPr algn="ctr">
              <a:lnSpc>
                <a:spcPts val="3537"/>
              </a:lnSpc>
            </a:pPr>
            <a:r>
              <a:rPr lang="en-US" b="true" sz="2843">
                <a:solidFill>
                  <a:srgbClr val="2D2261"/>
                </a:solidFill>
                <a:latin typeface="Red Hat Display Bold"/>
                <a:ea typeface="Red Hat Display Bold"/>
                <a:cs typeface="Red Hat Display Bold"/>
                <a:sym typeface="Red Hat Display Bold"/>
              </a:rPr>
              <a:t>06</a:t>
            </a:r>
          </a:p>
        </p:txBody>
      </p:sp>
      <p:sp>
        <p:nvSpPr>
          <p:cNvPr name="TextBox 49" id="49"/>
          <p:cNvSpPr txBox="true"/>
          <p:nvPr/>
        </p:nvSpPr>
        <p:spPr>
          <a:xfrm rot="0">
            <a:off x="4943119" y="6238718"/>
            <a:ext cx="853015" cy="451806"/>
          </a:xfrm>
          <a:prstGeom prst="rect">
            <a:avLst/>
          </a:prstGeom>
        </p:spPr>
        <p:txBody>
          <a:bodyPr anchor="t" rtlCol="false" tIns="0" lIns="0" bIns="0" rIns="0">
            <a:spAutoFit/>
          </a:bodyPr>
          <a:lstStyle/>
          <a:p>
            <a:pPr algn="ctr">
              <a:lnSpc>
                <a:spcPts val="3537"/>
              </a:lnSpc>
            </a:pPr>
            <a:r>
              <a:rPr lang="en-US" b="true" sz="2843">
                <a:solidFill>
                  <a:srgbClr val="2D2261"/>
                </a:solidFill>
                <a:latin typeface="Red Hat Display Bold"/>
                <a:ea typeface="Red Hat Display Bold"/>
                <a:cs typeface="Red Hat Display Bold"/>
                <a:sym typeface="Red Hat Display Bold"/>
              </a:rPr>
              <a:t>07</a:t>
            </a:r>
          </a:p>
        </p:txBody>
      </p:sp>
      <p:sp>
        <p:nvSpPr>
          <p:cNvPr name="Freeform 50" id="50"/>
          <p:cNvSpPr/>
          <p:nvPr/>
        </p:nvSpPr>
        <p:spPr>
          <a:xfrm flipH="false" flipV="false" rot="0">
            <a:off x="4724400" y="7452057"/>
            <a:ext cx="1227828" cy="1227828"/>
          </a:xfrm>
          <a:custGeom>
            <a:avLst/>
            <a:gdLst/>
            <a:ahLst/>
            <a:cxnLst/>
            <a:rect r="r" b="b" t="t" l="l"/>
            <a:pathLst>
              <a:path h="1227828" w="1227828">
                <a:moveTo>
                  <a:pt x="0" y="0"/>
                </a:moveTo>
                <a:lnTo>
                  <a:pt x="1227828" y="0"/>
                </a:lnTo>
                <a:lnTo>
                  <a:pt x="1227828" y="1227829"/>
                </a:lnTo>
                <a:lnTo>
                  <a:pt x="0" y="1227829"/>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grpSp>
        <p:nvGrpSpPr>
          <p:cNvPr name="Group 51" id="51"/>
          <p:cNvGrpSpPr/>
          <p:nvPr/>
        </p:nvGrpSpPr>
        <p:grpSpPr>
          <a:xfrm rot="0">
            <a:off x="4880846" y="7608504"/>
            <a:ext cx="914936" cy="914936"/>
            <a:chOff x="0" y="0"/>
            <a:chExt cx="812800" cy="812800"/>
          </a:xfrm>
        </p:grpSpPr>
        <p:sp>
          <p:nvSpPr>
            <p:cNvPr name="Freeform 52" id="5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3" id="53"/>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TextBox 54" id="54"/>
          <p:cNvSpPr txBox="true"/>
          <p:nvPr/>
        </p:nvSpPr>
        <p:spPr>
          <a:xfrm rot="0">
            <a:off x="6222642" y="7840069"/>
            <a:ext cx="5276161" cy="385012"/>
          </a:xfrm>
          <a:prstGeom prst="rect">
            <a:avLst/>
          </a:prstGeom>
        </p:spPr>
        <p:txBody>
          <a:bodyPr anchor="t" rtlCol="false" tIns="0" lIns="0" bIns="0" rIns="0">
            <a:spAutoFit/>
          </a:bodyPr>
          <a:lstStyle/>
          <a:p>
            <a:pPr algn="l">
              <a:lnSpc>
                <a:spcPts val="3095"/>
              </a:lnSpc>
            </a:pPr>
            <a:r>
              <a:rPr lang="en-US" b="true" sz="2488">
                <a:solidFill>
                  <a:srgbClr val="2D2261"/>
                </a:solidFill>
                <a:latin typeface="Red Hat Display Bold"/>
                <a:ea typeface="Red Hat Display Bold"/>
                <a:cs typeface="Red Hat Display Bold"/>
                <a:sym typeface="Red Hat Display Bold"/>
              </a:rPr>
              <a:t>Dữ liệu đầu vào </a:t>
            </a:r>
          </a:p>
        </p:txBody>
      </p:sp>
      <p:sp>
        <p:nvSpPr>
          <p:cNvPr name="TextBox 55" id="55"/>
          <p:cNvSpPr txBox="true"/>
          <p:nvPr/>
        </p:nvSpPr>
        <p:spPr>
          <a:xfrm rot="0">
            <a:off x="4911806" y="7830544"/>
            <a:ext cx="853015" cy="451806"/>
          </a:xfrm>
          <a:prstGeom prst="rect">
            <a:avLst/>
          </a:prstGeom>
        </p:spPr>
        <p:txBody>
          <a:bodyPr anchor="t" rtlCol="false" tIns="0" lIns="0" bIns="0" rIns="0">
            <a:spAutoFit/>
          </a:bodyPr>
          <a:lstStyle/>
          <a:p>
            <a:pPr algn="ctr">
              <a:lnSpc>
                <a:spcPts val="3537"/>
              </a:lnSpc>
            </a:pPr>
            <a:r>
              <a:rPr lang="en-US" b="true" sz="2843">
                <a:solidFill>
                  <a:srgbClr val="2D2261"/>
                </a:solidFill>
                <a:latin typeface="Red Hat Display Bold"/>
                <a:ea typeface="Red Hat Display Bold"/>
                <a:cs typeface="Red Hat Display Bold"/>
                <a:sym typeface="Red Hat Display Bold"/>
              </a:rPr>
              <a:t>08</a:t>
            </a:r>
          </a:p>
        </p:txBody>
      </p:sp>
      <p:sp>
        <p:nvSpPr>
          <p:cNvPr name="Freeform 56" id="56"/>
          <p:cNvSpPr/>
          <p:nvPr/>
        </p:nvSpPr>
        <p:spPr>
          <a:xfrm flipH="false" flipV="false" rot="0">
            <a:off x="11640928" y="2678289"/>
            <a:ext cx="1227828" cy="1227828"/>
          </a:xfrm>
          <a:custGeom>
            <a:avLst/>
            <a:gdLst/>
            <a:ahLst/>
            <a:cxnLst/>
            <a:rect r="r" b="b" t="t" l="l"/>
            <a:pathLst>
              <a:path h="1227828" w="1227828">
                <a:moveTo>
                  <a:pt x="0" y="0"/>
                </a:moveTo>
                <a:lnTo>
                  <a:pt x="1227829" y="0"/>
                </a:lnTo>
                <a:lnTo>
                  <a:pt x="1227829" y="1227829"/>
                </a:lnTo>
                <a:lnTo>
                  <a:pt x="0" y="1227829"/>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57" id="57"/>
          <p:cNvSpPr/>
          <p:nvPr/>
        </p:nvSpPr>
        <p:spPr>
          <a:xfrm flipH="false" flipV="false" rot="0">
            <a:off x="11640928" y="4268406"/>
            <a:ext cx="1227828" cy="1227828"/>
          </a:xfrm>
          <a:custGeom>
            <a:avLst/>
            <a:gdLst/>
            <a:ahLst/>
            <a:cxnLst/>
            <a:rect r="r" b="b" t="t" l="l"/>
            <a:pathLst>
              <a:path h="1227828" w="1227828">
                <a:moveTo>
                  <a:pt x="0" y="0"/>
                </a:moveTo>
                <a:lnTo>
                  <a:pt x="1227829" y="0"/>
                </a:lnTo>
                <a:lnTo>
                  <a:pt x="1227829" y="1227829"/>
                </a:lnTo>
                <a:lnTo>
                  <a:pt x="0" y="1227829"/>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58" id="58"/>
          <p:cNvSpPr/>
          <p:nvPr/>
        </p:nvSpPr>
        <p:spPr>
          <a:xfrm flipH="false" flipV="false" rot="0">
            <a:off x="11672241" y="5860232"/>
            <a:ext cx="1227828" cy="1227828"/>
          </a:xfrm>
          <a:custGeom>
            <a:avLst/>
            <a:gdLst/>
            <a:ahLst/>
            <a:cxnLst/>
            <a:rect r="r" b="b" t="t" l="l"/>
            <a:pathLst>
              <a:path h="1227828" w="1227828">
                <a:moveTo>
                  <a:pt x="0" y="0"/>
                </a:moveTo>
                <a:lnTo>
                  <a:pt x="1227828" y="0"/>
                </a:lnTo>
                <a:lnTo>
                  <a:pt x="1227828" y="1227828"/>
                </a:lnTo>
                <a:lnTo>
                  <a:pt x="0" y="1227828"/>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grpSp>
        <p:nvGrpSpPr>
          <p:cNvPr name="Group 59" id="59"/>
          <p:cNvGrpSpPr/>
          <p:nvPr/>
        </p:nvGrpSpPr>
        <p:grpSpPr>
          <a:xfrm rot="0">
            <a:off x="11797375" y="2834736"/>
            <a:ext cx="914936" cy="914936"/>
            <a:chOff x="0" y="0"/>
            <a:chExt cx="812800" cy="812800"/>
          </a:xfrm>
        </p:grpSpPr>
        <p:sp>
          <p:nvSpPr>
            <p:cNvPr name="Freeform 60" id="6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61" id="61"/>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grpSp>
        <p:nvGrpSpPr>
          <p:cNvPr name="Group 62" id="62"/>
          <p:cNvGrpSpPr/>
          <p:nvPr/>
        </p:nvGrpSpPr>
        <p:grpSpPr>
          <a:xfrm rot="0">
            <a:off x="11797375" y="4424853"/>
            <a:ext cx="914936" cy="914936"/>
            <a:chOff x="0" y="0"/>
            <a:chExt cx="812800" cy="812800"/>
          </a:xfrm>
        </p:grpSpPr>
        <p:sp>
          <p:nvSpPr>
            <p:cNvPr name="Freeform 63" id="6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64" id="64"/>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grpSp>
        <p:nvGrpSpPr>
          <p:cNvPr name="Group 65" id="65"/>
          <p:cNvGrpSpPr/>
          <p:nvPr/>
        </p:nvGrpSpPr>
        <p:grpSpPr>
          <a:xfrm rot="0">
            <a:off x="11828687" y="6016678"/>
            <a:ext cx="914936" cy="914936"/>
            <a:chOff x="0" y="0"/>
            <a:chExt cx="812800" cy="812800"/>
          </a:xfrm>
        </p:grpSpPr>
        <p:sp>
          <p:nvSpPr>
            <p:cNvPr name="Freeform 66" id="6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67" id="67"/>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TextBox 68" id="68"/>
          <p:cNvSpPr txBox="true"/>
          <p:nvPr/>
        </p:nvSpPr>
        <p:spPr>
          <a:xfrm rot="0">
            <a:off x="13107858" y="3123570"/>
            <a:ext cx="5276161" cy="385012"/>
          </a:xfrm>
          <a:prstGeom prst="rect">
            <a:avLst/>
          </a:prstGeom>
        </p:spPr>
        <p:txBody>
          <a:bodyPr anchor="t" rtlCol="false" tIns="0" lIns="0" bIns="0" rIns="0">
            <a:spAutoFit/>
          </a:bodyPr>
          <a:lstStyle/>
          <a:p>
            <a:pPr algn="l">
              <a:lnSpc>
                <a:spcPts val="3095"/>
              </a:lnSpc>
            </a:pPr>
            <a:r>
              <a:rPr lang="en-US" b="true" sz="2488">
                <a:solidFill>
                  <a:srgbClr val="2D2261"/>
                </a:solidFill>
                <a:latin typeface="Red Hat Display Bold"/>
                <a:ea typeface="Red Hat Display Bold"/>
                <a:cs typeface="Red Hat Display Bold"/>
                <a:sym typeface="Red Hat Display Bold"/>
              </a:rPr>
              <a:t>Tiền xử lý data</a:t>
            </a:r>
          </a:p>
        </p:txBody>
      </p:sp>
      <p:sp>
        <p:nvSpPr>
          <p:cNvPr name="TextBox 69" id="69"/>
          <p:cNvSpPr txBox="true"/>
          <p:nvPr/>
        </p:nvSpPr>
        <p:spPr>
          <a:xfrm rot="0">
            <a:off x="13107858" y="4758488"/>
            <a:ext cx="6885933" cy="385012"/>
          </a:xfrm>
          <a:prstGeom prst="rect">
            <a:avLst/>
          </a:prstGeom>
        </p:spPr>
        <p:txBody>
          <a:bodyPr anchor="t" rtlCol="false" tIns="0" lIns="0" bIns="0" rIns="0">
            <a:spAutoFit/>
          </a:bodyPr>
          <a:lstStyle/>
          <a:p>
            <a:pPr algn="l">
              <a:lnSpc>
                <a:spcPts val="3095"/>
              </a:lnSpc>
            </a:pPr>
            <a:r>
              <a:rPr lang="en-US" b="true" sz="2488">
                <a:solidFill>
                  <a:srgbClr val="2D2261"/>
                </a:solidFill>
                <a:latin typeface="Red Hat Display Bold"/>
                <a:ea typeface="Red Hat Display Bold"/>
                <a:cs typeface="Red Hat Display Bold"/>
                <a:sym typeface="Red Hat Display Bold"/>
              </a:rPr>
              <a:t>Phân tích data mô tả</a:t>
            </a:r>
          </a:p>
        </p:txBody>
      </p:sp>
      <p:sp>
        <p:nvSpPr>
          <p:cNvPr name="TextBox 70" id="70"/>
          <p:cNvSpPr txBox="true"/>
          <p:nvPr/>
        </p:nvSpPr>
        <p:spPr>
          <a:xfrm rot="0">
            <a:off x="13107858" y="6305512"/>
            <a:ext cx="5276161" cy="386145"/>
          </a:xfrm>
          <a:prstGeom prst="rect">
            <a:avLst/>
          </a:prstGeom>
        </p:spPr>
        <p:txBody>
          <a:bodyPr anchor="t" rtlCol="false" tIns="0" lIns="0" bIns="0" rIns="0">
            <a:spAutoFit/>
          </a:bodyPr>
          <a:lstStyle/>
          <a:p>
            <a:pPr algn="l">
              <a:lnSpc>
                <a:spcPts val="3095"/>
              </a:lnSpc>
            </a:pPr>
            <a:r>
              <a:rPr lang="en-US" b="true" sz="2488">
                <a:solidFill>
                  <a:srgbClr val="2D2261"/>
                </a:solidFill>
                <a:latin typeface="Red Hat Display Bold"/>
                <a:ea typeface="Red Hat Display Bold"/>
                <a:cs typeface="Red Hat Display Bold"/>
                <a:sym typeface="Red Hat Display Bold"/>
              </a:rPr>
              <a:t>Áp dụng thuật toán K-Means</a:t>
            </a:r>
          </a:p>
        </p:txBody>
      </p:sp>
      <p:sp>
        <p:nvSpPr>
          <p:cNvPr name="TextBox 71" id="71"/>
          <p:cNvSpPr txBox="true"/>
          <p:nvPr/>
        </p:nvSpPr>
        <p:spPr>
          <a:xfrm rot="0">
            <a:off x="11828335" y="3056776"/>
            <a:ext cx="853015" cy="451806"/>
          </a:xfrm>
          <a:prstGeom prst="rect">
            <a:avLst/>
          </a:prstGeom>
        </p:spPr>
        <p:txBody>
          <a:bodyPr anchor="t" rtlCol="false" tIns="0" lIns="0" bIns="0" rIns="0">
            <a:spAutoFit/>
          </a:bodyPr>
          <a:lstStyle/>
          <a:p>
            <a:pPr algn="ctr">
              <a:lnSpc>
                <a:spcPts val="3537"/>
              </a:lnSpc>
            </a:pPr>
            <a:r>
              <a:rPr lang="en-US" b="true" sz="2843">
                <a:solidFill>
                  <a:srgbClr val="2D2261"/>
                </a:solidFill>
                <a:latin typeface="Red Hat Display Bold"/>
                <a:ea typeface="Red Hat Display Bold"/>
                <a:cs typeface="Red Hat Display Bold"/>
                <a:sym typeface="Red Hat Display Bold"/>
              </a:rPr>
              <a:t>09</a:t>
            </a:r>
          </a:p>
        </p:txBody>
      </p:sp>
      <p:sp>
        <p:nvSpPr>
          <p:cNvPr name="TextBox 72" id="72"/>
          <p:cNvSpPr txBox="true"/>
          <p:nvPr/>
        </p:nvSpPr>
        <p:spPr>
          <a:xfrm rot="0">
            <a:off x="11828335" y="4646892"/>
            <a:ext cx="853015" cy="451806"/>
          </a:xfrm>
          <a:prstGeom prst="rect">
            <a:avLst/>
          </a:prstGeom>
        </p:spPr>
        <p:txBody>
          <a:bodyPr anchor="t" rtlCol="false" tIns="0" lIns="0" bIns="0" rIns="0">
            <a:spAutoFit/>
          </a:bodyPr>
          <a:lstStyle/>
          <a:p>
            <a:pPr algn="ctr">
              <a:lnSpc>
                <a:spcPts val="3537"/>
              </a:lnSpc>
            </a:pPr>
            <a:r>
              <a:rPr lang="en-US" b="true" sz="2843">
                <a:solidFill>
                  <a:srgbClr val="2D2261"/>
                </a:solidFill>
                <a:latin typeface="Red Hat Display Bold"/>
                <a:ea typeface="Red Hat Display Bold"/>
                <a:cs typeface="Red Hat Display Bold"/>
                <a:sym typeface="Red Hat Display Bold"/>
              </a:rPr>
              <a:t>10</a:t>
            </a:r>
          </a:p>
        </p:txBody>
      </p:sp>
      <p:sp>
        <p:nvSpPr>
          <p:cNvPr name="TextBox 73" id="73"/>
          <p:cNvSpPr txBox="true"/>
          <p:nvPr/>
        </p:nvSpPr>
        <p:spPr>
          <a:xfrm rot="0">
            <a:off x="11859648" y="6238718"/>
            <a:ext cx="853015" cy="451806"/>
          </a:xfrm>
          <a:prstGeom prst="rect">
            <a:avLst/>
          </a:prstGeom>
        </p:spPr>
        <p:txBody>
          <a:bodyPr anchor="t" rtlCol="false" tIns="0" lIns="0" bIns="0" rIns="0">
            <a:spAutoFit/>
          </a:bodyPr>
          <a:lstStyle/>
          <a:p>
            <a:pPr algn="ctr">
              <a:lnSpc>
                <a:spcPts val="3537"/>
              </a:lnSpc>
            </a:pPr>
            <a:r>
              <a:rPr lang="en-US" b="true" sz="2843">
                <a:solidFill>
                  <a:srgbClr val="2D2261"/>
                </a:solidFill>
                <a:latin typeface="Red Hat Display Bold"/>
                <a:ea typeface="Red Hat Display Bold"/>
                <a:cs typeface="Red Hat Display Bold"/>
                <a:sym typeface="Red Hat Display Bold"/>
              </a:rPr>
              <a:t>11</a:t>
            </a:r>
          </a:p>
        </p:txBody>
      </p:sp>
      <p:sp>
        <p:nvSpPr>
          <p:cNvPr name="Freeform 74" id="74"/>
          <p:cNvSpPr/>
          <p:nvPr/>
        </p:nvSpPr>
        <p:spPr>
          <a:xfrm flipH="false" flipV="false" rot="0">
            <a:off x="11640928" y="7452057"/>
            <a:ext cx="1227828" cy="1227828"/>
          </a:xfrm>
          <a:custGeom>
            <a:avLst/>
            <a:gdLst/>
            <a:ahLst/>
            <a:cxnLst/>
            <a:rect r="r" b="b" t="t" l="l"/>
            <a:pathLst>
              <a:path h="1227828" w="1227828">
                <a:moveTo>
                  <a:pt x="0" y="0"/>
                </a:moveTo>
                <a:lnTo>
                  <a:pt x="1227829" y="0"/>
                </a:lnTo>
                <a:lnTo>
                  <a:pt x="1227829" y="1227829"/>
                </a:lnTo>
                <a:lnTo>
                  <a:pt x="0" y="1227829"/>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grpSp>
        <p:nvGrpSpPr>
          <p:cNvPr name="Group 75" id="75"/>
          <p:cNvGrpSpPr/>
          <p:nvPr/>
        </p:nvGrpSpPr>
        <p:grpSpPr>
          <a:xfrm rot="0">
            <a:off x="11797375" y="7608504"/>
            <a:ext cx="914936" cy="914936"/>
            <a:chOff x="0" y="0"/>
            <a:chExt cx="812800" cy="812800"/>
          </a:xfrm>
        </p:grpSpPr>
        <p:sp>
          <p:nvSpPr>
            <p:cNvPr name="Freeform 76" id="7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77" id="77"/>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TextBox 78" id="78"/>
          <p:cNvSpPr txBox="true"/>
          <p:nvPr/>
        </p:nvSpPr>
        <p:spPr>
          <a:xfrm rot="0">
            <a:off x="13107858" y="7900199"/>
            <a:ext cx="5276161" cy="386145"/>
          </a:xfrm>
          <a:prstGeom prst="rect">
            <a:avLst/>
          </a:prstGeom>
        </p:spPr>
        <p:txBody>
          <a:bodyPr anchor="t" rtlCol="false" tIns="0" lIns="0" bIns="0" rIns="0">
            <a:spAutoFit/>
          </a:bodyPr>
          <a:lstStyle/>
          <a:p>
            <a:pPr algn="l">
              <a:lnSpc>
                <a:spcPts val="3095"/>
              </a:lnSpc>
            </a:pPr>
            <a:r>
              <a:rPr lang="en-US" b="true" sz="2488">
                <a:solidFill>
                  <a:srgbClr val="2D2261"/>
                </a:solidFill>
                <a:latin typeface="Red Hat Display Bold"/>
                <a:ea typeface="Red Hat Display Bold"/>
                <a:cs typeface="Red Hat Display Bold"/>
                <a:sym typeface="Red Hat Display Bold"/>
              </a:rPr>
              <a:t>Đánh giá kết quả</a:t>
            </a:r>
          </a:p>
        </p:txBody>
      </p:sp>
      <p:sp>
        <p:nvSpPr>
          <p:cNvPr name="TextBox 79" id="79"/>
          <p:cNvSpPr txBox="true"/>
          <p:nvPr/>
        </p:nvSpPr>
        <p:spPr>
          <a:xfrm rot="0">
            <a:off x="11828335" y="7830544"/>
            <a:ext cx="853015" cy="451806"/>
          </a:xfrm>
          <a:prstGeom prst="rect">
            <a:avLst/>
          </a:prstGeom>
        </p:spPr>
        <p:txBody>
          <a:bodyPr anchor="t" rtlCol="false" tIns="0" lIns="0" bIns="0" rIns="0">
            <a:spAutoFit/>
          </a:bodyPr>
          <a:lstStyle/>
          <a:p>
            <a:pPr algn="ctr">
              <a:lnSpc>
                <a:spcPts val="3537"/>
              </a:lnSpc>
            </a:pPr>
            <a:r>
              <a:rPr lang="en-US" b="true" sz="2843">
                <a:solidFill>
                  <a:srgbClr val="2D2261"/>
                </a:solidFill>
                <a:latin typeface="Red Hat Display Bold"/>
                <a:ea typeface="Red Hat Display Bold"/>
                <a:cs typeface="Red Hat Display Bold"/>
                <a:sym typeface="Red Hat Display Bold"/>
              </a:rPr>
              <a:t>12</a:t>
            </a:r>
          </a:p>
        </p:txBody>
      </p:sp>
      <p:sp>
        <p:nvSpPr>
          <p:cNvPr name="Freeform 80" id="80"/>
          <p:cNvSpPr/>
          <p:nvPr/>
        </p:nvSpPr>
        <p:spPr>
          <a:xfrm flipH="false" flipV="false" rot="0">
            <a:off x="5342034" y="8833818"/>
            <a:ext cx="1336393" cy="1336393"/>
          </a:xfrm>
          <a:custGeom>
            <a:avLst/>
            <a:gdLst/>
            <a:ahLst/>
            <a:cxnLst/>
            <a:rect r="r" b="b" t="t" l="l"/>
            <a:pathLst>
              <a:path h="1336393" w="1336393">
                <a:moveTo>
                  <a:pt x="0" y="0"/>
                </a:moveTo>
                <a:lnTo>
                  <a:pt x="1336393" y="0"/>
                </a:lnTo>
                <a:lnTo>
                  <a:pt x="1336393" y="1336393"/>
                </a:lnTo>
                <a:lnTo>
                  <a:pt x="0" y="1336393"/>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grpSp>
        <p:nvGrpSpPr>
          <p:cNvPr name="Group 81" id="81"/>
          <p:cNvGrpSpPr/>
          <p:nvPr/>
        </p:nvGrpSpPr>
        <p:grpSpPr>
          <a:xfrm rot="0">
            <a:off x="5512313" y="9004097"/>
            <a:ext cx="995835" cy="995835"/>
            <a:chOff x="0" y="0"/>
            <a:chExt cx="812800" cy="812800"/>
          </a:xfrm>
        </p:grpSpPr>
        <p:sp>
          <p:nvSpPr>
            <p:cNvPr name="Freeform 82" id="8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3" id="83"/>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TextBox 84" id="84"/>
          <p:cNvSpPr txBox="true"/>
          <p:nvPr/>
        </p:nvSpPr>
        <p:spPr>
          <a:xfrm rot="0">
            <a:off x="6938669" y="9322426"/>
            <a:ext cx="5742681" cy="419446"/>
          </a:xfrm>
          <a:prstGeom prst="rect">
            <a:avLst/>
          </a:prstGeom>
        </p:spPr>
        <p:txBody>
          <a:bodyPr anchor="t" rtlCol="false" tIns="0" lIns="0" bIns="0" rIns="0">
            <a:spAutoFit/>
          </a:bodyPr>
          <a:lstStyle/>
          <a:p>
            <a:pPr algn="l">
              <a:lnSpc>
                <a:spcPts val="3369"/>
              </a:lnSpc>
            </a:pPr>
            <a:r>
              <a:rPr lang="en-US" b="true" sz="2708">
                <a:solidFill>
                  <a:srgbClr val="2D2261"/>
                </a:solidFill>
                <a:latin typeface="Red Hat Display Bold"/>
                <a:ea typeface="Red Hat Display Bold"/>
                <a:cs typeface="Red Hat Display Bold"/>
                <a:sym typeface="Red Hat Display Bold"/>
              </a:rPr>
              <a:t>Kết luận</a:t>
            </a:r>
          </a:p>
        </p:txBody>
      </p:sp>
      <p:sp>
        <p:nvSpPr>
          <p:cNvPr name="TextBox 85" id="85"/>
          <p:cNvSpPr txBox="true"/>
          <p:nvPr/>
        </p:nvSpPr>
        <p:spPr>
          <a:xfrm rot="0">
            <a:off x="5546011" y="9256979"/>
            <a:ext cx="928439" cy="480546"/>
          </a:xfrm>
          <a:prstGeom prst="rect">
            <a:avLst/>
          </a:prstGeom>
        </p:spPr>
        <p:txBody>
          <a:bodyPr anchor="t" rtlCol="false" tIns="0" lIns="0" bIns="0" rIns="0">
            <a:spAutoFit/>
          </a:bodyPr>
          <a:lstStyle/>
          <a:p>
            <a:pPr algn="ctr">
              <a:lnSpc>
                <a:spcPts val="3850"/>
              </a:lnSpc>
            </a:pPr>
            <a:r>
              <a:rPr lang="en-US" b="true" sz="3095">
                <a:solidFill>
                  <a:srgbClr val="2D2261"/>
                </a:solidFill>
                <a:latin typeface="Red Hat Display Bold"/>
                <a:ea typeface="Red Hat Display Bold"/>
                <a:cs typeface="Red Hat Display Bold"/>
                <a:sym typeface="Red Hat Display Bold"/>
              </a:rPr>
              <a:t>13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0">
            <a:off x="336410" y="3331831"/>
            <a:ext cx="4899276" cy="3623338"/>
          </a:xfrm>
          <a:custGeom>
            <a:avLst/>
            <a:gdLst/>
            <a:ahLst/>
            <a:cxnLst/>
            <a:rect r="r" b="b" t="t" l="l"/>
            <a:pathLst>
              <a:path h="3623338" w="4899276">
                <a:moveTo>
                  <a:pt x="0" y="0"/>
                </a:moveTo>
                <a:lnTo>
                  <a:pt x="4899276" y="0"/>
                </a:lnTo>
                <a:lnTo>
                  <a:pt x="4899276" y="3623338"/>
                </a:lnTo>
                <a:lnTo>
                  <a:pt x="0" y="36233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572435" y="2574342"/>
            <a:ext cx="11686865" cy="6116797"/>
          </a:xfrm>
          <a:prstGeom prst="rect">
            <a:avLst/>
          </a:prstGeom>
        </p:spPr>
        <p:txBody>
          <a:bodyPr anchor="t" rtlCol="false" tIns="0" lIns="0" bIns="0" rIns="0">
            <a:spAutoFit/>
          </a:bodyPr>
          <a:lstStyle/>
          <a:p>
            <a:pPr algn="l">
              <a:lnSpc>
                <a:spcPts val="5394"/>
              </a:lnSpc>
            </a:pPr>
            <a:r>
              <a:rPr lang="en-US" sz="3853">
                <a:solidFill>
                  <a:srgbClr val="5B7ABE"/>
                </a:solidFill>
                <a:latin typeface="Red Hat Display"/>
                <a:ea typeface="Red Hat Display"/>
                <a:cs typeface="Red Hat Display"/>
                <a:sym typeface="Red Hat Display"/>
              </a:rPr>
              <a:t>Dữ liệu ngày càng đóng vai trò quan trọng trong chăn nuôi bò sữa, ảnh hưởng trực tiếp đến hiệu quả sản xuất. Trang trại hiện đại sử dụng cảm biến và phần mềm để theo dõi nhiệt độ, vận động, thức ăn và sản lượng sữa của đàn bò. Dữ liệu này được thu thập liên tục, tạo thành tập dữ liệu lớn phục vụ phân tích. Nghiên cứu phân tích dữ liệu sức khỏe bò sữa giúp phát hiện xu hướng và cải thiện quản lý trang trại.</a:t>
            </a:r>
          </a:p>
          <a:p>
            <a:pPr algn="l">
              <a:lnSpc>
                <a:spcPts val="5394"/>
              </a:lnSpc>
            </a:pPr>
          </a:p>
        </p:txBody>
      </p:sp>
      <p:sp>
        <p:nvSpPr>
          <p:cNvPr name="TextBox 4" id="4"/>
          <p:cNvSpPr txBox="true"/>
          <p:nvPr/>
        </p:nvSpPr>
        <p:spPr>
          <a:xfrm rot="0">
            <a:off x="4489361" y="1107367"/>
            <a:ext cx="8102996" cy="1798372"/>
          </a:xfrm>
          <a:prstGeom prst="rect">
            <a:avLst/>
          </a:prstGeom>
        </p:spPr>
        <p:txBody>
          <a:bodyPr anchor="t" rtlCol="false" tIns="0" lIns="0" bIns="0" rIns="0">
            <a:spAutoFit/>
          </a:bodyPr>
          <a:lstStyle/>
          <a:p>
            <a:pPr algn="l">
              <a:lnSpc>
                <a:spcPts val="7113"/>
              </a:lnSpc>
            </a:pPr>
            <a:r>
              <a:rPr lang="en-US" sz="5718" b="true">
                <a:solidFill>
                  <a:srgbClr val="2D2261"/>
                </a:solidFill>
                <a:latin typeface="Red Hat Display Bold"/>
                <a:ea typeface="Red Hat Display Bold"/>
                <a:cs typeface="Red Hat Display Bold"/>
                <a:sym typeface="Red Hat Display Bold"/>
              </a:rPr>
              <a:t>1. Bối cảnh nghiên cứu</a:t>
            </a:r>
          </a:p>
          <a:p>
            <a:pPr algn="l">
              <a:lnSpc>
                <a:spcPts val="7113"/>
              </a:lnSpc>
            </a:pPr>
          </a:p>
        </p:txBody>
      </p:sp>
      <p:sp>
        <p:nvSpPr>
          <p:cNvPr name="Freeform 5" id="5"/>
          <p:cNvSpPr/>
          <p:nvPr/>
        </p:nvSpPr>
        <p:spPr>
          <a:xfrm flipH="false" flipV="false" rot="715246">
            <a:off x="12993540" y="-2095015"/>
            <a:ext cx="6727323" cy="4586811"/>
          </a:xfrm>
          <a:custGeom>
            <a:avLst/>
            <a:gdLst/>
            <a:ahLst/>
            <a:cxnLst/>
            <a:rect r="r" b="b" t="t" l="l"/>
            <a:pathLst>
              <a:path h="4586811" w="6727323">
                <a:moveTo>
                  <a:pt x="0" y="0"/>
                </a:moveTo>
                <a:lnTo>
                  <a:pt x="6727323" y="0"/>
                </a:lnTo>
                <a:lnTo>
                  <a:pt x="6727323" y="4586812"/>
                </a:lnTo>
                <a:lnTo>
                  <a:pt x="0" y="4586812"/>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226878">
            <a:off x="-267547" y="148087"/>
            <a:ext cx="4576141" cy="2579280"/>
          </a:xfrm>
          <a:custGeom>
            <a:avLst/>
            <a:gdLst/>
            <a:ahLst/>
            <a:cxnLst/>
            <a:rect r="r" b="b" t="t" l="l"/>
            <a:pathLst>
              <a:path h="2579280" w="4576141">
                <a:moveTo>
                  <a:pt x="0" y="0"/>
                </a:moveTo>
                <a:lnTo>
                  <a:pt x="4576141" y="0"/>
                </a:lnTo>
                <a:lnTo>
                  <a:pt x="4576141" y="2579280"/>
                </a:lnTo>
                <a:lnTo>
                  <a:pt x="0" y="25792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1773358" y="3799227"/>
            <a:ext cx="7094106" cy="5246559"/>
          </a:xfrm>
          <a:custGeom>
            <a:avLst/>
            <a:gdLst/>
            <a:ahLst/>
            <a:cxnLst/>
            <a:rect r="r" b="b" t="t" l="l"/>
            <a:pathLst>
              <a:path h="5246559" w="7094106">
                <a:moveTo>
                  <a:pt x="0" y="0"/>
                </a:moveTo>
                <a:lnTo>
                  <a:pt x="7094106" y="0"/>
                </a:lnTo>
                <a:lnTo>
                  <a:pt x="7094106" y="5246559"/>
                </a:lnTo>
                <a:lnTo>
                  <a:pt x="0" y="52465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24486" y="2934910"/>
            <a:ext cx="11686865" cy="5433686"/>
          </a:xfrm>
          <a:prstGeom prst="rect">
            <a:avLst/>
          </a:prstGeom>
        </p:spPr>
        <p:txBody>
          <a:bodyPr anchor="t" rtlCol="false" tIns="0" lIns="0" bIns="0" rIns="0">
            <a:spAutoFit/>
          </a:bodyPr>
          <a:lstStyle/>
          <a:p>
            <a:pPr algn="l">
              <a:lnSpc>
                <a:spcPts val="5394"/>
              </a:lnSpc>
            </a:pPr>
            <a:r>
              <a:rPr lang="en-US" sz="3853">
                <a:solidFill>
                  <a:srgbClr val="5B7ABE"/>
                </a:solidFill>
                <a:latin typeface="Red Hat Display"/>
                <a:ea typeface="Red Hat Display"/>
                <a:cs typeface="Red Hat Display"/>
                <a:sym typeface="Red Hat Display"/>
              </a:rPr>
              <a:t>Trong thực tế, các trang trại bò sữa cần theo dõi sức khỏe của đàn bò để đảm bảo năng suất sữa ổn định. Nếu bò bị bệnh hoặc có dấu hiệu bất thường, sản lượng sữa có thể giảm đáng kể.</a:t>
            </a:r>
          </a:p>
          <a:p>
            <a:pPr algn="l">
              <a:lnSpc>
                <a:spcPts val="5394"/>
              </a:lnSpc>
            </a:pPr>
            <a:r>
              <a:rPr lang="en-US" sz="3853">
                <a:solidFill>
                  <a:srgbClr val="5B7ABE"/>
                </a:solidFill>
                <a:latin typeface="Red Hat Display"/>
                <a:ea typeface="Red Hat Display"/>
                <a:cs typeface="Red Hat Display"/>
                <a:sym typeface="Red Hat Display"/>
              </a:rPr>
              <a:t>Việc phân tích dữ liệu giúp người quản lý trang trại:</a:t>
            </a:r>
          </a:p>
          <a:p>
            <a:pPr algn="l" marL="831968" indent="-415984" lvl="1">
              <a:lnSpc>
                <a:spcPts val="5394"/>
              </a:lnSpc>
              <a:buFont typeface="Arial"/>
              <a:buChar char="•"/>
            </a:pPr>
            <a:r>
              <a:rPr lang="en-US" sz="3853">
                <a:solidFill>
                  <a:srgbClr val="5B7ABE"/>
                </a:solidFill>
                <a:latin typeface="Red Hat Display"/>
                <a:ea typeface="Red Hat Display"/>
                <a:cs typeface="Red Hat Display"/>
                <a:sym typeface="Red Hat Display"/>
              </a:rPr>
              <a:t>phát hiện sớm dấu hiệu bệnh</a:t>
            </a:r>
          </a:p>
          <a:p>
            <a:pPr algn="l" marL="831968" indent="-415984" lvl="1">
              <a:lnSpc>
                <a:spcPts val="5394"/>
              </a:lnSpc>
              <a:buFont typeface="Arial"/>
              <a:buChar char="•"/>
            </a:pPr>
            <a:r>
              <a:rPr lang="en-US" sz="3853">
                <a:solidFill>
                  <a:srgbClr val="5B7ABE"/>
                </a:solidFill>
                <a:latin typeface="Red Hat Display"/>
                <a:ea typeface="Red Hat Display"/>
                <a:cs typeface="Red Hat Display"/>
                <a:sym typeface="Red Hat Display"/>
              </a:rPr>
              <a:t>tối ưu chế độ dinh dưỡng</a:t>
            </a:r>
          </a:p>
          <a:p>
            <a:pPr algn="l" marL="831968" indent="-415984" lvl="1">
              <a:lnSpc>
                <a:spcPts val="5394"/>
              </a:lnSpc>
              <a:buFont typeface="Arial"/>
              <a:buChar char="•"/>
            </a:pPr>
            <a:r>
              <a:rPr lang="en-US" sz="3853">
                <a:solidFill>
                  <a:srgbClr val="5B7ABE"/>
                </a:solidFill>
                <a:latin typeface="Red Hat Display"/>
                <a:ea typeface="Red Hat Display"/>
                <a:cs typeface="Red Hat Display"/>
                <a:sym typeface="Red Hat Display"/>
              </a:rPr>
              <a:t>cải thiện năng suất chăn nuôi</a:t>
            </a:r>
          </a:p>
        </p:txBody>
      </p:sp>
      <p:sp>
        <p:nvSpPr>
          <p:cNvPr name="TextBox 4" id="4"/>
          <p:cNvSpPr txBox="true"/>
          <p:nvPr/>
        </p:nvSpPr>
        <p:spPr>
          <a:xfrm rot="0">
            <a:off x="4489361" y="842645"/>
            <a:ext cx="8102996" cy="2435020"/>
          </a:xfrm>
          <a:prstGeom prst="rect">
            <a:avLst/>
          </a:prstGeom>
        </p:spPr>
        <p:txBody>
          <a:bodyPr anchor="t" rtlCol="false" tIns="0" lIns="0" bIns="0" rIns="0">
            <a:spAutoFit/>
          </a:bodyPr>
          <a:lstStyle/>
          <a:p>
            <a:pPr algn="l">
              <a:lnSpc>
                <a:spcPts val="7113"/>
              </a:lnSpc>
            </a:pPr>
            <a:r>
              <a:rPr lang="en-US" sz="5718" b="true">
                <a:solidFill>
                  <a:srgbClr val="2D2261"/>
                </a:solidFill>
                <a:latin typeface="Red Hat Display Bold"/>
                <a:ea typeface="Red Hat Display Bold"/>
                <a:cs typeface="Red Hat Display Bold"/>
                <a:sym typeface="Red Hat Display Bold"/>
              </a:rPr>
              <a:t>2. Lí do chọn đề tài</a:t>
            </a:r>
          </a:p>
          <a:p>
            <a:pPr algn="l">
              <a:lnSpc>
                <a:spcPts val="5123"/>
              </a:lnSpc>
            </a:pPr>
            <a:r>
              <a:rPr lang="en-US" sz="4118" u="sng">
                <a:solidFill>
                  <a:srgbClr val="2D2261"/>
                </a:solidFill>
                <a:latin typeface="Red Hat Display"/>
                <a:ea typeface="Red Hat Display"/>
                <a:cs typeface="Red Hat Display"/>
                <a:sym typeface="Red Hat Display"/>
              </a:rPr>
              <a:t>2.1  Lí do thực tiễn</a:t>
            </a:r>
          </a:p>
          <a:p>
            <a:pPr algn="l">
              <a:lnSpc>
                <a:spcPts val="7113"/>
              </a:lnSpc>
            </a:pPr>
          </a:p>
        </p:txBody>
      </p:sp>
      <p:sp>
        <p:nvSpPr>
          <p:cNvPr name="Freeform 5" id="5"/>
          <p:cNvSpPr/>
          <p:nvPr/>
        </p:nvSpPr>
        <p:spPr>
          <a:xfrm flipH="false" flipV="false" rot="715246">
            <a:off x="12993540" y="-2095015"/>
            <a:ext cx="6727323" cy="4586811"/>
          </a:xfrm>
          <a:custGeom>
            <a:avLst/>
            <a:gdLst/>
            <a:ahLst/>
            <a:cxnLst/>
            <a:rect r="r" b="b" t="t" l="l"/>
            <a:pathLst>
              <a:path h="4586811" w="6727323">
                <a:moveTo>
                  <a:pt x="0" y="0"/>
                </a:moveTo>
                <a:lnTo>
                  <a:pt x="6727323" y="0"/>
                </a:lnTo>
                <a:lnTo>
                  <a:pt x="6727323" y="4586812"/>
                </a:lnTo>
                <a:lnTo>
                  <a:pt x="0" y="4586812"/>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226878">
            <a:off x="-267547" y="148087"/>
            <a:ext cx="4576141" cy="2579280"/>
          </a:xfrm>
          <a:custGeom>
            <a:avLst/>
            <a:gdLst/>
            <a:ahLst/>
            <a:cxnLst/>
            <a:rect r="r" b="b" t="t" l="l"/>
            <a:pathLst>
              <a:path h="2579280" w="4576141">
                <a:moveTo>
                  <a:pt x="0" y="0"/>
                </a:moveTo>
                <a:lnTo>
                  <a:pt x="4576141" y="0"/>
                </a:lnTo>
                <a:lnTo>
                  <a:pt x="4576141" y="2579280"/>
                </a:lnTo>
                <a:lnTo>
                  <a:pt x="0" y="25792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4740947" y="3914609"/>
            <a:ext cx="7094106" cy="5246559"/>
          </a:xfrm>
          <a:custGeom>
            <a:avLst/>
            <a:gdLst/>
            <a:ahLst/>
            <a:cxnLst/>
            <a:rect r="r" b="b" t="t" l="l"/>
            <a:pathLst>
              <a:path h="5246559" w="7094106">
                <a:moveTo>
                  <a:pt x="0" y="0"/>
                </a:moveTo>
                <a:lnTo>
                  <a:pt x="7094106" y="0"/>
                </a:lnTo>
                <a:lnTo>
                  <a:pt x="7094106" y="5246559"/>
                </a:lnTo>
                <a:lnTo>
                  <a:pt x="0" y="52465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684318" y="2603187"/>
            <a:ext cx="12121103" cy="6308810"/>
          </a:xfrm>
          <a:prstGeom prst="rect">
            <a:avLst/>
          </a:prstGeom>
        </p:spPr>
        <p:txBody>
          <a:bodyPr anchor="t" rtlCol="false" tIns="0" lIns="0" bIns="0" rIns="0">
            <a:spAutoFit/>
          </a:bodyPr>
          <a:lstStyle/>
          <a:p>
            <a:pPr algn="l">
              <a:lnSpc>
                <a:spcPts val="5595"/>
              </a:lnSpc>
            </a:pPr>
            <a:r>
              <a:rPr lang="en-US" sz="3996">
                <a:solidFill>
                  <a:srgbClr val="5B7ABE"/>
                </a:solidFill>
                <a:latin typeface="Red Hat Display"/>
                <a:ea typeface="Red Hat Display"/>
                <a:cs typeface="Red Hat Display"/>
                <a:sym typeface="Red Hat Display"/>
              </a:rPr>
              <a:t>Đề tài giúp áp dụng các kiến thức đã học trong môn </a:t>
            </a:r>
            <a:r>
              <a:rPr lang="en-US" sz="3996" i="true" b="true">
                <a:solidFill>
                  <a:srgbClr val="5B7ABE"/>
                </a:solidFill>
                <a:latin typeface="Red Hat Display Bold Italics"/>
                <a:ea typeface="Red Hat Display Bold Italics"/>
                <a:cs typeface="Red Hat Display Bold Italics"/>
                <a:sym typeface="Red Hat Display Bold Italics"/>
              </a:rPr>
              <a:t>Phân tích dữ liệu lớn</a:t>
            </a:r>
            <a:r>
              <a:rPr lang="en-US" sz="3996">
                <a:solidFill>
                  <a:srgbClr val="5B7ABE"/>
                </a:solidFill>
                <a:latin typeface="Red Hat Display"/>
                <a:ea typeface="Red Hat Display"/>
                <a:cs typeface="Red Hat Display"/>
                <a:sym typeface="Red Hat Display"/>
              </a:rPr>
              <a:t>, bao gồm:</a:t>
            </a:r>
          </a:p>
          <a:p>
            <a:pPr algn="l" marL="862881" indent="-431440" lvl="1">
              <a:lnSpc>
                <a:spcPts val="5595"/>
              </a:lnSpc>
              <a:buFont typeface="Arial"/>
              <a:buChar char="•"/>
            </a:pPr>
            <a:r>
              <a:rPr lang="en-US" sz="3996">
                <a:solidFill>
                  <a:srgbClr val="5B7ABE"/>
                </a:solidFill>
                <a:latin typeface="Red Hat Display"/>
                <a:ea typeface="Red Hat Display"/>
                <a:cs typeface="Red Hat Display"/>
                <a:sym typeface="Red Hat Display"/>
              </a:rPr>
              <a:t>thu thập dữ liệu</a:t>
            </a:r>
          </a:p>
          <a:p>
            <a:pPr algn="l" marL="862881" indent="-431440" lvl="1">
              <a:lnSpc>
                <a:spcPts val="5595"/>
              </a:lnSpc>
              <a:buFont typeface="Arial"/>
              <a:buChar char="•"/>
            </a:pPr>
            <a:r>
              <a:rPr lang="en-US" sz="3996">
                <a:solidFill>
                  <a:srgbClr val="5B7ABE"/>
                </a:solidFill>
                <a:latin typeface="Red Hat Display"/>
                <a:ea typeface="Red Hat Display"/>
                <a:cs typeface="Red Hat Display"/>
                <a:sym typeface="Red Hat Display"/>
              </a:rPr>
              <a:t>tiền xử lý dữ liệu</a:t>
            </a:r>
          </a:p>
          <a:p>
            <a:pPr algn="l" marL="862881" indent="-431440" lvl="1">
              <a:lnSpc>
                <a:spcPts val="5595"/>
              </a:lnSpc>
              <a:buFont typeface="Arial"/>
              <a:buChar char="•"/>
            </a:pPr>
            <a:r>
              <a:rPr lang="en-US" sz="3996">
                <a:solidFill>
                  <a:srgbClr val="5B7ABE"/>
                </a:solidFill>
                <a:latin typeface="Red Hat Display"/>
                <a:ea typeface="Red Hat Display"/>
                <a:cs typeface="Red Hat Display"/>
                <a:sym typeface="Red Hat Display"/>
              </a:rPr>
              <a:t>phân tích dữ liệu</a:t>
            </a:r>
          </a:p>
          <a:p>
            <a:pPr algn="l" marL="862881" indent="-431440" lvl="1">
              <a:lnSpc>
                <a:spcPts val="5595"/>
              </a:lnSpc>
              <a:buFont typeface="Arial"/>
              <a:buChar char="•"/>
            </a:pPr>
            <a:r>
              <a:rPr lang="en-US" sz="3996">
                <a:solidFill>
                  <a:srgbClr val="5B7ABE"/>
                </a:solidFill>
                <a:latin typeface="Red Hat Display"/>
                <a:ea typeface="Red Hat Display"/>
                <a:cs typeface="Red Hat Display"/>
                <a:sym typeface="Red Hat Display"/>
              </a:rPr>
              <a:t>trực quan hóa dữ liệu</a:t>
            </a:r>
          </a:p>
          <a:p>
            <a:pPr algn="l" marL="862881" indent="-431440" lvl="1">
              <a:lnSpc>
                <a:spcPts val="5595"/>
              </a:lnSpc>
              <a:buFont typeface="Arial"/>
              <a:buChar char="•"/>
            </a:pPr>
            <a:r>
              <a:rPr lang="en-US" sz="3996">
                <a:solidFill>
                  <a:srgbClr val="5B7ABE"/>
                </a:solidFill>
                <a:latin typeface="Red Hat Display"/>
                <a:ea typeface="Red Hat Display"/>
                <a:cs typeface="Red Hat Display"/>
                <a:sym typeface="Red Hat Display"/>
              </a:rPr>
              <a:t>áp dụng các thuật toán phân cụm</a:t>
            </a:r>
          </a:p>
          <a:p>
            <a:pPr algn="l">
              <a:lnSpc>
                <a:spcPts val="5595"/>
              </a:lnSpc>
            </a:pPr>
            <a:r>
              <a:rPr lang="en-US" sz="3996">
                <a:solidFill>
                  <a:srgbClr val="5B7ABE"/>
                </a:solidFill>
                <a:latin typeface="Red Hat Display"/>
                <a:ea typeface="Red Hat Display"/>
                <a:cs typeface="Red Hat Display"/>
                <a:sym typeface="Red Hat Display"/>
              </a:rPr>
              <a:t>Thông qua đề tài này, sinh viên có thể hiểu rõ hơn về quy trình phân tích dữ liệu trong thực tế.</a:t>
            </a:r>
          </a:p>
        </p:txBody>
      </p:sp>
      <p:sp>
        <p:nvSpPr>
          <p:cNvPr name="TextBox 4" id="4"/>
          <p:cNvSpPr txBox="true"/>
          <p:nvPr/>
        </p:nvSpPr>
        <p:spPr>
          <a:xfrm rot="0">
            <a:off x="4489361" y="842645"/>
            <a:ext cx="8102996" cy="1544141"/>
          </a:xfrm>
          <a:prstGeom prst="rect">
            <a:avLst/>
          </a:prstGeom>
        </p:spPr>
        <p:txBody>
          <a:bodyPr anchor="t" rtlCol="false" tIns="0" lIns="0" bIns="0" rIns="0">
            <a:spAutoFit/>
          </a:bodyPr>
          <a:lstStyle/>
          <a:p>
            <a:pPr algn="l">
              <a:lnSpc>
                <a:spcPts val="7113"/>
              </a:lnSpc>
            </a:pPr>
            <a:r>
              <a:rPr lang="en-US" sz="5718" b="true">
                <a:solidFill>
                  <a:srgbClr val="2D2261"/>
                </a:solidFill>
                <a:latin typeface="Red Hat Display Bold"/>
                <a:ea typeface="Red Hat Display Bold"/>
                <a:cs typeface="Red Hat Display Bold"/>
                <a:sym typeface="Red Hat Display Bold"/>
              </a:rPr>
              <a:t>2. Lí do chọn đề tài</a:t>
            </a:r>
          </a:p>
          <a:p>
            <a:pPr algn="l">
              <a:lnSpc>
                <a:spcPts val="5123"/>
              </a:lnSpc>
            </a:pPr>
            <a:r>
              <a:rPr lang="en-US" sz="4118" u="sng">
                <a:solidFill>
                  <a:srgbClr val="2D2261"/>
                </a:solidFill>
                <a:latin typeface="Red Hat Display"/>
                <a:ea typeface="Red Hat Display"/>
                <a:cs typeface="Red Hat Display"/>
                <a:sym typeface="Red Hat Display"/>
              </a:rPr>
              <a:t>2.2  Lí do học thuật</a:t>
            </a:r>
          </a:p>
        </p:txBody>
      </p:sp>
      <p:sp>
        <p:nvSpPr>
          <p:cNvPr name="Freeform 5" id="5"/>
          <p:cNvSpPr/>
          <p:nvPr/>
        </p:nvSpPr>
        <p:spPr>
          <a:xfrm flipH="false" flipV="false" rot="715246">
            <a:off x="12993540" y="-2095015"/>
            <a:ext cx="6727323" cy="4586811"/>
          </a:xfrm>
          <a:custGeom>
            <a:avLst/>
            <a:gdLst/>
            <a:ahLst/>
            <a:cxnLst/>
            <a:rect r="r" b="b" t="t" l="l"/>
            <a:pathLst>
              <a:path h="4586811" w="6727323">
                <a:moveTo>
                  <a:pt x="0" y="0"/>
                </a:moveTo>
                <a:lnTo>
                  <a:pt x="6727323" y="0"/>
                </a:lnTo>
                <a:lnTo>
                  <a:pt x="6727323" y="4586812"/>
                </a:lnTo>
                <a:lnTo>
                  <a:pt x="0" y="4586812"/>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226878">
            <a:off x="-267547" y="148087"/>
            <a:ext cx="4576141" cy="2579280"/>
          </a:xfrm>
          <a:custGeom>
            <a:avLst/>
            <a:gdLst/>
            <a:ahLst/>
            <a:cxnLst/>
            <a:rect r="r" b="b" t="t" l="l"/>
            <a:pathLst>
              <a:path h="2579280" w="4576141">
                <a:moveTo>
                  <a:pt x="0" y="0"/>
                </a:moveTo>
                <a:lnTo>
                  <a:pt x="4576141" y="0"/>
                </a:lnTo>
                <a:lnTo>
                  <a:pt x="4576141" y="2579280"/>
                </a:lnTo>
                <a:lnTo>
                  <a:pt x="0" y="25792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2226030" y="3943454"/>
            <a:ext cx="7094106" cy="5246559"/>
          </a:xfrm>
          <a:custGeom>
            <a:avLst/>
            <a:gdLst/>
            <a:ahLst/>
            <a:cxnLst/>
            <a:rect r="r" b="b" t="t" l="l"/>
            <a:pathLst>
              <a:path h="5246559" w="7094106">
                <a:moveTo>
                  <a:pt x="0" y="0"/>
                </a:moveTo>
                <a:lnTo>
                  <a:pt x="7094106" y="0"/>
                </a:lnTo>
                <a:lnTo>
                  <a:pt x="7094106" y="5246560"/>
                </a:lnTo>
                <a:lnTo>
                  <a:pt x="0" y="52465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3540664"/>
            <a:ext cx="12121103" cy="4194260"/>
          </a:xfrm>
          <a:prstGeom prst="rect">
            <a:avLst/>
          </a:prstGeom>
        </p:spPr>
        <p:txBody>
          <a:bodyPr anchor="t" rtlCol="false" tIns="0" lIns="0" bIns="0" rIns="0">
            <a:spAutoFit/>
          </a:bodyPr>
          <a:lstStyle/>
          <a:p>
            <a:pPr algn="l">
              <a:lnSpc>
                <a:spcPts val="5595"/>
              </a:lnSpc>
            </a:pPr>
            <a:r>
              <a:rPr lang="en-US" sz="3996">
                <a:solidFill>
                  <a:srgbClr val="5B7ABE"/>
                </a:solidFill>
                <a:latin typeface="Red Hat Display"/>
                <a:ea typeface="Red Hat Display"/>
                <a:cs typeface="Red Hat Display"/>
                <a:sym typeface="Red Hat Display"/>
              </a:rPr>
              <a:t>Sự phát triển của các công nghệ dữ liệu lớn giúp việc lưu trữ và xử lý dữ liệu trở nên hiệu quả hơn.</a:t>
            </a:r>
          </a:p>
          <a:p>
            <a:pPr algn="l">
              <a:lnSpc>
                <a:spcPts val="5595"/>
              </a:lnSpc>
            </a:pPr>
            <a:r>
              <a:rPr lang="en-US" sz="3996">
                <a:solidFill>
                  <a:srgbClr val="5B7ABE"/>
                </a:solidFill>
                <a:latin typeface="Red Hat Display"/>
                <a:ea typeface="Red Hat Display"/>
                <a:cs typeface="Red Hat Display"/>
                <a:sym typeface="Red Hat Display"/>
              </a:rPr>
              <a:t>Trong đề tài này, dữ liệu sẽ được phân tích bằng các công cụ lập trình và có thể mô phỏng xử lý dữ liệu lớn bằng hệ thống như anaconda</a:t>
            </a:r>
          </a:p>
          <a:p>
            <a:pPr algn="l">
              <a:lnSpc>
                <a:spcPts val="5595"/>
              </a:lnSpc>
            </a:pPr>
          </a:p>
        </p:txBody>
      </p:sp>
      <p:sp>
        <p:nvSpPr>
          <p:cNvPr name="TextBox 4" id="4"/>
          <p:cNvSpPr txBox="true"/>
          <p:nvPr/>
        </p:nvSpPr>
        <p:spPr>
          <a:xfrm rot="0">
            <a:off x="4489361" y="842645"/>
            <a:ext cx="8102996" cy="1544141"/>
          </a:xfrm>
          <a:prstGeom prst="rect">
            <a:avLst/>
          </a:prstGeom>
        </p:spPr>
        <p:txBody>
          <a:bodyPr anchor="t" rtlCol="false" tIns="0" lIns="0" bIns="0" rIns="0">
            <a:spAutoFit/>
          </a:bodyPr>
          <a:lstStyle/>
          <a:p>
            <a:pPr algn="l">
              <a:lnSpc>
                <a:spcPts val="7113"/>
              </a:lnSpc>
            </a:pPr>
            <a:r>
              <a:rPr lang="en-US" sz="5718" b="true">
                <a:solidFill>
                  <a:srgbClr val="2D2261"/>
                </a:solidFill>
                <a:latin typeface="Red Hat Display Bold"/>
                <a:ea typeface="Red Hat Display Bold"/>
                <a:cs typeface="Red Hat Display Bold"/>
                <a:sym typeface="Red Hat Display Bold"/>
              </a:rPr>
              <a:t>2. Lí do chọn đề tài</a:t>
            </a:r>
          </a:p>
          <a:p>
            <a:pPr algn="l">
              <a:lnSpc>
                <a:spcPts val="5123"/>
              </a:lnSpc>
            </a:pPr>
            <a:r>
              <a:rPr lang="en-US" sz="4118" u="sng">
                <a:solidFill>
                  <a:srgbClr val="2D2261"/>
                </a:solidFill>
                <a:latin typeface="Red Hat Display"/>
                <a:ea typeface="Red Hat Display"/>
                <a:cs typeface="Red Hat Display"/>
                <a:sym typeface="Red Hat Display"/>
              </a:rPr>
              <a:t>2.3  Lí do công nghệ</a:t>
            </a:r>
          </a:p>
        </p:txBody>
      </p:sp>
      <p:sp>
        <p:nvSpPr>
          <p:cNvPr name="Freeform 5" id="5"/>
          <p:cNvSpPr/>
          <p:nvPr/>
        </p:nvSpPr>
        <p:spPr>
          <a:xfrm flipH="false" flipV="false" rot="715246">
            <a:off x="12993540" y="-2095015"/>
            <a:ext cx="6727323" cy="4586811"/>
          </a:xfrm>
          <a:custGeom>
            <a:avLst/>
            <a:gdLst/>
            <a:ahLst/>
            <a:cxnLst/>
            <a:rect r="r" b="b" t="t" l="l"/>
            <a:pathLst>
              <a:path h="4586811" w="6727323">
                <a:moveTo>
                  <a:pt x="0" y="0"/>
                </a:moveTo>
                <a:lnTo>
                  <a:pt x="6727323" y="0"/>
                </a:lnTo>
                <a:lnTo>
                  <a:pt x="6727323" y="4586812"/>
                </a:lnTo>
                <a:lnTo>
                  <a:pt x="0" y="4586812"/>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226878">
            <a:off x="-267547" y="148087"/>
            <a:ext cx="4576141" cy="2579280"/>
          </a:xfrm>
          <a:custGeom>
            <a:avLst/>
            <a:gdLst/>
            <a:ahLst/>
            <a:cxnLst/>
            <a:rect r="r" b="b" t="t" l="l"/>
            <a:pathLst>
              <a:path h="2579280" w="4576141">
                <a:moveTo>
                  <a:pt x="0" y="0"/>
                </a:moveTo>
                <a:lnTo>
                  <a:pt x="4576141" y="0"/>
                </a:lnTo>
                <a:lnTo>
                  <a:pt x="4576141" y="2579280"/>
                </a:lnTo>
                <a:lnTo>
                  <a:pt x="0" y="25792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715246">
            <a:off x="-39255" y="7388881"/>
            <a:ext cx="6727323" cy="4586811"/>
          </a:xfrm>
          <a:custGeom>
            <a:avLst/>
            <a:gdLst/>
            <a:ahLst/>
            <a:cxnLst/>
            <a:rect r="r" b="b" t="t" l="l"/>
            <a:pathLst>
              <a:path h="4586811" w="6727323">
                <a:moveTo>
                  <a:pt x="0" y="0"/>
                </a:moveTo>
                <a:lnTo>
                  <a:pt x="6727323" y="0"/>
                </a:lnTo>
                <a:lnTo>
                  <a:pt x="6727323" y="4586811"/>
                </a:lnTo>
                <a:lnTo>
                  <a:pt x="0" y="4586811"/>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0292707">
            <a:off x="7687230" y="7771418"/>
            <a:ext cx="4576141" cy="2579280"/>
          </a:xfrm>
          <a:custGeom>
            <a:avLst/>
            <a:gdLst/>
            <a:ahLst/>
            <a:cxnLst/>
            <a:rect r="r" b="b" t="t" l="l"/>
            <a:pathLst>
              <a:path h="2579280" w="4576141">
                <a:moveTo>
                  <a:pt x="0" y="0"/>
                </a:moveTo>
                <a:lnTo>
                  <a:pt x="4576141" y="0"/>
                </a:lnTo>
                <a:lnTo>
                  <a:pt x="4576141" y="2579279"/>
                </a:lnTo>
                <a:lnTo>
                  <a:pt x="0" y="257927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TextBox 2" id="2"/>
          <p:cNvSpPr txBox="true"/>
          <p:nvPr/>
        </p:nvSpPr>
        <p:spPr>
          <a:xfrm rot="0">
            <a:off x="4264475" y="1183263"/>
            <a:ext cx="9759051" cy="728158"/>
          </a:xfrm>
          <a:prstGeom prst="rect">
            <a:avLst/>
          </a:prstGeom>
        </p:spPr>
        <p:txBody>
          <a:bodyPr anchor="t" rtlCol="false" tIns="0" lIns="0" bIns="0" rIns="0">
            <a:spAutoFit/>
          </a:bodyPr>
          <a:lstStyle/>
          <a:p>
            <a:pPr algn="ctr">
              <a:lnSpc>
                <a:spcPts val="6065"/>
              </a:lnSpc>
            </a:pPr>
            <a:r>
              <a:rPr lang="en-US" b="true" sz="4332">
                <a:solidFill>
                  <a:srgbClr val="2D2261"/>
                </a:solidFill>
                <a:latin typeface="Red Hat Display Bold"/>
                <a:ea typeface="Red Hat Display Bold"/>
                <a:cs typeface="Red Hat Display Bold"/>
                <a:sym typeface="Red Hat Display Bold"/>
              </a:rPr>
              <a:t>3. Mục tiêu nghiên cứu</a:t>
            </a:r>
          </a:p>
        </p:txBody>
      </p:sp>
      <p:grpSp>
        <p:nvGrpSpPr>
          <p:cNvPr name="Group 3" id="3"/>
          <p:cNvGrpSpPr/>
          <p:nvPr/>
        </p:nvGrpSpPr>
        <p:grpSpPr>
          <a:xfrm rot="0">
            <a:off x="2029259" y="3954531"/>
            <a:ext cx="14604727" cy="4909026"/>
            <a:chOff x="0" y="0"/>
            <a:chExt cx="3846512" cy="1292912"/>
          </a:xfrm>
        </p:grpSpPr>
        <p:sp>
          <p:nvSpPr>
            <p:cNvPr name="Freeform 4" id="4"/>
            <p:cNvSpPr/>
            <p:nvPr/>
          </p:nvSpPr>
          <p:spPr>
            <a:xfrm flipH="false" flipV="false" rot="0">
              <a:off x="0" y="0"/>
              <a:ext cx="3846512" cy="1292912"/>
            </a:xfrm>
            <a:custGeom>
              <a:avLst/>
              <a:gdLst/>
              <a:ahLst/>
              <a:cxnLst/>
              <a:rect r="r" b="b" t="t" l="l"/>
              <a:pathLst>
                <a:path h="1292912" w="3846512">
                  <a:moveTo>
                    <a:pt x="15903" y="0"/>
                  </a:moveTo>
                  <a:lnTo>
                    <a:pt x="3830610" y="0"/>
                  </a:lnTo>
                  <a:cubicBezTo>
                    <a:pt x="3834827" y="0"/>
                    <a:pt x="3838872" y="1675"/>
                    <a:pt x="3841855" y="4658"/>
                  </a:cubicBezTo>
                  <a:cubicBezTo>
                    <a:pt x="3844837" y="7640"/>
                    <a:pt x="3846512" y="11685"/>
                    <a:pt x="3846512" y="15903"/>
                  </a:cubicBezTo>
                  <a:lnTo>
                    <a:pt x="3846512" y="1277009"/>
                  </a:lnTo>
                  <a:cubicBezTo>
                    <a:pt x="3846512" y="1281227"/>
                    <a:pt x="3844837" y="1285272"/>
                    <a:pt x="3841855" y="1288254"/>
                  </a:cubicBezTo>
                  <a:cubicBezTo>
                    <a:pt x="3838872" y="1291237"/>
                    <a:pt x="3834827" y="1292912"/>
                    <a:pt x="3830610" y="1292912"/>
                  </a:cubicBezTo>
                  <a:lnTo>
                    <a:pt x="15903" y="1292912"/>
                  </a:lnTo>
                  <a:cubicBezTo>
                    <a:pt x="7120" y="1292912"/>
                    <a:pt x="0" y="1285792"/>
                    <a:pt x="0" y="1277009"/>
                  </a:cubicBezTo>
                  <a:lnTo>
                    <a:pt x="0" y="15903"/>
                  </a:lnTo>
                  <a:cubicBezTo>
                    <a:pt x="0" y="11685"/>
                    <a:pt x="1675" y="7640"/>
                    <a:pt x="4658" y="4658"/>
                  </a:cubicBezTo>
                  <a:cubicBezTo>
                    <a:pt x="7640" y="1675"/>
                    <a:pt x="11685" y="0"/>
                    <a:pt x="15903" y="0"/>
                  </a:cubicBezTo>
                  <a:close/>
                </a:path>
              </a:pathLst>
            </a:custGeom>
            <a:solidFill>
              <a:srgbClr val="ECE1D7"/>
            </a:solidFill>
          </p:spPr>
        </p:sp>
        <p:sp>
          <p:nvSpPr>
            <p:cNvPr name="TextBox 5" id="5"/>
            <p:cNvSpPr txBox="true"/>
            <p:nvPr/>
          </p:nvSpPr>
          <p:spPr>
            <a:xfrm>
              <a:off x="0" y="-47625"/>
              <a:ext cx="3846512" cy="1340537"/>
            </a:xfrm>
            <a:prstGeom prst="rect">
              <a:avLst/>
            </a:prstGeom>
          </p:spPr>
          <p:txBody>
            <a:bodyPr anchor="ctr" rtlCol="false" tIns="50800" lIns="50800" bIns="50800" rIns="50800"/>
            <a:lstStyle/>
            <a:p>
              <a:pPr algn="ctr">
                <a:lnSpc>
                  <a:spcPts val="3032"/>
                </a:lnSpc>
              </a:pPr>
            </a:p>
          </p:txBody>
        </p:sp>
      </p:grpSp>
      <p:grpSp>
        <p:nvGrpSpPr>
          <p:cNvPr name="Group 6" id="6"/>
          <p:cNvGrpSpPr/>
          <p:nvPr/>
        </p:nvGrpSpPr>
        <p:grpSpPr>
          <a:xfrm rot="0">
            <a:off x="2029259" y="2635779"/>
            <a:ext cx="6672235" cy="1318752"/>
            <a:chOff x="0" y="0"/>
            <a:chExt cx="1757296" cy="347326"/>
          </a:xfrm>
        </p:grpSpPr>
        <p:sp>
          <p:nvSpPr>
            <p:cNvPr name="Freeform 7" id="7"/>
            <p:cNvSpPr/>
            <p:nvPr/>
          </p:nvSpPr>
          <p:spPr>
            <a:xfrm flipH="false" flipV="false" rot="0">
              <a:off x="0" y="0"/>
              <a:ext cx="1757296" cy="347326"/>
            </a:xfrm>
            <a:custGeom>
              <a:avLst/>
              <a:gdLst/>
              <a:ahLst/>
              <a:cxnLst/>
              <a:rect r="r" b="b" t="t" l="l"/>
              <a:pathLst>
                <a:path h="347326" w="1757296">
                  <a:moveTo>
                    <a:pt x="34810" y="0"/>
                  </a:moveTo>
                  <a:lnTo>
                    <a:pt x="1722487" y="0"/>
                  </a:lnTo>
                  <a:cubicBezTo>
                    <a:pt x="1741712" y="0"/>
                    <a:pt x="1757296" y="15585"/>
                    <a:pt x="1757296" y="34810"/>
                  </a:cubicBezTo>
                  <a:lnTo>
                    <a:pt x="1757296" y="312516"/>
                  </a:lnTo>
                  <a:cubicBezTo>
                    <a:pt x="1757296" y="331741"/>
                    <a:pt x="1741712" y="347326"/>
                    <a:pt x="1722487" y="347326"/>
                  </a:cubicBezTo>
                  <a:lnTo>
                    <a:pt x="34810" y="347326"/>
                  </a:lnTo>
                  <a:cubicBezTo>
                    <a:pt x="15585" y="347326"/>
                    <a:pt x="0" y="331741"/>
                    <a:pt x="0" y="312516"/>
                  </a:cubicBezTo>
                  <a:lnTo>
                    <a:pt x="0" y="34810"/>
                  </a:lnTo>
                  <a:cubicBezTo>
                    <a:pt x="0" y="15585"/>
                    <a:pt x="15585" y="0"/>
                    <a:pt x="34810" y="0"/>
                  </a:cubicBezTo>
                  <a:close/>
                </a:path>
              </a:pathLst>
            </a:custGeom>
            <a:solidFill>
              <a:srgbClr val="5B7ABE"/>
            </a:solidFill>
          </p:spPr>
        </p:sp>
        <p:sp>
          <p:nvSpPr>
            <p:cNvPr name="TextBox 8" id="8"/>
            <p:cNvSpPr txBox="true"/>
            <p:nvPr/>
          </p:nvSpPr>
          <p:spPr>
            <a:xfrm>
              <a:off x="0" y="-47625"/>
              <a:ext cx="1757296" cy="394951"/>
            </a:xfrm>
            <a:prstGeom prst="rect">
              <a:avLst/>
            </a:prstGeom>
          </p:spPr>
          <p:txBody>
            <a:bodyPr anchor="ctr" rtlCol="false" tIns="50800" lIns="50800" bIns="50800" rIns="50800"/>
            <a:lstStyle/>
            <a:p>
              <a:pPr algn="ctr">
                <a:lnSpc>
                  <a:spcPts val="3032"/>
                </a:lnSpc>
              </a:pPr>
            </a:p>
          </p:txBody>
        </p:sp>
      </p:grpSp>
      <p:sp>
        <p:nvSpPr>
          <p:cNvPr name="TextBox 9" id="9"/>
          <p:cNvSpPr txBox="true"/>
          <p:nvPr/>
        </p:nvSpPr>
        <p:spPr>
          <a:xfrm rot="0">
            <a:off x="3623534" y="3078018"/>
            <a:ext cx="3018068" cy="396240"/>
          </a:xfrm>
          <a:prstGeom prst="rect">
            <a:avLst/>
          </a:prstGeom>
        </p:spPr>
        <p:txBody>
          <a:bodyPr anchor="t" rtlCol="false" tIns="0" lIns="0" bIns="0" rIns="0">
            <a:spAutoFit/>
          </a:bodyPr>
          <a:lstStyle/>
          <a:p>
            <a:pPr algn="ctr">
              <a:lnSpc>
                <a:spcPts val="3359"/>
              </a:lnSpc>
            </a:pPr>
            <a:r>
              <a:rPr lang="en-US" b="true" sz="2400">
                <a:solidFill>
                  <a:srgbClr val="FBFCFE"/>
                </a:solidFill>
                <a:latin typeface="Red Hat Display Bold"/>
                <a:ea typeface="Red Hat Display Bold"/>
                <a:cs typeface="Red Hat Display Bold"/>
                <a:sym typeface="Red Hat Display Bold"/>
              </a:rPr>
              <a:t>1. Xây dựng dataset</a:t>
            </a:r>
          </a:p>
        </p:txBody>
      </p:sp>
      <p:sp>
        <p:nvSpPr>
          <p:cNvPr name="TextBox 10" id="10"/>
          <p:cNvSpPr txBox="true"/>
          <p:nvPr/>
        </p:nvSpPr>
        <p:spPr>
          <a:xfrm rot="0">
            <a:off x="2436261" y="4331324"/>
            <a:ext cx="14367377" cy="4098291"/>
          </a:xfrm>
          <a:prstGeom prst="rect">
            <a:avLst/>
          </a:prstGeom>
        </p:spPr>
        <p:txBody>
          <a:bodyPr anchor="t" rtlCol="false" tIns="0" lIns="0" bIns="0" rIns="0">
            <a:spAutoFit/>
          </a:bodyPr>
          <a:lstStyle/>
          <a:p>
            <a:pPr algn="ctr">
              <a:lnSpc>
                <a:spcPts val="4059"/>
              </a:lnSpc>
            </a:pPr>
            <a:r>
              <a:rPr lang="en-US" sz="2899">
                <a:solidFill>
                  <a:srgbClr val="2D2261"/>
                </a:solidFill>
                <a:latin typeface="Red Hat Display"/>
                <a:ea typeface="Red Hat Display"/>
                <a:cs typeface="Red Hat Display"/>
                <a:sym typeface="Red Hat Display"/>
              </a:rPr>
              <a:t>Xây dựng tập dữ liệu mô phỏng về sức khỏe bò sữa bao gồm các thông tin:</a:t>
            </a:r>
          </a:p>
          <a:p>
            <a:pPr algn="l" marL="626102" indent="-313051" lvl="1">
              <a:lnSpc>
                <a:spcPts val="4059"/>
              </a:lnSpc>
              <a:buFont typeface="Arial"/>
              <a:buChar char="•"/>
            </a:pPr>
            <a:r>
              <a:rPr lang="en-US" sz="2899">
                <a:solidFill>
                  <a:srgbClr val="2D2261"/>
                </a:solidFill>
                <a:latin typeface="Red Hat Display"/>
                <a:ea typeface="Red Hat Display"/>
                <a:cs typeface="Red Hat Display"/>
                <a:sym typeface="Red Hat Display"/>
              </a:rPr>
              <a:t>mã bò</a:t>
            </a:r>
          </a:p>
          <a:p>
            <a:pPr algn="l" marL="626102" indent="-313051" lvl="1">
              <a:lnSpc>
                <a:spcPts val="4059"/>
              </a:lnSpc>
              <a:buFont typeface="Arial"/>
              <a:buChar char="•"/>
            </a:pPr>
            <a:r>
              <a:rPr lang="en-US" sz="2899">
                <a:solidFill>
                  <a:srgbClr val="2D2261"/>
                </a:solidFill>
                <a:latin typeface="Red Hat Display"/>
                <a:ea typeface="Red Hat Display"/>
                <a:cs typeface="Red Hat Display"/>
                <a:sym typeface="Red Hat Display"/>
              </a:rPr>
              <a:t>ngày ghi nhận dữ liệu</a:t>
            </a:r>
          </a:p>
          <a:p>
            <a:pPr algn="l" marL="626102" indent="-313051" lvl="1">
              <a:lnSpc>
                <a:spcPts val="4059"/>
              </a:lnSpc>
              <a:buFont typeface="Arial"/>
              <a:buChar char="•"/>
            </a:pPr>
            <a:r>
              <a:rPr lang="en-US" sz="2899">
                <a:solidFill>
                  <a:srgbClr val="2D2261"/>
                </a:solidFill>
                <a:latin typeface="Red Hat Display"/>
                <a:ea typeface="Red Hat Display"/>
                <a:cs typeface="Red Hat Display"/>
                <a:sym typeface="Red Hat Display"/>
              </a:rPr>
              <a:t>nhiệt độ cơ thể</a:t>
            </a:r>
          </a:p>
          <a:p>
            <a:pPr algn="l" marL="626102" indent="-313051" lvl="1">
              <a:lnSpc>
                <a:spcPts val="4059"/>
              </a:lnSpc>
              <a:buFont typeface="Arial"/>
              <a:buChar char="•"/>
            </a:pPr>
            <a:r>
              <a:rPr lang="en-US" sz="2899">
                <a:solidFill>
                  <a:srgbClr val="2D2261"/>
                </a:solidFill>
                <a:latin typeface="Red Hat Display"/>
                <a:ea typeface="Red Hat Display"/>
                <a:cs typeface="Red Hat Display"/>
                <a:sym typeface="Red Hat Display"/>
              </a:rPr>
              <a:t>mức độ vận động</a:t>
            </a:r>
          </a:p>
          <a:p>
            <a:pPr algn="l" marL="626102" indent="-313051" lvl="1">
              <a:lnSpc>
                <a:spcPts val="4059"/>
              </a:lnSpc>
              <a:buFont typeface="Arial"/>
              <a:buChar char="•"/>
            </a:pPr>
            <a:r>
              <a:rPr lang="en-US" sz="2899">
                <a:solidFill>
                  <a:srgbClr val="2D2261"/>
                </a:solidFill>
                <a:latin typeface="Red Hat Display"/>
                <a:ea typeface="Red Hat Display"/>
                <a:cs typeface="Red Hat Display"/>
                <a:sym typeface="Red Hat Display"/>
              </a:rPr>
              <a:t>lượng thức ăn</a:t>
            </a:r>
          </a:p>
          <a:p>
            <a:pPr algn="l" marL="626102" indent="-313051" lvl="1">
              <a:lnSpc>
                <a:spcPts val="4059"/>
              </a:lnSpc>
              <a:buFont typeface="Arial"/>
              <a:buChar char="•"/>
            </a:pPr>
            <a:r>
              <a:rPr lang="en-US" sz="2899">
                <a:solidFill>
                  <a:srgbClr val="2D2261"/>
                </a:solidFill>
                <a:latin typeface="Red Hat Display"/>
                <a:ea typeface="Red Hat Display"/>
                <a:cs typeface="Red Hat Display"/>
                <a:sym typeface="Red Hat Display"/>
              </a:rPr>
              <a:t>sản lượng sữa</a:t>
            </a:r>
          </a:p>
          <a:p>
            <a:pPr algn="l">
              <a:lnSpc>
                <a:spcPts val="4059"/>
              </a:lnSpc>
            </a:pPr>
            <a:r>
              <a:rPr lang="en-US" sz="2899">
                <a:solidFill>
                  <a:srgbClr val="2D2261"/>
                </a:solidFill>
                <a:latin typeface="Red Hat Display"/>
                <a:ea typeface="Red Hat Display"/>
                <a:cs typeface="Red Hat Display"/>
                <a:sym typeface="Red Hat Display"/>
              </a:rPr>
              <a:t>Data</a:t>
            </a:r>
            <a:r>
              <a:rPr lang="en-US" sz="2899">
                <a:solidFill>
                  <a:srgbClr val="2D2261"/>
                </a:solidFill>
                <a:latin typeface="Red Hat Display"/>
                <a:ea typeface="Red Hat Display"/>
                <a:cs typeface="Red Hat Display"/>
                <a:sym typeface="Red Hat Display"/>
              </a:rPr>
              <a:t>set được xây dựng với khoảng 6000 dòng dữ liệu.</a:t>
            </a:r>
          </a:p>
        </p:txBody>
      </p:sp>
      <p:sp>
        <p:nvSpPr>
          <p:cNvPr name="Freeform 11" id="11"/>
          <p:cNvSpPr/>
          <p:nvPr/>
        </p:nvSpPr>
        <p:spPr>
          <a:xfrm flipH="false" flipV="false" rot="-2080684">
            <a:off x="10082077" y="8242051"/>
            <a:ext cx="10960234" cy="7472887"/>
          </a:xfrm>
          <a:custGeom>
            <a:avLst/>
            <a:gdLst/>
            <a:ahLst/>
            <a:cxnLst/>
            <a:rect r="r" b="b" t="t" l="l"/>
            <a:pathLst>
              <a:path h="7472887" w="10960234">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9426524">
            <a:off x="-3984660" y="-4765086"/>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2624874">
            <a:off x="-884948" y="9077955"/>
            <a:ext cx="3242701" cy="1827704"/>
          </a:xfrm>
          <a:custGeom>
            <a:avLst/>
            <a:gdLst/>
            <a:ahLst/>
            <a:cxnLst/>
            <a:rect r="r" b="b" t="t" l="l"/>
            <a:pathLst>
              <a:path h="1827704" w="3242701">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2830696">
            <a:off x="16075185" y="-10287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TextBox 2" id="2"/>
          <p:cNvSpPr txBox="true"/>
          <p:nvPr/>
        </p:nvSpPr>
        <p:spPr>
          <a:xfrm rot="0">
            <a:off x="4264475" y="1183263"/>
            <a:ext cx="9759051" cy="728158"/>
          </a:xfrm>
          <a:prstGeom prst="rect">
            <a:avLst/>
          </a:prstGeom>
        </p:spPr>
        <p:txBody>
          <a:bodyPr anchor="t" rtlCol="false" tIns="0" lIns="0" bIns="0" rIns="0">
            <a:spAutoFit/>
          </a:bodyPr>
          <a:lstStyle/>
          <a:p>
            <a:pPr algn="ctr">
              <a:lnSpc>
                <a:spcPts val="6065"/>
              </a:lnSpc>
            </a:pPr>
            <a:r>
              <a:rPr lang="en-US" b="true" sz="4332">
                <a:solidFill>
                  <a:srgbClr val="2D2261"/>
                </a:solidFill>
                <a:latin typeface="Red Hat Display Bold"/>
                <a:ea typeface="Red Hat Display Bold"/>
                <a:cs typeface="Red Hat Display Bold"/>
                <a:sym typeface="Red Hat Display Bold"/>
              </a:rPr>
              <a:t>3. Mục tiêu nghiên cứu</a:t>
            </a:r>
          </a:p>
        </p:txBody>
      </p:sp>
      <p:grpSp>
        <p:nvGrpSpPr>
          <p:cNvPr name="Group 3" id="3"/>
          <p:cNvGrpSpPr/>
          <p:nvPr/>
        </p:nvGrpSpPr>
        <p:grpSpPr>
          <a:xfrm rot="0">
            <a:off x="2029259" y="3954531"/>
            <a:ext cx="14604727" cy="5303769"/>
            <a:chOff x="0" y="0"/>
            <a:chExt cx="3846512" cy="1396877"/>
          </a:xfrm>
        </p:grpSpPr>
        <p:sp>
          <p:nvSpPr>
            <p:cNvPr name="Freeform 4" id="4"/>
            <p:cNvSpPr/>
            <p:nvPr/>
          </p:nvSpPr>
          <p:spPr>
            <a:xfrm flipH="false" flipV="false" rot="0">
              <a:off x="0" y="0"/>
              <a:ext cx="3846512" cy="1396877"/>
            </a:xfrm>
            <a:custGeom>
              <a:avLst/>
              <a:gdLst/>
              <a:ahLst/>
              <a:cxnLst/>
              <a:rect r="r" b="b" t="t" l="l"/>
              <a:pathLst>
                <a:path h="1396877" w="3846512">
                  <a:moveTo>
                    <a:pt x="15903" y="0"/>
                  </a:moveTo>
                  <a:lnTo>
                    <a:pt x="3830610" y="0"/>
                  </a:lnTo>
                  <a:cubicBezTo>
                    <a:pt x="3834827" y="0"/>
                    <a:pt x="3838872" y="1675"/>
                    <a:pt x="3841855" y="4658"/>
                  </a:cubicBezTo>
                  <a:cubicBezTo>
                    <a:pt x="3844837" y="7640"/>
                    <a:pt x="3846512" y="11685"/>
                    <a:pt x="3846512" y="15903"/>
                  </a:cubicBezTo>
                  <a:lnTo>
                    <a:pt x="3846512" y="1380974"/>
                  </a:lnTo>
                  <a:cubicBezTo>
                    <a:pt x="3846512" y="1385192"/>
                    <a:pt x="3844837" y="1389237"/>
                    <a:pt x="3841855" y="1392219"/>
                  </a:cubicBezTo>
                  <a:cubicBezTo>
                    <a:pt x="3838872" y="1395202"/>
                    <a:pt x="3834827" y="1396877"/>
                    <a:pt x="3830610" y="1396877"/>
                  </a:cubicBezTo>
                  <a:lnTo>
                    <a:pt x="15903" y="1396877"/>
                  </a:lnTo>
                  <a:cubicBezTo>
                    <a:pt x="7120" y="1396877"/>
                    <a:pt x="0" y="1389757"/>
                    <a:pt x="0" y="1380974"/>
                  </a:cubicBezTo>
                  <a:lnTo>
                    <a:pt x="0" y="15903"/>
                  </a:lnTo>
                  <a:cubicBezTo>
                    <a:pt x="0" y="11685"/>
                    <a:pt x="1675" y="7640"/>
                    <a:pt x="4658" y="4658"/>
                  </a:cubicBezTo>
                  <a:cubicBezTo>
                    <a:pt x="7640" y="1675"/>
                    <a:pt x="11685" y="0"/>
                    <a:pt x="15903" y="0"/>
                  </a:cubicBezTo>
                  <a:close/>
                </a:path>
              </a:pathLst>
            </a:custGeom>
            <a:solidFill>
              <a:srgbClr val="ECE1D7"/>
            </a:solidFill>
          </p:spPr>
        </p:sp>
        <p:sp>
          <p:nvSpPr>
            <p:cNvPr name="TextBox 5" id="5"/>
            <p:cNvSpPr txBox="true"/>
            <p:nvPr/>
          </p:nvSpPr>
          <p:spPr>
            <a:xfrm>
              <a:off x="0" y="-47625"/>
              <a:ext cx="3846512" cy="1444502"/>
            </a:xfrm>
            <a:prstGeom prst="rect">
              <a:avLst/>
            </a:prstGeom>
          </p:spPr>
          <p:txBody>
            <a:bodyPr anchor="ctr" rtlCol="false" tIns="50800" lIns="50800" bIns="50800" rIns="50800"/>
            <a:lstStyle/>
            <a:p>
              <a:pPr algn="ctr">
                <a:lnSpc>
                  <a:spcPts val="3032"/>
                </a:lnSpc>
              </a:pPr>
            </a:p>
          </p:txBody>
        </p:sp>
      </p:grpSp>
      <p:grpSp>
        <p:nvGrpSpPr>
          <p:cNvPr name="Group 6" id="6"/>
          <p:cNvGrpSpPr/>
          <p:nvPr/>
        </p:nvGrpSpPr>
        <p:grpSpPr>
          <a:xfrm rot="0">
            <a:off x="2029259" y="2635779"/>
            <a:ext cx="6672235" cy="1318752"/>
            <a:chOff x="0" y="0"/>
            <a:chExt cx="1757296" cy="347326"/>
          </a:xfrm>
        </p:grpSpPr>
        <p:sp>
          <p:nvSpPr>
            <p:cNvPr name="Freeform 7" id="7"/>
            <p:cNvSpPr/>
            <p:nvPr/>
          </p:nvSpPr>
          <p:spPr>
            <a:xfrm flipH="false" flipV="false" rot="0">
              <a:off x="0" y="0"/>
              <a:ext cx="1757296" cy="347326"/>
            </a:xfrm>
            <a:custGeom>
              <a:avLst/>
              <a:gdLst/>
              <a:ahLst/>
              <a:cxnLst/>
              <a:rect r="r" b="b" t="t" l="l"/>
              <a:pathLst>
                <a:path h="347326" w="1757296">
                  <a:moveTo>
                    <a:pt x="34810" y="0"/>
                  </a:moveTo>
                  <a:lnTo>
                    <a:pt x="1722487" y="0"/>
                  </a:lnTo>
                  <a:cubicBezTo>
                    <a:pt x="1741712" y="0"/>
                    <a:pt x="1757296" y="15585"/>
                    <a:pt x="1757296" y="34810"/>
                  </a:cubicBezTo>
                  <a:lnTo>
                    <a:pt x="1757296" y="312516"/>
                  </a:lnTo>
                  <a:cubicBezTo>
                    <a:pt x="1757296" y="331741"/>
                    <a:pt x="1741712" y="347326"/>
                    <a:pt x="1722487" y="347326"/>
                  </a:cubicBezTo>
                  <a:lnTo>
                    <a:pt x="34810" y="347326"/>
                  </a:lnTo>
                  <a:cubicBezTo>
                    <a:pt x="15585" y="347326"/>
                    <a:pt x="0" y="331741"/>
                    <a:pt x="0" y="312516"/>
                  </a:cubicBezTo>
                  <a:lnTo>
                    <a:pt x="0" y="34810"/>
                  </a:lnTo>
                  <a:cubicBezTo>
                    <a:pt x="0" y="15585"/>
                    <a:pt x="15585" y="0"/>
                    <a:pt x="34810" y="0"/>
                  </a:cubicBezTo>
                  <a:close/>
                </a:path>
              </a:pathLst>
            </a:custGeom>
            <a:solidFill>
              <a:srgbClr val="5B7ABE"/>
            </a:solidFill>
          </p:spPr>
        </p:sp>
        <p:sp>
          <p:nvSpPr>
            <p:cNvPr name="TextBox 8" id="8"/>
            <p:cNvSpPr txBox="true"/>
            <p:nvPr/>
          </p:nvSpPr>
          <p:spPr>
            <a:xfrm>
              <a:off x="0" y="-47625"/>
              <a:ext cx="1757296" cy="394951"/>
            </a:xfrm>
            <a:prstGeom prst="rect">
              <a:avLst/>
            </a:prstGeom>
          </p:spPr>
          <p:txBody>
            <a:bodyPr anchor="ctr" rtlCol="false" tIns="50800" lIns="50800" bIns="50800" rIns="50800"/>
            <a:lstStyle/>
            <a:p>
              <a:pPr algn="ctr">
                <a:lnSpc>
                  <a:spcPts val="3032"/>
                </a:lnSpc>
              </a:pPr>
            </a:p>
          </p:txBody>
        </p:sp>
      </p:grpSp>
      <p:sp>
        <p:nvSpPr>
          <p:cNvPr name="TextBox 9" id="9"/>
          <p:cNvSpPr txBox="true"/>
          <p:nvPr/>
        </p:nvSpPr>
        <p:spPr>
          <a:xfrm rot="0">
            <a:off x="2983768" y="3070785"/>
            <a:ext cx="4763217" cy="396240"/>
          </a:xfrm>
          <a:prstGeom prst="rect">
            <a:avLst/>
          </a:prstGeom>
        </p:spPr>
        <p:txBody>
          <a:bodyPr anchor="t" rtlCol="false" tIns="0" lIns="0" bIns="0" rIns="0">
            <a:spAutoFit/>
          </a:bodyPr>
          <a:lstStyle/>
          <a:p>
            <a:pPr algn="ctr">
              <a:lnSpc>
                <a:spcPts val="3359"/>
              </a:lnSpc>
            </a:pPr>
            <a:r>
              <a:rPr lang="en-US" b="true" sz="2400">
                <a:solidFill>
                  <a:srgbClr val="FBFCFE"/>
                </a:solidFill>
                <a:latin typeface="Red Hat Display Bold"/>
                <a:ea typeface="Red Hat Display Bold"/>
                <a:cs typeface="Red Hat Display Bold"/>
                <a:sym typeface="Red Hat Display Bold"/>
              </a:rPr>
              <a:t>2. Triển khai phân tích dữ liệu</a:t>
            </a:r>
          </a:p>
        </p:txBody>
      </p:sp>
      <p:sp>
        <p:nvSpPr>
          <p:cNvPr name="TextBox 10" id="10"/>
          <p:cNvSpPr txBox="true"/>
          <p:nvPr/>
        </p:nvSpPr>
        <p:spPr>
          <a:xfrm rot="0">
            <a:off x="2147933" y="4012763"/>
            <a:ext cx="14367377" cy="5641341"/>
          </a:xfrm>
          <a:prstGeom prst="rect">
            <a:avLst/>
          </a:prstGeom>
        </p:spPr>
        <p:txBody>
          <a:bodyPr anchor="t" rtlCol="false" tIns="0" lIns="0" bIns="0" rIns="0">
            <a:spAutoFit/>
          </a:bodyPr>
          <a:lstStyle/>
          <a:p>
            <a:pPr algn="just">
              <a:lnSpc>
                <a:spcPts val="4059"/>
              </a:lnSpc>
            </a:pPr>
            <a:r>
              <a:rPr lang="en-US" sz="2899">
                <a:solidFill>
                  <a:srgbClr val="2D2261"/>
                </a:solidFill>
                <a:latin typeface="Red Hat Display"/>
                <a:ea typeface="Red Hat Display"/>
                <a:cs typeface="Red Hat Display"/>
                <a:sym typeface="Red Hat Display"/>
              </a:rPr>
              <a:t>Sau khi xây dựng dataset về sức khỏe bò sữa, bước tiếp theo là triển khai quá trình phân tích dữ liệu nhằm tìm ra các đặc điểm và xu hướng của dữ liệu.</a:t>
            </a:r>
          </a:p>
          <a:p>
            <a:pPr algn="just">
              <a:lnSpc>
                <a:spcPts val="4059"/>
              </a:lnSpc>
            </a:pPr>
            <a:r>
              <a:rPr lang="en-US" sz="2899">
                <a:solidFill>
                  <a:srgbClr val="2D2261"/>
                </a:solidFill>
                <a:latin typeface="Red Hat Display"/>
                <a:ea typeface="Red Hat Display"/>
                <a:cs typeface="Red Hat Display"/>
                <a:sym typeface="Red Hat Display"/>
              </a:rPr>
              <a:t>Quá trì</a:t>
            </a:r>
            <a:r>
              <a:rPr lang="en-US" sz="2899">
                <a:solidFill>
                  <a:srgbClr val="2D2261"/>
                </a:solidFill>
                <a:latin typeface="Red Hat Display"/>
                <a:ea typeface="Red Hat Display"/>
                <a:cs typeface="Red Hat Display"/>
                <a:sym typeface="Red Hat Display"/>
              </a:rPr>
              <a:t>nh phân tích dữ liệu trong đề tài được thực hiện theo các bước sau:</a:t>
            </a:r>
          </a:p>
          <a:p>
            <a:pPr algn="just" marL="626102" indent="-313051" lvl="1">
              <a:lnSpc>
                <a:spcPts val="4059"/>
              </a:lnSpc>
              <a:buFont typeface="Arial"/>
              <a:buChar char="•"/>
            </a:pPr>
            <a:r>
              <a:rPr lang="en-US" sz="2899">
                <a:solidFill>
                  <a:srgbClr val="2D2261"/>
                </a:solidFill>
                <a:latin typeface="Red Hat Display"/>
                <a:ea typeface="Red Hat Display"/>
                <a:cs typeface="Red Hat Display"/>
                <a:sym typeface="Red Hat Display"/>
              </a:rPr>
              <a:t>Thu thập và xây dựng dataset mô phỏng dữ liệu bò sữa</a:t>
            </a:r>
          </a:p>
          <a:p>
            <a:pPr algn="just" marL="626102" indent="-313051" lvl="1">
              <a:lnSpc>
                <a:spcPts val="4059"/>
              </a:lnSpc>
              <a:buFont typeface="Arial"/>
              <a:buChar char="•"/>
            </a:pPr>
            <a:r>
              <a:rPr lang="en-US" sz="2899">
                <a:solidFill>
                  <a:srgbClr val="2D2261"/>
                </a:solidFill>
                <a:latin typeface="Red Hat Display"/>
                <a:ea typeface="Red Hat Display"/>
                <a:cs typeface="Red Hat Display"/>
                <a:sym typeface="Red Hat Display"/>
              </a:rPr>
              <a:t>Tiền xử </a:t>
            </a:r>
            <a:r>
              <a:rPr lang="en-US" sz="2899">
                <a:solidFill>
                  <a:srgbClr val="2D2261"/>
                </a:solidFill>
                <a:latin typeface="Red Hat Display"/>
                <a:ea typeface="Red Hat Display"/>
                <a:cs typeface="Red Hat Display"/>
                <a:sym typeface="Red Hat Display"/>
              </a:rPr>
              <a:t>lý dữ liệu để đảm bảo dữ liệu sạch và đồng nhất</a:t>
            </a:r>
          </a:p>
          <a:p>
            <a:pPr algn="just" marL="626102" indent="-313051" lvl="1">
              <a:lnSpc>
                <a:spcPts val="4059"/>
              </a:lnSpc>
              <a:buFont typeface="Arial"/>
              <a:buChar char="•"/>
            </a:pPr>
            <a:r>
              <a:rPr lang="en-US" sz="2899">
                <a:solidFill>
                  <a:srgbClr val="2D2261"/>
                </a:solidFill>
                <a:latin typeface="Red Hat Display"/>
                <a:ea typeface="Red Hat Display"/>
                <a:cs typeface="Red Hat Display"/>
                <a:sym typeface="Red Hat Display"/>
              </a:rPr>
              <a:t>Phân tích dữ liệu mô tả để hiểu đặc điểm chung của data</a:t>
            </a:r>
            <a:r>
              <a:rPr lang="en-US" sz="2899">
                <a:solidFill>
                  <a:srgbClr val="2D2261"/>
                </a:solidFill>
                <a:latin typeface="Red Hat Display"/>
                <a:ea typeface="Red Hat Display"/>
                <a:cs typeface="Red Hat Display"/>
                <a:sym typeface="Red Hat Display"/>
              </a:rPr>
              <a:t>set</a:t>
            </a:r>
          </a:p>
          <a:p>
            <a:pPr algn="just" marL="626102" indent="-313051" lvl="1">
              <a:lnSpc>
                <a:spcPts val="4059"/>
              </a:lnSpc>
              <a:buFont typeface="Arial"/>
              <a:buChar char="•"/>
            </a:pPr>
            <a:r>
              <a:rPr lang="en-US" sz="2899">
                <a:solidFill>
                  <a:srgbClr val="2D2261"/>
                </a:solidFill>
                <a:latin typeface="Red Hat Display"/>
                <a:ea typeface="Red Hat Display"/>
                <a:cs typeface="Red Hat Display"/>
                <a:sym typeface="Red Hat Display"/>
              </a:rPr>
              <a:t>Trực quan hóa dữ liệu bằng các biểu đồ</a:t>
            </a:r>
          </a:p>
          <a:p>
            <a:pPr algn="just" marL="626102" indent="-313051" lvl="1">
              <a:lnSpc>
                <a:spcPts val="4059"/>
              </a:lnSpc>
              <a:buFont typeface="Arial"/>
              <a:buChar char="•"/>
            </a:pPr>
            <a:r>
              <a:rPr lang="en-US" sz="2899">
                <a:solidFill>
                  <a:srgbClr val="2D2261"/>
                </a:solidFill>
                <a:latin typeface="Red Hat Display"/>
                <a:ea typeface="Red Hat Display"/>
                <a:cs typeface="Red Hat Display"/>
                <a:sym typeface="Red Hat Display"/>
              </a:rPr>
              <a:t>Áp dụng thuật toán phân cụm để phân nhóm dữ liệu</a:t>
            </a:r>
          </a:p>
          <a:p>
            <a:pPr algn="just">
              <a:lnSpc>
                <a:spcPts val="4059"/>
              </a:lnSpc>
            </a:pPr>
            <a:r>
              <a:rPr lang="en-US" sz="2899">
                <a:solidFill>
                  <a:srgbClr val="2D2261"/>
                </a:solidFill>
                <a:latin typeface="Red Hat Display"/>
                <a:ea typeface="Red Hat Display"/>
                <a:cs typeface="Red Hat Display"/>
                <a:sym typeface="Red Hat Display"/>
              </a:rPr>
              <a:t>Thông qua các bước này, dữ liệu về sức khỏe và hoạt động của bò sữa sẽ được phân tích nhằm phát hiện các xu hướng và đặc điểm quan trọng.</a:t>
            </a:r>
          </a:p>
          <a:p>
            <a:pPr algn="just">
              <a:lnSpc>
                <a:spcPts val="4059"/>
              </a:lnSpc>
            </a:pPr>
          </a:p>
        </p:txBody>
      </p:sp>
      <p:sp>
        <p:nvSpPr>
          <p:cNvPr name="Freeform 11" id="11"/>
          <p:cNvSpPr/>
          <p:nvPr/>
        </p:nvSpPr>
        <p:spPr>
          <a:xfrm flipH="false" flipV="false" rot="-2080684">
            <a:off x="10082077" y="8242051"/>
            <a:ext cx="10960234" cy="7472887"/>
          </a:xfrm>
          <a:custGeom>
            <a:avLst/>
            <a:gdLst/>
            <a:ahLst/>
            <a:cxnLst/>
            <a:rect r="r" b="b" t="t" l="l"/>
            <a:pathLst>
              <a:path h="7472887" w="10960234">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9426524">
            <a:off x="-3984660" y="-4765086"/>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2624874">
            <a:off x="-884948" y="9077955"/>
            <a:ext cx="3242701" cy="1827704"/>
          </a:xfrm>
          <a:custGeom>
            <a:avLst/>
            <a:gdLst/>
            <a:ahLst/>
            <a:cxnLst/>
            <a:rect r="r" b="b" t="t" l="l"/>
            <a:pathLst>
              <a:path h="1827704" w="3242701">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2830696">
            <a:off x="16075185" y="-10287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TextBox 2" id="2"/>
          <p:cNvSpPr txBox="true"/>
          <p:nvPr/>
        </p:nvSpPr>
        <p:spPr>
          <a:xfrm rot="0">
            <a:off x="4264475" y="1183263"/>
            <a:ext cx="9759051" cy="728158"/>
          </a:xfrm>
          <a:prstGeom prst="rect">
            <a:avLst/>
          </a:prstGeom>
        </p:spPr>
        <p:txBody>
          <a:bodyPr anchor="t" rtlCol="false" tIns="0" lIns="0" bIns="0" rIns="0">
            <a:spAutoFit/>
          </a:bodyPr>
          <a:lstStyle/>
          <a:p>
            <a:pPr algn="ctr">
              <a:lnSpc>
                <a:spcPts val="6065"/>
              </a:lnSpc>
            </a:pPr>
            <a:r>
              <a:rPr lang="en-US" b="true" sz="4332">
                <a:solidFill>
                  <a:srgbClr val="2D2261"/>
                </a:solidFill>
                <a:latin typeface="Red Hat Display Bold"/>
                <a:ea typeface="Red Hat Display Bold"/>
                <a:cs typeface="Red Hat Display Bold"/>
                <a:sym typeface="Red Hat Display Bold"/>
              </a:rPr>
              <a:t>3. Mục tiêu nghiên cứu</a:t>
            </a:r>
          </a:p>
        </p:txBody>
      </p:sp>
      <p:grpSp>
        <p:nvGrpSpPr>
          <p:cNvPr name="Group 3" id="3"/>
          <p:cNvGrpSpPr/>
          <p:nvPr/>
        </p:nvGrpSpPr>
        <p:grpSpPr>
          <a:xfrm rot="0">
            <a:off x="0" y="3319876"/>
            <a:ext cx="9989459" cy="5303769"/>
            <a:chOff x="0" y="0"/>
            <a:chExt cx="2630968" cy="1396877"/>
          </a:xfrm>
        </p:grpSpPr>
        <p:sp>
          <p:nvSpPr>
            <p:cNvPr name="Freeform 4" id="4"/>
            <p:cNvSpPr/>
            <p:nvPr/>
          </p:nvSpPr>
          <p:spPr>
            <a:xfrm flipH="false" flipV="false" rot="0">
              <a:off x="0" y="0"/>
              <a:ext cx="2630968" cy="1396877"/>
            </a:xfrm>
            <a:custGeom>
              <a:avLst/>
              <a:gdLst/>
              <a:ahLst/>
              <a:cxnLst/>
              <a:rect r="r" b="b" t="t" l="l"/>
              <a:pathLst>
                <a:path h="1396877" w="2630968">
                  <a:moveTo>
                    <a:pt x="23250" y="0"/>
                  </a:moveTo>
                  <a:lnTo>
                    <a:pt x="2607718" y="0"/>
                  </a:lnTo>
                  <a:cubicBezTo>
                    <a:pt x="2620559" y="0"/>
                    <a:pt x="2630968" y="10410"/>
                    <a:pt x="2630968" y="23250"/>
                  </a:cubicBezTo>
                  <a:lnTo>
                    <a:pt x="2630968" y="1373627"/>
                  </a:lnTo>
                  <a:cubicBezTo>
                    <a:pt x="2630968" y="1379793"/>
                    <a:pt x="2628519" y="1385707"/>
                    <a:pt x="2624159" y="1390067"/>
                  </a:cubicBezTo>
                  <a:cubicBezTo>
                    <a:pt x="2619798" y="1394428"/>
                    <a:pt x="2613885" y="1396877"/>
                    <a:pt x="2607718" y="1396877"/>
                  </a:cubicBezTo>
                  <a:lnTo>
                    <a:pt x="23250" y="1396877"/>
                  </a:lnTo>
                  <a:cubicBezTo>
                    <a:pt x="17084" y="1396877"/>
                    <a:pt x="11170" y="1394428"/>
                    <a:pt x="6810" y="1390067"/>
                  </a:cubicBezTo>
                  <a:cubicBezTo>
                    <a:pt x="2450" y="1385707"/>
                    <a:pt x="0" y="1379793"/>
                    <a:pt x="0" y="1373627"/>
                  </a:cubicBezTo>
                  <a:lnTo>
                    <a:pt x="0" y="23250"/>
                  </a:lnTo>
                  <a:cubicBezTo>
                    <a:pt x="0" y="17084"/>
                    <a:pt x="2450" y="11170"/>
                    <a:pt x="6810" y="6810"/>
                  </a:cubicBezTo>
                  <a:cubicBezTo>
                    <a:pt x="11170" y="2450"/>
                    <a:pt x="17084" y="0"/>
                    <a:pt x="23250" y="0"/>
                  </a:cubicBezTo>
                  <a:close/>
                </a:path>
              </a:pathLst>
            </a:custGeom>
            <a:solidFill>
              <a:srgbClr val="ECE1D7"/>
            </a:solidFill>
          </p:spPr>
        </p:sp>
        <p:sp>
          <p:nvSpPr>
            <p:cNvPr name="TextBox 5" id="5"/>
            <p:cNvSpPr txBox="true"/>
            <p:nvPr/>
          </p:nvSpPr>
          <p:spPr>
            <a:xfrm>
              <a:off x="0" y="-47625"/>
              <a:ext cx="2630968" cy="1444502"/>
            </a:xfrm>
            <a:prstGeom prst="rect">
              <a:avLst/>
            </a:prstGeom>
          </p:spPr>
          <p:txBody>
            <a:bodyPr anchor="ctr" rtlCol="false" tIns="50800" lIns="50800" bIns="50800" rIns="50800"/>
            <a:lstStyle/>
            <a:p>
              <a:pPr algn="ctr">
                <a:lnSpc>
                  <a:spcPts val="3032"/>
                </a:lnSpc>
              </a:pPr>
            </a:p>
          </p:txBody>
        </p:sp>
      </p:grpSp>
      <p:grpSp>
        <p:nvGrpSpPr>
          <p:cNvPr name="Group 6" id="6"/>
          <p:cNvGrpSpPr/>
          <p:nvPr/>
        </p:nvGrpSpPr>
        <p:grpSpPr>
          <a:xfrm rot="0">
            <a:off x="0" y="2012381"/>
            <a:ext cx="6672235" cy="1318752"/>
            <a:chOff x="0" y="0"/>
            <a:chExt cx="1757296" cy="347326"/>
          </a:xfrm>
        </p:grpSpPr>
        <p:sp>
          <p:nvSpPr>
            <p:cNvPr name="Freeform 7" id="7"/>
            <p:cNvSpPr/>
            <p:nvPr/>
          </p:nvSpPr>
          <p:spPr>
            <a:xfrm flipH="false" flipV="false" rot="0">
              <a:off x="0" y="0"/>
              <a:ext cx="1757296" cy="347326"/>
            </a:xfrm>
            <a:custGeom>
              <a:avLst/>
              <a:gdLst/>
              <a:ahLst/>
              <a:cxnLst/>
              <a:rect r="r" b="b" t="t" l="l"/>
              <a:pathLst>
                <a:path h="347326" w="1757296">
                  <a:moveTo>
                    <a:pt x="34810" y="0"/>
                  </a:moveTo>
                  <a:lnTo>
                    <a:pt x="1722487" y="0"/>
                  </a:lnTo>
                  <a:cubicBezTo>
                    <a:pt x="1741712" y="0"/>
                    <a:pt x="1757296" y="15585"/>
                    <a:pt x="1757296" y="34810"/>
                  </a:cubicBezTo>
                  <a:lnTo>
                    <a:pt x="1757296" y="312516"/>
                  </a:lnTo>
                  <a:cubicBezTo>
                    <a:pt x="1757296" y="331741"/>
                    <a:pt x="1741712" y="347326"/>
                    <a:pt x="1722487" y="347326"/>
                  </a:cubicBezTo>
                  <a:lnTo>
                    <a:pt x="34810" y="347326"/>
                  </a:lnTo>
                  <a:cubicBezTo>
                    <a:pt x="15585" y="347326"/>
                    <a:pt x="0" y="331741"/>
                    <a:pt x="0" y="312516"/>
                  </a:cubicBezTo>
                  <a:lnTo>
                    <a:pt x="0" y="34810"/>
                  </a:lnTo>
                  <a:cubicBezTo>
                    <a:pt x="0" y="15585"/>
                    <a:pt x="15585" y="0"/>
                    <a:pt x="34810" y="0"/>
                  </a:cubicBezTo>
                  <a:close/>
                </a:path>
              </a:pathLst>
            </a:custGeom>
            <a:solidFill>
              <a:srgbClr val="5B7ABE"/>
            </a:solidFill>
          </p:spPr>
        </p:sp>
        <p:sp>
          <p:nvSpPr>
            <p:cNvPr name="TextBox 8" id="8"/>
            <p:cNvSpPr txBox="true"/>
            <p:nvPr/>
          </p:nvSpPr>
          <p:spPr>
            <a:xfrm>
              <a:off x="0" y="-47625"/>
              <a:ext cx="1757296" cy="394951"/>
            </a:xfrm>
            <a:prstGeom prst="rect">
              <a:avLst/>
            </a:prstGeom>
          </p:spPr>
          <p:txBody>
            <a:bodyPr anchor="ctr" rtlCol="false" tIns="50800" lIns="50800" bIns="50800" rIns="50800"/>
            <a:lstStyle/>
            <a:p>
              <a:pPr algn="ctr">
                <a:lnSpc>
                  <a:spcPts val="3032"/>
                </a:lnSpc>
              </a:pPr>
            </a:p>
          </p:txBody>
        </p:sp>
      </p:grpSp>
      <p:sp>
        <p:nvSpPr>
          <p:cNvPr name="TextBox 9" id="9"/>
          <p:cNvSpPr txBox="true"/>
          <p:nvPr/>
        </p:nvSpPr>
        <p:spPr>
          <a:xfrm rot="0">
            <a:off x="954509" y="2447386"/>
            <a:ext cx="4763217" cy="396240"/>
          </a:xfrm>
          <a:prstGeom prst="rect">
            <a:avLst/>
          </a:prstGeom>
        </p:spPr>
        <p:txBody>
          <a:bodyPr anchor="t" rtlCol="false" tIns="0" lIns="0" bIns="0" rIns="0">
            <a:spAutoFit/>
          </a:bodyPr>
          <a:lstStyle/>
          <a:p>
            <a:pPr algn="ctr">
              <a:lnSpc>
                <a:spcPts val="3359"/>
              </a:lnSpc>
            </a:pPr>
            <a:r>
              <a:rPr lang="en-US" b="true" sz="2400">
                <a:solidFill>
                  <a:srgbClr val="FBFCFE"/>
                </a:solidFill>
                <a:latin typeface="Red Hat Display Bold"/>
                <a:ea typeface="Red Hat Display Bold"/>
                <a:cs typeface="Red Hat Display Bold"/>
                <a:sym typeface="Red Hat Display Bold"/>
              </a:rPr>
              <a:t>3. Phân khúc dữ liệu (Clustering)</a:t>
            </a:r>
          </a:p>
        </p:txBody>
      </p:sp>
      <p:sp>
        <p:nvSpPr>
          <p:cNvPr name="TextBox 10" id="10"/>
          <p:cNvSpPr txBox="true"/>
          <p:nvPr/>
        </p:nvSpPr>
        <p:spPr>
          <a:xfrm rot="0">
            <a:off x="106841" y="3400079"/>
            <a:ext cx="9775777" cy="5486521"/>
          </a:xfrm>
          <a:prstGeom prst="rect">
            <a:avLst/>
          </a:prstGeom>
        </p:spPr>
        <p:txBody>
          <a:bodyPr anchor="t" rtlCol="false" tIns="0" lIns="0" bIns="0" rIns="0">
            <a:spAutoFit/>
          </a:bodyPr>
          <a:lstStyle/>
          <a:p>
            <a:pPr algn="just">
              <a:lnSpc>
                <a:spcPts val="3165"/>
              </a:lnSpc>
            </a:pPr>
            <a:r>
              <a:rPr lang="en-US" sz="2261">
                <a:solidFill>
                  <a:srgbClr val="2D2261"/>
                </a:solidFill>
                <a:latin typeface="Red Hat Display"/>
                <a:ea typeface="Red Hat Display"/>
                <a:cs typeface="Red Hat Display"/>
                <a:sym typeface="Red Hat Display"/>
              </a:rPr>
              <a:t>Trong đề tài này, phương pháp phân cụm dữ liệu được sử dụng để phân nhóm các con bò dựa trên các đặc điểm tương tự.</a:t>
            </a:r>
          </a:p>
          <a:p>
            <a:pPr algn="just">
              <a:lnSpc>
                <a:spcPts val="3165"/>
              </a:lnSpc>
            </a:pPr>
            <a:r>
              <a:rPr lang="en-US" sz="2261">
                <a:solidFill>
                  <a:srgbClr val="2D2261"/>
                </a:solidFill>
                <a:latin typeface="Red Hat Display"/>
                <a:ea typeface="Red Hat Display"/>
                <a:cs typeface="Red Hat Display"/>
                <a:sym typeface="Red Hat Display"/>
              </a:rPr>
              <a:t>Th</a:t>
            </a:r>
            <a:r>
              <a:rPr lang="en-US" sz="2261">
                <a:solidFill>
                  <a:srgbClr val="2D2261"/>
                </a:solidFill>
                <a:latin typeface="Red Hat Display"/>
                <a:ea typeface="Red Hat Display"/>
                <a:cs typeface="Red Hat Display"/>
                <a:sym typeface="Red Hat Display"/>
              </a:rPr>
              <a:t>uật</a:t>
            </a:r>
            <a:r>
              <a:rPr lang="en-US" sz="2261">
                <a:solidFill>
                  <a:srgbClr val="2D2261"/>
                </a:solidFill>
                <a:latin typeface="Red Hat Display"/>
                <a:ea typeface="Red Hat Display"/>
                <a:cs typeface="Red Hat Display"/>
                <a:sym typeface="Red Hat Display"/>
              </a:rPr>
              <a:t> toán được sử dụng là K-Means Clustering.</a:t>
            </a:r>
          </a:p>
          <a:p>
            <a:pPr algn="just">
              <a:lnSpc>
                <a:spcPts val="3165"/>
              </a:lnSpc>
            </a:pPr>
            <a:r>
              <a:rPr lang="en-US" sz="2261">
                <a:solidFill>
                  <a:srgbClr val="2D2261"/>
                </a:solidFill>
                <a:latin typeface="Red Hat Display"/>
                <a:ea typeface="Red Hat Display"/>
                <a:cs typeface="Red Hat Display"/>
                <a:sym typeface="Red Hat Display"/>
              </a:rPr>
              <a:t>Thuật toán K-Means hoạt động bằ</a:t>
            </a:r>
            <a:r>
              <a:rPr lang="en-US" sz="2261">
                <a:solidFill>
                  <a:srgbClr val="2D2261"/>
                </a:solidFill>
                <a:latin typeface="Red Hat Display"/>
                <a:ea typeface="Red Hat Display"/>
                <a:cs typeface="Red Hat Display"/>
                <a:sym typeface="Red Hat Display"/>
              </a:rPr>
              <a:t>ng cách chia</a:t>
            </a:r>
            <a:r>
              <a:rPr lang="en-US" sz="2261">
                <a:solidFill>
                  <a:srgbClr val="2D2261"/>
                </a:solidFill>
                <a:latin typeface="Red Hat Display"/>
                <a:ea typeface="Red Hat Display"/>
                <a:cs typeface="Red Hat Display"/>
                <a:sym typeface="Red Hat Display"/>
              </a:rPr>
              <a:t> dữ liệu thành nhiều nhóm (cluster) sao cho các đối tượng trong cùng một nhóm có đặc điểm giống nha</a:t>
            </a:r>
            <a:r>
              <a:rPr lang="en-US" sz="2261">
                <a:solidFill>
                  <a:srgbClr val="2D2261"/>
                </a:solidFill>
                <a:latin typeface="Red Hat Display"/>
                <a:ea typeface="Red Hat Display"/>
                <a:cs typeface="Red Hat Display"/>
                <a:sym typeface="Red Hat Display"/>
              </a:rPr>
              <a:t>u hơn so với các nhóm khác.</a:t>
            </a:r>
          </a:p>
          <a:p>
            <a:pPr algn="just">
              <a:lnSpc>
                <a:spcPts val="3165"/>
              </a:lnSpc>
            </a:pPr>
            <a:r>
              <a:rPr lang="en-US" sz="2261">
                <a:solidFill>
                  <a:srgbClr val="2D2261"/>
                </a:solidFill>
                <a:latin typeface="Red Hat Display"/>
                <a:ea typeface="Red Hat Display"/>
                <a:cs typeface="Red Hat Display"/>
                <a:sym typeface="Red Hat Display"/>
              </a:rPr>
              <a:t>Tro</a:t>
            </a:r>
            <a:r>
              <a:rPr lang="en-US" sz="2261">
                <a:solidFill>
                  <a:srgbClr val="2D2261"/>
                </a:solidFill>
                <a:latin typeface="Red Hat Display"/>
                <a:ea typeface="Red Hat Display"/>
                <a:cs typeface="Red Hat Display"/>
                <a:sym typeface="Red Hat Display"/>
              </a:rPr>
              <a:t>ng dataset bò sữa, việc phân cụm được thực hiện dựa trên một số thuộc tính quan trọng như:</a:t>
            </a:r>
          </a:p>
          <a:p>
            <a:pPr algn="just" marL="488225" indent="-244112" lvl="1">
              <a:lnSpc>
                <a:spcPts val="3165"/>
              </a:lnSpc>
              <a:buFont typeface="Arial"/>
              <a:buChar char="•"/>
            </a:pPr>
            <a:r>
              <a:rPr lang="en-US" sz="2261">
                <a:solidFill>
                  <a:srgbClr val="2D2261"/>
                </a:solidFill>
                <a:latin typeface="Red Hat Display"/>
                <a:ea typeface="Red Hat Display"/>
                <a:cs typeface="Red Hat Display"/>
                <a:sym typeface="Red Hat Display"/>
              </a:rPr>
              <a:t>activity_level – mức độ vận động của bò</a:t>
            </a:r>
          </a:p>
          <a:p>
            <a:pPr algn="just" marL="488225" indent="-244112" lvl="1">
              <a:lnSpc>
                <a:spcPts val="3165"/>
              </a:lnSpc>
              <a:buFont typeface="Arial"/>
              <a:buChar char="•"/>
            </a:pPr>
            <a:r>
              <a:rPr lang="en-US" sz="2261">
                <a:solidFill>
                  <a:srgbClr val="2D2261"/>
                </a:solidFill>
                <a:latin typeface="Red Hat Display"/>
                <a:ea typeface="Red Hat Display"/>
                <a:cs typeface="Red Hat Display"/>
                <a:sym typeface="Red Hat Display"/>
              </a:rPr>
              <a:t>milk_yield – sản lượng sữa</a:t>
            </a:r>
          </a:p>
          <a:p>
            <a:pPr algn="just" marL="488225" indent="-244112" lvl="1">
              <a:lnSpc>
                <a:spcPts val="3165"/>
              </a:lnSpc>
              <a:buFont typeface="Arial"/>
              <a:buChar char="•"/>
            </a:pPr>
            <a:r>
              <a:rPr lang="en-US" sz="2261">
                <a:solidFill>
                  <a:srgbClr val="2D2261"/>
                </a:solidFill>
                <a:latin typeface="Red Hat Display"/>
                <a:ea typeface="Red Hat Display"/>
                <a:cs typeface="Red Hat Display"/>
                <a:sym typeface="Red Hat Display"/>
              </a:rPr>
              <a:t>feed_intake – lượng thức ăn tiêu thụ</a:t>
            </a:r>
          </a:p>
          <a:p>
            <a:pPr algn="just">
              <a:lnSpc>
                <a:spcPts val="3165"/>
              </a:lnSpc>
            </a:pPr>
            <a:r>
              <a:rPr lang="en-US" sz="2261">
                <a:solidFill>
                  <a:srgbClr val="2D2261"/>
                </a:solidFill>
                <a:latin typeface="Red Hat Display"/>
                <a:ea typeface="Red Hat Display"/>
                <a:cs typeface="Red Hat Display"/>
                <a:sym typeface="Red Hat Display"/>
              </a:rPr>
              <a:t>Mục tiêu của việc phân cụm là xác định các nhóm bò có đặc điểm tương tự nhau.</a:t>
            </a:r>
          </a:p>
          <a:p>
            <a:pPr algn="just">
              <a:lnSpc>
                <a:spcPts val="3165"/>
              </a:lnSpc>
            </a:pPr>
          </a:p>
        </p:txBody>
      </p:sp>
      <p:sp>
        <p:nvSpPr>
          <p:cNvPr name="Freeform 11" id="11"/>
          <p:cNvSpPr/>
          <p:nvPr/>
        </p:nvSpPr>
        <p:spPr>
          <a:xfrm flipH="false" flipV="false" rot="-2080684">
            <a:off x="10082077" y="8242051"/>
            <a:ext cx="10960234" cy="7472887"/>
          </a:xfrm>
          <a:custGeom>
            <a:avLst/>
            <a:gdLst/>
            <a:ahLst/>
            <a:cxnLst/>
            <a:rect r="r" b="b" t="t" l="l"/>
            <a:pathLst>
              <a:path h="7472887" w="10960234">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9860546">
            <a:off x="-3984660" y="-4765086"/>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2624874">
            <a:off x="-884948" y="9077955"/>
            <a:ext cx="3242701" cy="1827704"/>
          </a:xfrm>
          <a:custGeom>
            <a:avLst/>
            <a:gdLst/>
            <a:ahLst/>
            <a:cxnLst/>
            <a:rect r="r" b="b" t="t" l="l"/>
            <a:pathLst>
              <a:path h="1827704" w="3242701">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2830696">
            <a:off x="16075185" y="-10287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5" id="15"/>
          <p:cNvGrpSpPr/>
          <p:nvPr/>
        </p:nvGrpSpPr>
        <p:grpSpPr>
          <a:xfrm rot="0">
            <a:off x="9989459" y="5234391"/>
            <a:ext cx="8298541" cy="3271726"/>
            <a:chOff x="0" y="0"/>
            <a:chExt cx="2659812" cy="1048639"/>
          </a:xfrm>
        </p:grpSpPr>
        <p:sp>
          <p:nvSpPr>
            <p:cNvPr name="Freeform 16" id="16"/>
            <p:cNvSpPr/>
            <p:nvPr/>
          </p:nvSpPr>
          <p:spPr>
            <a:xfrm flipH="false" flipV="false" rot="0">
              <a:off x="0" y="0"/>
              <a:ext cx="2659812" cy="1048639"/>
            </a:xfrm>
            <a:custGeom>
              <a:avLst/>
              <a:gdLst/>
              <a:ahLst/>
              <a:cxnLst/>
              <a:rect r="r" b="b" t="t" l="l"/>
              <a:pathLst>
                <a:path h="1048639" w="2659812">
                  <a:moveTo>
                    <a:pt x="27988" y="0"/>
                  </a:moveTo>
                  <a:lnTo>
                    <a:pt x="2631824" y="0"/>
                  </a:lnTo>
                  <a:cubicBezTo>
                    <a:pt x="2647281" y="0"/>
                    <a:pt x="2659812" y="12531"/>
                    <a:pt x="2659812" y="27988"/>
                  </a:cubicBezTo>
                  <a:lnTo>
                    <a:pt x="2659812" y="1020651"/>
                  </a:lnTo>
                  <a:cubicBezTo>
                    <a:pt x="2659812" y="1036109"/>
                    <a:pt x="2647281" y="1048639"/>
                    <a:pt x="2631824" y="1048639"/>
                  </a:cubicBezTo>
                  <a:lnTo>
                    <a:pt x="27988" y="1048639"/>
                  </a:lnTo>
                  <a:cubicBezTo>
                    <a:pt x="12531" y="1048639"/>
                    <a:pt x="0" y="1036109"/>
                    <a:pt x="0" y="1020651"/>
                  </a:cubicBezTo>
                  <a:lnTo>
                    <a:pt x="0" y="27988"/>
                  </a:lnTo>
                  <a:cubicBezTo>
                    <a:pt x="0" y="12531"/>
                    <a:pt x="12531" y="0"/>
                    <a:pt x="27988" y="0"/>
                  </a:cubicBezTo>
                  <a:close/>
                </a:path>
              </a:pathLst>
            </a:custGeom>
            <a:solidFill>
              <a:srgbClr val="ECE1D7"/>
            </a:solidFill>
          </p:spPr>
        </p:sp>
        <p:sp>
          <p:nvSpPr>
            <p:cNvPr name="TextBox 17" id="17"/>
            <p:cNvSpPr txBox="true"/>
            <p:nvPr/>
          </p:nvSpPr>
          <p:spPr>
            <a:xfrm>
              <a:off x="0" y="-47625"/>
              <a:ext cx="2659812" cy="1096264"/>
            </a:xfrm>
            <a:prstGeom prst="rect">
              <a:avLst/>
            </a:prstGeom>
          </p:spPr>
          <p:txBody>
            <a:bodyPr anchor="ctr" rtlCol="false" tIns="50800" lIns="50800" bIns="50800" rIns="50800"/>
            <a:lstStyle/>
            <a:p>
              <a:pPr algn="ctr">
                <a:lnSpc>
                  <a:spcPts val="3032"/>
                </a:lnSpc>
              </a:pPr>
            </a:p>
          </p:txBody>
        </p:sp>
      </p:grpSp>
      <p:sp>
        <p:nvSpPr>
          <p:cNvPr name="TextBox 18" id="18"/>
          <p:cNvSpPr txBox="true"/>
          <p:nvPr/>
        </p:nvSpPr>
        <p:spPr>
          <a:xfrm rot="0">
            <a:off x="10150522" y="5468194"/>
            <a:ext cx="7976415" cy="3041139"/>
          </a:xfrm>
          <a:prstGeom prst="rect">
            <a:avLst/>
          </a:prstGeom>
        </p:spPr>
        <p:txBody>
          <a:bodyPr anchor="t" rtlCol="false" tIns="0" lIns="0" bIns="0" rIns="0">
            <a:spAutoFit/>
          </a:bodyPr>
          <a:lstStyle/>
          <a:p>
            <a:pPr algn="just">
              <a:lnSpc>
                <a:spcPts val="3003"/>
              </a:lnSpc>
            </a:pPr>
            <a:r>
              <a:rPr lang="en-US" sz="2145">
                <a:solidFill>
                  <a:srgbClr val="2D2261"/>
                </a:solidFill>
                <a:latin typeface="Red Hat Display"/>
                <a:ea typeface="Red Hat Display"/>
                <a:cs typeface="Red Hat Display"/>
                <a:sym typeface="Red Hat Display"/>
              </a:rPr>
              <a:t>Nhóm</a:t>
            </a:r>
          </a:p>
          <a:p>
            <a:pPr algn="just">
              <a:lnSpc>
                <a:spcPts val="3003"/>
              </a:lnSpc>
            </a:pPr>
            <a:r>
              <a:rPr lang="en-US" sz="2145">
                <a:solidFill>
                  <a:srgbClr val="2D2261"/>
                </a:solidFill>
                <a:latin typeface="Red Hat Display"/>
                <a:ea typeface="Red Hat Display"/>
                <a:cs typeface="Red Hat Display"/>
                <a:sym typeface="Red Hat Display"/>
              </a:rPr>
              <a:t>Đặc điểm</a:t>
            </a:r>
          </a:p>
          <a:p>
            <a:pPr algn="just">
              <a:lnSpc>
                <a:spcPts val="3003"/>
              </a:lnSpc>
            </a:pPr>
            <a:r>
              <a:rPr lang="en-US" sz="2145">
                <a:solidFill>
                  <a:srgbClr val="2D2261"/>
                </a:solidFill>
                <a:latin typeface="Red Hat Display"/>
                <a:ea typeface="Red Hat Display"/>
                <a:cs typeface="Red Hat Display"/>
                <a:sym typeface="Red Hat Display"/>
              </a:rPr>
              <a:t>Nhóm 1 Bò có sản lượng sữa</a:t>
            </a:r>
            <a:r>
              <a:rPr lang="en-US" sz="2145">
                <a:solidFill>
                  <a:srgbClr val="2D2261"/>
                </a:solidFill>
                <a:latin typeface="Red Hat Display"/>
                <a:ea typeface="Red Hat Display"/>
                <a:cs typeface="Red Hat Display"/>
                <a:sym typeface="Red Hat Display"/>
              </a:rPr>
              <a:t> cao</a:t>
            </a:r>
            <a:r>
              <a:rPr lang="en-US" sz="2145">
                <a:solidFill>
                  <a:srgbClr val="2D2261"/>
                </a:solidFill>
                <a:latin typeface="Red Hat Display"/>
                <a:ea typeface="Red Hat Display"/>
                <a:cs typeface="Red Hat Display"/>
                <a:sym typeface="Red Hat Display"/>
              </a:rPr>
              <a:t> và mức vận động tốt</a:t>
            </a:r>
          </a:p>
          <a:p>
            <a:pPr algn="just">
              <a:lnSpc>
                <a:spcPts val="3003"/>
              </a:lnSpc>
            </a:pPr>
            <a:r>
              <a:rPr lang="en-US" sz="2145">
                <a:solidFill>
                  <a:srgbClr val="2D2261"/>
                </a:solidFill>
                <a:latin typeface="Red Hat Display"/>
                <a:ea typeface="Red Hat Display"/>
                <a:cs typeface="Red Hat Display"/>
                <a:sym typeface="Red Hat Display"/>
              </a:rPr>
              <a:t>Nhóm 2 Bò có mức vận động trung bình</a:t>
            </a:r>
          </a:p>
          <a:p>
            <a:pPr algn="just">
              <a:lnSpc>
                <a:spcPts val="3003"/>
              </a:lnSpc>
            </a:pPr>
            <a:r>
              <a:rPr lang="en-US" sz="2145">
                <a:solidFill>
                  <a:srgbClr val="2D2261"/>
                </a:solidFill>
                <a:latin typeface="Red Hat Display"/>
                <a:ea typeface="Red Hat Display"/>
                <a:cs typeface="Red Hat Display"/>
                <a:sym typeface="Red Hat Display"/>
              </a:rPr>
              <a:t>Nhóm 3  Bò có dấ</a:t>
            </a:r>
            <a:r>
              <a:rPr lang="en-US" sz="2145">
                <a:solidFill>
                  <a:srgbClr val="2D2261"/>
                </a:solidFill>
                <a:latin typeface="Red Hat Display"/>
                <a:ea typeface="Red Hat Display"/>
                <a:cs typeface="Red Hat Display"/>
                <a:sym typeface="Red Hat Display"/>
              </a:rPr>
              <a:t>u hiệu sức khỏe kém h</a:t>
            </a:r>
            <a:r>
              <a:rPr lang="en-US" sz="2145">
                <a:solidFill>
                  <a:srgbClr val="2D2261"/>
                </a:solidFill>
                <a:latin typeface="Red Hat Display"/>
                <a:ea typeface="Red Hat Display"/>
                <a:cs typeface="Red Hat Display"/>
                <a:sym typeface="Red Hat Display"/>
              </a:rPr>
              <a:t>oặc</a:t>
            </a:r>
            <a:r>
              <a:rPr lang="en-US" sz="2145">
                <a:solidFill>
                  <a:srgbClr val="2D2261"/>
                </a:solidFill>
                <a:latin typeface="Red Hat Display"/>
                <a:ea typeface="Red Hat Display"/>
                <a:cs typeface="Red Hat Display"/>
                <a:sym typeface="Red Hat Display"/>
              </a:rPr>
              <a:t> sản lượng sữa thấp</a:t>
            </a:r>
          </a:p>
          <a:p>
            <a:pPr algn="just">
              <a:lnSpc>
                <a:spcPts val="3003"/>
              </a:lnSpc>
            </a:pPr>
            <a:r>
              <a:rPr lang="en-US" sz="2145">
                <a:solidFill>
                  <a:srgbClr val="2D2261"/>
                </a:solidFill>
                <a:latin typeface="Red Hat Display"/>
                <a:ea typeface="Red Hat Display"/>
                <a:cs typeface="Red Hat Display"/>
                <a:sym typeface="Red Hat Display"/>
              </a:rPr>
              <a:t>Việc phân nhóm này giúp người quản lý trang trại dễ dàng theo dõi và quản lý đàn bò hiệu quả hơn.</a:t>
            </a:r>
          </a:p>
          <a:p>
            <a:pPr algn="just">
              <a:lnSpc>
                <a:spcPts val="3003"/>
              </a:lnSpc>
            </a:pPr>
          </a:p>
        </p:txBody>
      </p:sp>
      <p:grpSp>
        <p:nvGrpSpPr>
          <p:cNvPr name="Group 19" id="19"/>
          <p:cNvGrpSpPr/>
          <p:nvPr/>
        </p:nvGrpSpPr>
        <p:grpSpPr>
          <a:xfrm rot="0">
            <a:off x="9989459" y="4360692"/>
            <a:ext cx="4461874" cy="881879"/>
            <a:chOff x="0" y="0"/>
            <a:chExt cx="1757296" cy="347326"/>
          </a:xfrm>
        </p:grpSpPr>
        <p:sp>
          <p:nvSpPr>
            <p:cNvPr name="Freeform 20" id="20"/>
            <p:cNvSpPr/>
            <p:nvPr/>
          </p:nvSpPr>
          <p:spPr>
            <a:xfrm flipH="false" flipV="false" rot="0">
              <a:off x="0" y="0"/>
              <a:ext cx="1757296" cy="347326"/>
            </a:xfrm>
            <a:custGeom>
              <a:avLst/>
              <a:gdLst/>
              <a:ahLst/>
              <a:cxnLst/>
              <a:rect r="r" b="b" t="t" l="l"/>
              <a:pathLst>
                <a:path h="347326" w="1757296">
                  <a:moveTo>
                    <a:pt x="52054" y="0"/>
                  </a:moveTo>
                  <a:lnTo>
                    <a:pt x="1705243" y="0"/>
                  </a:lnTo>
                  <a:cubicBezTo>
                    <a:pt x="1733991" y="0"/>
                    <a:pt x="1757296" y="23305"/>
                    <a:pt x="1757296" y="52054"/>
                  </a:cubicBezTo>
                  <a:lnTo>
                    <a:pt x="1757296" y="295272"/>
                  </a:lnTo>
                  <a:cubicBezTo>
                    <a:pt x="1757296" y="324020"/>
                    <a:pt x="1733991" y="347326"/>
                    <a:pt x="1705243" y="347326"/>
                  </a:cubicBezTo>
                  <a:lnTo>
                    <a:pt x="52054" y="347326"/>
                  </a:lnTo>
                  <a:cubicBezTo>
                    <a:pt x="23305" y="347326"/>
                    <a:pt x="0" y="324020"/>
                    <a:pt x="0" y="295272"/>
                  </a:cubicBezTo>
                  <a:lnTo>
                    <a:pt x="0" y="52054"/>
                  </a:lnTo>
                  <a:cubicBezTo>
                    <a:pt x="0" y="23305"/>
                    <a:pt x="23305" y="0"/>
                    <a:pt x="52054" y="0"/>
                  </a:cubicBezTo>
                  <a:close/>
                </a:path>
              </a:pathLst>
            </a:custGeom>
            <a:solidFill>
              <a:srgbClr val="5B7ABE"/>
            </a:solidFill>
          </p:spPr>
        </p:sp>
        <p:sp>
          <p:nvSpPr>
            <p:cNvPr name="TextBox 21" id="21"/>
            <p:cNvSpPr txBox="true"/>
            <p:nvPr/>
          </p:nvSpPr>
          <p:spPr>
            <a:xfrm>
              <a:off x="0" y="-47625"/>
              <a:ext cx="1757296" cy="394951"/>
            </a:xfrm>
            <a:prstGeom prst="rect">
              <a:avLst/>
            </a:prstGeom>
          </p:spPr>
          <p:txBody>
            <a:bodyPr anchor="ctr" rtlCol="false" tIns="50800" lIns="50800" bIns="50800" rIns="50800"/>
            <a:lstStyle/>
            <a:p>
              <a:pPr algn="ctr">
                <a:lnSpc>
                  <a:spcPts val="3032"/>
                </a:lnSpc>
              </a:pPr>
            </a:p>
          </p:txBody>
        </p:sp>
      </p:grpSp>
      <p:sp>
        <p:nvSpPr>
          <p:cNvPr name="TextBox 22" id="22"/>
          <p:cNvSpPr txBox="true"/>
          <p:nvPr/>
        </p:nvSpPr>
        <p:spPr>
          <a:xfrm rot="0">
            <a:off x="10627760" y="4648493"/>
            <a:ext cx="3185271" cy="268071"/>
          </a:xfrm>
          <a:prstGeom prst="rect">
            <a:avLst/>
          </a:prstGeom>
        </p:spPr>
        <p:txBody>
          <a:bodyPr anchor="t" rtlCol="false" tIns="0" lIns="0" bIns="0" rIns="0">
            <a:spAutoFit/>
          </a:bodyPr>
          <a:lstStyle/>
          <a:p>
            <a:pPr algn="ctr">
              <a:lnSpc>
                <a:spcPts val="2246"/>
              </a:lnSpc>
            </a:pPr>
            <a:r>
              <a:rPr lang="en-US" b="true" sz="1604">
                <a:solidFill>
                  <a:srgbClr val="FBFCFE"/>
                </a:solidFill>
                <a:latin typeface="Red Hat Display Bold"/>
                <a:ea typeface="Red Hat Display Bold"/>
                <a:cs typeface="Red Hat Display Bold"/>
                <a:sym typeface="Red Hat Display Bold"/>
              </a:rPr>
              <a:t>Ví dụ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0">
            <a:off x="336410" y="3331831"/>
            <a:ext cx="4899276" cy="3623338"/>
          </a:xfrm>
          <a:custGeom>
            <a:avLst/>
            <a:gdLst/>
            <a:ahLst/>
            <a:cxnLst/>
            <a:rect r="r" b="b" t="t" l="l"/>
            <a:pathLst>
              <a:path h="3623338" w="4899276">
                <a:moveTo>
                  <a:pt x="0" y="0"/>
                </a:moveTo>
                <a:lnTo>
                  <a:pt x="4899276" y="0"/>
                </a:lnTo>
                <a:lnTo>
                  <a:pt x="4899276" y="3623338"/>
                </a:lnTo>
                <a:lnTo>
                  <a:pt x="0" y="36233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235686" y="2184929"/>
            <a:ext cx="11686865" cy="7520216"/>
          </a:xfrm>
          <a:prstGeom prst="rect">
            <a:avLst/>
          </a:prstGeom>
        </p:spPr>
        <p:txBody>
          <a:bodyPr anchor="t" rtlCol="false" tIns="0" lIns="0" bIns="0" rIns="0">
            <a:spAutoFit/>
          </a:bodyPr>
          <a:lstStyle/>
          <a:p>
            <a:pPr algn="l">
              <a:lnSpc>
                <a:spcPts val="4974"/>
              </a:lnSpc>
            </a:pPr>
            <a:r>
              <a:rPr lang="en-US" sz="3553">
                <a:solidFill>
                  <a:srgbClr val="5B7ABE"/>
                </a:solidFill>
                <a:latin typeface="Red Hat Display"/>
                <a:ea typeface="Red Hat Display"/>
                <a:cs typeface="Red Hat Display"/>
                <a:sym typeface="Red Hat Display"/>
              </a:rPr>
              <a:t>Sau khi thực hiện phân tích dữ liệu và phân cụm bằng thuật toán K-Means, các kết quả thu được sẽ được đánh giá dựa trên khả năng phân nhóm dữ liệu một cách hợp lý.</a:t>
            </a:r>
          </a:p>
          <a:p>
            <a:pPr algn="l">
              <a:lnSpc>
                <a:spcPts val="4974"/>
              </a:lnSpc>
            </a:pPr>
            <a:r>
              <a:rPr lang="en-US" sz="3553">
                <a:solidFill>
                  <a:srgbClr val="5B7ABE"/>
                </a:solidFill>
                <a:latin typeface="Red Hat Display"/>
                <a:ea typeface="Red Hat Display"/>
                <a:cs typeface="Red Hat Display"/>
                <a:sym typeface="Red Hat Display"/>
              </a:rPr>
              <a:t>Một số tiêu chí đánh giá gồm:</a:t>
            </a:r>
          </a:p>
          <a:p>
            <a:pPr algn="l" marL="767199" indent="-383600" lvl="1">
              <a:lnSpc>
                <a:spcPts val="4974"/>
              </a:lnSpc>
              <a:buFont typeface="Arial"/>
              <a:buChar char="•"/>
            </a:pPr>
            <a:r>
              <a:rPr lang="en-US" sz="3553">
                <a:solidFill>
                  <a:srgbClr val="5B7ABE"/>
                </a:solidFill>
                <a:latin typeface="Red Hat Display"/>
                <a:ea typeface="Red Hat Display"/>
                <a:cs typeface="Red Hat Display"/>
                <a:sym typeface="Red Hat Display"/>
              </a:rPr>
              <a:t>khả năng phân biệt các nhóm dữ liệu</a:t>
            </a:r>
          </a:p>
          <a:p>
            <a:pPr algn="l" marL="767199" indent="-383600" lvl="1">
              <a:lnSpc>
                <a:spcPts val="4974"/>
              </a:lnSpc>
              <a:buFont typeface="Arial"/>
              <a:buChar char="•"/>
            </a:pPr>
            <a:r>
              <a:rPr lang="en-US" sz="3553">
                <a:solidFill>
                  <a:srgbClr val="5B7ABE"/>
                </a:solidFill>
                <a:latin typeface="Red Hat Display"/>
                <a:ea typeface="Red Hat Display"/>
                <a:cs typeface="Red Hat Display"/>
                <a:sym typeface="Red Hat Display"/>
              </a:rPr>
              <a:t>tính hợp lý của các cụm dữ liệu</a:t>
            </a:r>
          </a:p>
          <a:p>
            <a:pPr algn="l" marL="767199" indent="-383600" lvl="1">
              <a:lnSpc>
                <a:spcPts val="4974"/>
              </a:lnSpc>
              <a:buFont typeface="Arial"/>
              <a:buChar char="•"/>
            </a:pPr>
            <a:r>
              <a:rPr lang="en-US" sz="3553">
                <a:solidFill>
                  <a:srgbClr val="5B7ABE"/>
                </a:solidFill>
                <a:latin typeface="Red Hat Display"/>
                <a:ea typeface="Red Hat Display"/>
                <a:cs typeface="Red Hat Display"/>
                <a:sym typeface="Red Hat Display"/>
              </a:rPr>
              <a:t>mức độ tương đồng của các đối tượng trong cùng một cụm</a:t>
            </a:r>
          </a:p>
          <a:p>
            <a:pPr algn="l">
              <a:lnSpc>
                <a:spcPts val="4974"/>
              </a:lnSpc>
            </a:pPr>
            <a:r>
              <a:rPr lang="en-US" sz="3553">
                <a:solidFill>
                  <a:srgbClr val="5B7ABE"/>
                </a:solidFill>
                <a:latin typeface="Red Hat Display"/>
                <a:ea typeface="Red Hat Display"/>
                <a:cs typeface="Red Hat Display"/>
                <a:sym typeface="Red Hat Display"/>
              </a:rPr>
              <a:t>Thông qua việc đánh giá này, có thể xác định được mức độ hiệu quả của phương pháp phân cụm trong việc phân tích dữ liệu bò sữa.</a:t>
            </a:r>
          </a:p>
          <a:p>
            <a:pPr algn="l">
              <a:lnSpc>
                <a:spcPts val="4974"/>
              </a:lnSpc>
            </a:pPr>
          </a:p>
        </p:txBody>
      </p:sp>
      <p:sp>
        <p:nvSpPr>
          <p:cNvPr name="TextBox 4" id="4"/>
          <p:cNvSpPr txBox="true"/>
          <p:nvPr/>
        </p:nvSpPr>
        <p:spPr>
          <a:xfrm rot="0">
            <a:off x="4489361" y="1107367"/>
            <a:ext cx="8102996" cy="1798372"/>
          </a:xfrm>
          <a:prstGeom prst="rect">
            <a:avLst/>
          </a:prstGeom>
        </p:spPr>
        <p:txBody>
          <a:bodyPr anchor="t" rtlCol="false" tIns="0" lIns="0" bIns="0" rIns="0">
            <a:spAutoFit/>
          </a:bodyPr>
          <a:lstStyle/>
          <a:p>
            <a:pPr algn="l">
              <a:lnSpc>
                <a:spcPts val="7113"/>
              </a:lnSpc>
            </a:pPr>
            <a:r>
              <a:rPr lang="en-US" sz="5718" b="true">
                <a:solidFill>
                  <a:srgbClr val="2D2261"/>
                </a:solidFill>
                <a:latin typeface="Red Hat Display Bold"/>
                <a:ea typeface="Red Hat Display Bold"/>
                <a:cs typeface="Red Hat Display Bold"/>
                <a:sym typeface="Red Hat Display Bold"/>
              </a:rPr>
              <a:t>4. Đánh giá kết quả</a:t>
            </a:r>
          </a:p>
          <a:p>
            <a:pPr algn="l">
              <a:lnSpc>
                <a:spcPts val="7113"/>
              </a:lnSpc>
            </a:pPr>
          </a:p>
        </p:txBody>
      </p:sp>
      <p:sp>
        <p:nvSpPr>
          <p:cNvPr name="Freeform 5" id="5"/>
          <p:cNvSpPr/>
          <p:nvPr/>
        </p:nvSpPr>
        <p:spPr>
          <a:xfrm flipH="false" flipV="false" rot="715246">
            <a:off x="12993540" y="-2095015"/>
            <a:ext cx="6727323" cy="4586811"/>
          </a:xfrm>
          <a:custGeom>
            <a:avLst/>
            <a:gdLst/>
            <a:ahLst/>
            <a:cxnLst/>
            <a:rect r="r" b="b" t="t" l="l"/>
            <a:pathLst>
              <a:path h="4586811" w="6727323">
                <a:moveTo>
                  <a:pt x="0" y="0"/>
                </a:moveTo>
                <a:lnTo>
                  <a:pt x="6727323" y="0"/>
                </a:lnTo>
                <a:lnTo>
                  <a:pt x="6727323" y="4586812"/>
                </a:lnTo>
                <a:lnTo>
                  <a:pt x="0" y="4586812"/>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226878">
            <a:off x="-267547" y="148087"/>
            <a:ext cx="4576141" cy="2579280"/>
          </a:xfrm>
          <a:custGeom>
            <a:avLst/>
            <a:gdLst/>
            <a:ahLst/>
            <a:cxnLst/>
            <a:rect r="r" b="b" t="t" l="l"/>
            <a:pathLst>
              <a:path h="2579280" w="4576141">
                <a:moveTo>
                  <a:pt x="0" y="0"/>
                </a:moveTo>
                <a:lnTo>
                  <a:pt x="4576141" y="0"/>
                </a:lnTo>
                <a:lnTo>
                  <a:pt x="4576141" y="2579280"/>
                </a:lnTo>
                <a:lnTo>
                  <a:pt x="0" y="25792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0">
            <a:off x="13388724" y="8307667"/>
            <a:ext cx="4899276" cy="3623338"/>
          </a:xfrm>
          <a:custGeom>
            <a:avLst/>
            <a:gdLst/>
            <a:ahLst/>
            <a:cxnLst/>
            <a:rect r="r" b="b" t="t" l="l"/>
            <a:pathLst>
              <a:path h="3623338" w="4899276">
                <a:moveTo>
                  <a:pt x="0" y="0"/>
                </a:moveTo>
                <a:lnTo>
                  <a:pt x="4899276" y="0"/>
                </a:lnTo>
                <a:lnTo>
                  <a:pt x="4899276" y="3623338"/>
                </a:lnTo>
                <a:lnTo>
                  <a:pt x="0" y="36233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736368" y="1835290"/>
            <a:ext cx="12392601" cy="8284046"/>
          </a:xfrm>
          <a:prstGeom prst="rect">
            <a:avLst/>
          </a:prstGeom>
        </p:spPr>
        <p:txBody>
          <a:bodyPr anchor="t" rtlCol="false" tIns="0" lIns="0" bIns="0" rIns="0">
            <a:spAutoFit/>
          </a:bodyPr>
          <a:lstStyle/>
          <a:p>
            <a:pPr algn="l">
              <a:lnSpc>
                <a:spcPts val="4101"/>
              </a:lnSpc>
            </a:pPr>
            <a:r>
              <a:rPr lang="en-US" sz="2929">
                <a:solidFill>
                  <a:srgbClr val="5B7ABE"/>
                </a:solidFill>
                <a:latin typeface="Red Hat Display"/>
                <a:ea typeface="Red Hat Display"/>
                <a:cs typeface="Red Hat Display"/>
                <a:sym typeface="Red Hat Display"/>
              </a:rPr>
              <a:t>Đối tượng nghiên cứu</a:t>
            </a:r>
          </a:p>
          <a:p>
            <a:pPr algn="l">
              <a:lnSpc>
                <a:spcPts val="4101"/>
              </a:lnSpc>
            </a:pPr>
            <a:r>
              <a:rPr lang="en-US" sz="2929">
                <a:solidFill>
                  <a:srgbClr val="5B7ABE"/>
                </a:solidFill>
                <a:latin typeface="Red Hat Display"/>
                <a:ea typeface="Red Hat Display"/>
                <a:cs typeface="Red Hat Display"/>
                <a:sym typeface="Red Hat Display"/>
              </a:rPr>
              <a:t>Đối tượng nghiên cứu của đề tài là dữ liệu sức khỏe và hoạt động của bò sữa trong trang trại.</a:t>
            </a:r>
          </a:p>
          <a:p>
            <a:pPr algn="l">
              <a:lnSpc>
                <a:spcPts val="4101"/>
              </a:lnSpc>
            </a:pPr>
            <a:r>
              <a:rPr lang="en-US" sz="2929">
                <a:solidFill>
                  <a:srgbClr val="5B7ABE"/>
                </a:solidFill>
                <a:latin typeface="Red Hat Display"/>
                <a:ea typeface="Red Hat Display"/>
                <a:cs typeface="Red Hat Display"/>
                <a:sym typeface="Red Hat Display"/>
              </a:rPr>
              <a:t>Các dữ liệu này bao gồm nhiều chỉ số sinh học và hoạt động của bò, được ghi nhận theo thời gian.</a:t>
            </a:r>
          </a:p>
          <a:p>
            <a:pPr algn="l">
              <a:lnSpc>
                <a:spcPts val="4101"/>
              </a:lnSpc>
            </a:pPr>
          </a:p>
          <a:p>
            <a:pPr algn="l">
              <a:lnSpc>
                <a:spcPts val="4101"/>
              </a:lnSpc>
            </a:pPr>
            <a:r>
              <a:rPr lang="en-US" sz="2929">
                <a:solidFill>
                  <a:srgbClr val="5B7ABE"/>
                </a:solidFill>
                <a:latin typeface="Red Hat Display"/>
                <a:ea typeface="Red Hat Display"/>
                <a:cs typeface="Red Hat Display"/>
                <a:sym typeface="Red Hat Display"/>
              </a:rPr>
              <a:t>Phạm vi nghiên cứu</a:t>
            </a:r>
          </a:p>
          <a:p>
            <a:pPr algn="l">
              <a:lnSpc>
                <a:spcPts val="4101"/>
              </a:lnSpc>
            </a:pPr>
            <a:r>
              <a:rPr lang="en-US" sz="2929">
                <a:solidFill>
                  <a:srgbClr val="5B7ABE"/>
                </a:solidFill>
                <a:latin typeface="Red Hat Display"/>
                <a:ea typeface="Red Hat Display"/>
                <a:cs typeface="Red Hat Display"/>
                <a:sym typeface="Red Hat Display"/>
              </a:rPr>
              <a:t>Nghiên cứu tập trung vào các nội dung sau:</a:t>
            </a:r>
          </a:p>
          <a:p>
            <a:pPr algn="l" marL="632451" indent="-316225" lvl="1">
              <a:lnSpc>
                <a:spcPts val="4101"/>
              </a:lnSpc>
              <a:buFont typeface="Arial"/>
              <a:buChar char="•"/>
            </a:pPr>
            <a:r>
              <a:rPr lang="en-US" sz="2929">
                <a:solidFill>
                  <a:srgbClr val="5B7ABE"/>
                </a:solidFill>
                <a:latin typeface="Red Hat Display"/>
                <a:ea typeface="Red Hat Display"/>
                <a:cs typeface="Red Hat Display"/>
                <a:sym typeface="Red Hat Display"/>
              </a:rPr>
              <a:t>phân tích dữ liệu sức khỏe bò sữa</a:t>
            </a:r>
          </a:p>
          <a:p>
            <a:pPr algn="l" marL="632451" indent="-316225" lvl="1">
              <a:lnSpc>
                <a:spcPts val="4101"/>
              </a:lnSpc>
              <a:buFont typeface="Arial"/>
              <a:buChar char="•"/>
            </a:pPr>
            <a:r>
              <a:rPr lang="en-US" sz="2929">
                <a:solidFill>
                  <a:srgbClr val="5B7ABE"/>
                </a:solidFill>
                <a:latin typeface="Red Hat Display"/>
                <a:ea typeface="Red Hat Display"/>
                <a:cs typeface="Red Hat Display"/>
                <a:sym typeface="Red Hat Display"/>
              </a:rPr>
              <a:t>phát hiện các xu hướng trong dữ liệu</a:t>
            </a:r>
          </a:p>
          <a:p>
            <a:pPr algn="l" marL="632451" indent="-316225" lvl="1">
              <a:lnSpc>
                <a:spcPts val="4101"/>
              </a:lnSpc>
              <a:buFont typeface="Arial"/>
              <a:buChar char="•"/>
            </a:pPr>
            <a:r>
              <a:rPr lang="en-US" sz="2929">
                <a:solidFill>
                  <a:srgbClr val="5B7ABE"/>
                </a:solidFill>
                <a:latin typeface="Red Hat Display"/>
                <a:ea typeface="Red Hat Display"/>
                <a:cs typeface="Red Hat Display"/>
                <a:sym typeface="Red Hat Display"/>
              </a:rPr>
              <a:t>phân nhóm dữ liệu bằng thuật toán clustering</a:t>
            </a:r>
          </a:p>
          <a:p>
            <a:pPr algn="l">
              <a:lnSpc>
                <a:spcPts val="4101"/>
              </a:lnSpc>
            </a:pPr>
            <a:r>
              <a:rPr lang="en-US" sz="2929">
                <a:solidFill>
                  <a:srgbClr val="5B7ABE"/>
                </a:solidFill>
                <a:latin typeface="Red Hat Display"/>
                <a:ea typeface="Red Hat Display"/>
                <a:cs typeface="Red Hat Display"/>
                <a:sym typeface="Red Hat Display"/>
              </a:rPr>
              <a:t>Dataset sử dụng trong đề tài là dữ liệu mô phỏng, được xây dựng dựa trên các thông số thường gặp trong hệ thống quản lý trang trại bò sữa.</a:t>
            </a:r>
          </a:p>
          <a:p>
            <a:pPr algn="l">
              <a:lnSpc>
                <a:spcPts val="4101"/>
              </a:lnSpc>
            </a:pPr>
            <a:r>
              <a:rPr lang="en-US" sz="2929">
                <a:solidFill>
                  <a:srgbClr val="5B7ABE"/>
                </a:solidFill>
                <a:latin typeface="Red Hat Display"/>
                <a:ea typeface="Red Hat Display"/>
                <a:cs typeface="Red Hat Display"/>
                <a:sym typeface="Red Hat Display"/>
              </a:rPr>
              <a:t>Mục đích của dataset là phục vụ cho việc nghiên cứu và thực hành phân tích dữ liệu.</a:t>
            </a:r>
          </a:p>
          <a:p>
            <a:pPr algn="l">
              <a:lnSpc>
                <a:spcPts val="4101"/>
              </a:lnSpc>
            </a:pPr>
          </a:p>
        </p:txBody>
      </p:sp>
      <p:sp>
        <p:nvSpPr>
          <p:cNvPr name="TextBox 4" id="4"/>
          <p:cNvSpPr txBox="true"/>
          <p:nvPr/>
        </p:nvSpPr>
        <p:spPr>
          <a:xfrm rot="0">
            <a:off x="4157899" y="674686"/>
            <a:ext cx="12559614" cy="1798372"/>
          </a:xfrm>
          <a:prstGeom prst="rect">
            <a:avLst/>
          </a:prstGeom>
        </p:spPr>
        <p:txBody>
          <a:bodyPr anchor="t" rtlCol="false" tIns="0" lIns="0" bIns="0" rIns="0">
            <a:spAutoFit/>
          </a:bodyPr>
          <a:lstStyle/>
          <a:p>
            <a:pPr algn="l">
              <a:lnSpc>
                <a:spcPts val="7113"/>
              </a:lnSpc>
            </a:pPr>
            <a:r>
              <a:rPr lang="en-US" sz="5718" b="true">
                <a:solidFill>
                  <a:srgbClr val="2D2261"/>
                </a:solidFill>
                <a:latin typeface="Red Hat Display Bold"/>
                <a:ea typeface="Red Hat Display Bold"/>
                <a:cs typeface="Red Hat Display Bold"/>
                <a:sym typeface="Red Hat Display Bold"/>
              </a:rPr>
              <a:t>5. Đối tượng và phạm vi nghiên cứu</a:t>
            </a:r>
          </a:p>
          <a:p>
            <a:pPr algn="l">
              <a:lnSpc>
                <a:spcPts val="7113"/>
              </a:lnSpc>
            </a:pPr>
          </a:p>
        </p:txBody>
      </p:sp>
      <p:sp>
        <p:nvSpPr>
          <p:cNvPr name="Freeform 5" id="5"/>
          <p:cNvSpPr/>
          <p:nvPr/>
        </p:nvSpPr>
        <p:spPr>
          <a:xfrm flipH="false" flipV="false" rot="715246">
            <a:off x="12993540" y="-2095015"/>
            <a:ext cx="6727323" cy="4586811"/>
          </a:xfrm>
          <a:custGeom>
            <a:avLst/>
            <a:gdLst/>
            <a:ahLst/>
            <a:cxnLst/>
            <a:rect r="r" b="b" t="t" l="l"/>
            <a:pathLst>
              <a:path h="4586811" w="6727323">
                <a:moveTo>
                  <a:pt x="0" y="0"/>
                </a:moveTo>
                <a:lnTo>
                  <a:pt x="6727323" y="0"/>
                </a:lnTo>
                <a:lnTo>
                  <a:pt x="6727323" y="4586812"/>
                </a:lnTo>
                <a:lnTo>
                  <a:pt x="0" y="4586812"/>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226878">
            <a:off x="-498311" y="-825402"/>
            <a:ext cx="4576141" cy="2579280"/>
          </a:xfrm>
          <a:custGeom>
            <a:avLst/>
            <a:gdLst/>
            <a:ahLst/>
            <a:cxnLst/>
            <a:rect r="r" b="b" t="t" l="l"/>
            <a:pathLst>
              <a:path h="2579280" w="4576141">
                <a:moveTo>
                  <a:pt x="0" y="0"/>
                </a:moveTo>
                <a:lnTo>
                  <a:pt x="4576142" y="0"/>
                </a:lnTo>
                <a:lnTo>
                  <a:pt x="4576142" y="2579280"/>
                </a:lnTo>
                <a:lnTo>
                  <a:pt x="0" y="25792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3492100" y="6663662"/>
            <a:ext cx="4899276" cy="3623338"/>
          </a:xfrm>
          <a:custGeom>
            <a:avLst/>
            <a:gdLst/>
            <a:ahLst/>
            <a:cxnLst/>
            <a:rect r="r" b="b" t="t" l="l"/>
            <a:pathLst>
              <a:path h="3623338" w="4899276">
                <a:moveTo>
                  <a:pt x="0" y="0"/>
                </a:moveTo>
                <a:lnTo>
                  <a:pt x="4899276" y="0"/>
                </a:lnTo>
                <a:lnTo>
                  <a:pt x="4899276" y="3623338"/>
                </a:lnTo>
                <a:lnTo>
                  <a:pt x="0" y="36233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6462469" y="3137132"/>
            <a:ext cx="4899276" cy="3623338"/>
          </a:xfrm>
          <a:custGeom>
            <a:avLst/>
            <a:gdLst/>
            <a:ahLst/>
            <a:cxnLst/>
            <a:rect r="r" b="b" t="t" l="l"/>
            <a:pathLst>
              <a:path h="3623338" w="4899276">
                <a:moveTo>
                  <a:pt x="0" y="0"/>
                </a:moveTo>
                <a:lnTo>
                  <a:pt x="4899276" y="0"/>
                </a:lnTo>
                <a:lnTo>
                  <a:pt x="4899276" y="3623338"/>
                </a:lnTo>
                <a:lnTo>
                  <a:pt x="0" y="36233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5400000">
            <a:off x="-2563676" y="2113281"/>
            <a:ext cx="4899276" cy="3623338"/>
          </a:xfrm>
          <a:custGeom>
            <a:avLst/>
            <a:gdLst/>
            <a:ahLst/>
            <a:cxnLst/>
            <a:rect r="r" b="b" t="t" l="l"/>
            <a:pathLst>
              <a:path h="3623338" w="4899276">
                <a:moveTo>
                  <a:pt x="0" y="0"/>
                </a:moveTo>
                <a:lnTo>
                  <a:pt x="4899276" y="0"/>
                </a:lnTo>
                <a:lnTo>
                  <a:pt x="4899276" y="3623338"/>
                </a:lnTo>
                <a:lnTo>
                  <a:pt x="0" y="36233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TextBox 2" id="2"/>
          <p:cNvSpPr txBox="true"/>
          <p:nvPr/>
        </p:nvSpPr>
        <p:spPr>
          <a:xfrm rot="0">
            <a:off x="1802428" y="2146766"/>
            <a:ext cx="14554773" cy="7306361"/>
          </a:xfrm>
          <a:prstGeom prst="rect">
            <a:avLst/>
          </a:prstGeom>
        </p:spPr>
        <p:txBody>
          <a:bodyPr anchor="t" rtlCol="false" tIns="0" lIns="0" bIns="0" rIns="0">
            <a:spAutoFit/>
          </a:bodyPr>
          <a:lstStyle/>
          <a:p>
            <a:pPr algn="l">
              <a:lnSpc>
                <a:spcPts val="3637"/>
              </a:lnSpc>
            </a:pPr>
            <a:r>
              <a:rPr lang="en-US" sz="2597">
                <a:solidFill>
                  <a:srgbClr val="5B7ABE"/>
                </a:solidFill>
                <a:latin typeface="Red Hat Display"/>
                <a:ea typeface="Red Hat Display"/>
                <a:cs typeface="Red Hat Display"/>
                <a:sym typeface="Red Hat Display"/>
              </a:rPr>
              <a:t>Trong quá trình quản lý trang trại bò sữa, người quản lý cần theo dõi nhiều thông tin khác nhau như:</a:t>
            </a:r>
          </a:p>
          <a:p>
            <a:pPr algn="l" marL="560907" indent="-280453" lvl="1">
              <a:lnSpc>
                <a:spcPts val="3637"/>
              </a:lnSpc>
              <a:buFont typeface="Arial"/>
              <a:buChar char="•"/>
            </a:pPr>
            <a:r>
              <a:rPr lang="en-US" sz="2597">
                <a:solidFill>
                  <a:srgbClr val="5B7ABE"/>
                </a:solidFill>
                <a:latin typeface="Red Hat Display"/>
                <a:ea typeface="Red Hat Display"/>
                <a:cs typeface="Red Hat Display"/>
                <a:sym typeface="Red Hat Display"/>
              </a:rPr>
              <a:t>sức khỏe của bò</a:t>
            </a:r>
          </a:p>
          <a:p>
            <a:pPr algn="l" marL="560907" indent="-280453" lvl="1">
              <a:lnSpc>
                <a:spcPts val="3637"/>
              </a:lnSpc>
              <a:buFont typeface="Arial"/>
              <a:buChar char="•"/>
            </a:pPr>
            <a:r>
              <a:rPr lang="en-US" sz="2597">
                <a:solidFill>
                  <a:srgbClr val="5B7ABE"/>
                </a:solidFill>
                <a:latin typeface="Red Hat Display"/>
                <a:ea typeface="Red Hat Display"/>
                <a:cs typeface="Red Hat Display"/>
                <a:sym typeface="Red Hat Display"/>
              </a:rPr>
              <a:t>mức độ vận động</a:t>
            </a:r>
          </a:p>
          <a:p>
            <a:pPr algn="l" marL="560907" indent="-280453" lvl="1">
              <a:lnSpc>
                <a:spcPts val="3637"/>
              </a:lnSpc>
              <a:buFont typeface="Arial"/>
              <a:buChar char="•"/>
            </a:pPr>
            <a:r>
              <a:rPr lang="en-US" sz="2597">
                <a:solidFill>
                  <a:srgbClr val="5B7ABE"/>
                </a:solidFill>
                <a:latin typeface="Red Hat Display"/>
                <a:ea typeface="Red Hat Display"/>
                <a:cs typeface="Red Hat Display"/>
                <a:sym typeface="Red Hat Display"/>
              </a:rPr>
              <a:t>lượng thức ăn</a:t>
            </a:r>
          </a:p>
          <a:p>
            <a:pPr algn="l" marL="560907" indent="-280453" lvl="1">
              <a:lnSpc>
                <a:spcPts val="3637"/>
              </a:lnSpc>
              <a:buFont typeface="Arial"/>
              <a:buChar char="•"/>
            </a:pPr>
            <a:r>
              <a:rPr lang="en-US" sz="2597">
                <a:solidFill>
                  <a:srgbClr val="5B7ABE"/>
                </a:solidFill>
                <a:latin typeface="Red Hat Display"/>
                <a:ea typeface="Red Hat Display"/>
                <a:cs typeface="Red Hat Display"/>
                <a:sym typeface="Red Hat Display"/>
              </a:rPr>
              <a:t>sản lượng sữa</a:t>
            </a:r>
          </a:p>
          <a:p>
            <a:pPr algn="l">
              <a:lnSpc>
                <a:spcPts val="3637"/>
              </a:lnSpc>
            </a:pPr>
            <a:r>
              <a:rPr lang="en-US" sz="2597">
                <a:solidFill>
                  <a:srgbClr val="5B7ABE"/>
                </a:solidFill>
                <a:latin typeface="Red Hat Display"/>
                <a:ea typeface="Red Hat Display"/>
                <a:cs typeface="Red Hat Display"/>
                <a:sym typeface="Red Hat Display"/>
              </a:rPr>
              <a:t>Với số lượng lớn dữ liệu được ghi nhận mỗi ngày, việc phân tích dữ liệu bằng phương pháp thủ công là rất khó khăn.</a:t>
            </a:r>
          </a:p>
          <a:p>
            <a:pPr algn="l">
              <a:lnSpc>
                <a:spcPts val="3637"/>
              </a:lnSpc>
            </a:pPr>
            <a:r>
              <a:rPr lang="en-US" sz="2597">
                <a:solidFill>
                  <a:srgbClr val="5B7ABE"/>
                </a:solidFill>
                <a:latin typeface="Red Hat Display"/>
                <a:ea typeface="Red Hat Display"/>
                <a:cs typeface="Red Hat Display"/>
                <a:sym typeface="Red Hat Display"/>
              </a:rPr>
              <a:t>Do đó, bài toán đặt ra là:</a:t>
            </a:r>
          </a:p>
          <a:p>
            <a:pPr algn="l">
              <a:lnSpc>
                <a:spcPts val="3637"/>
              </a:lnSpc>
            </a:pPr>
            <a:r>
              <a:rPr lang="en-US" sz="2597">
                <a:solidFill>
                  <a:srgbClr val="5B7ABE"/>
                </a:solidFill>
                <a:latin typeface="Red Hat Display"/>
                <a:ea typeface="Red Hat Display"/>
                <a:cs typeface="Red Hat Display"/>
                <a:sym typeface="Red Hat Display"/>
              </a:rPr>
              <a:t>Làm thế nào sử dụng các phương pháp phân tích dữ liệu để khám phá đặc điểm sức khỏe của đàn bò và phát hiện các nhóm bò có đặc điểm tương tự?</a:t>
            </a:r>
          </a:p>
          <a:p>
            <a:pPr algn="l">
              <a:lnSpc>
                <a:spcPts val="3637"/>
              </a:lnSpc>
            </a:pPr>
            <a:r>
              <a:rPr lang="en-US" sz="2597">
                <a:solidFill>
                  <a:srgbClr val="5B7ABE"/>
                </a:solidFill>
                <a:latin typeface="Red Hat Display"/>
                <a:ea typeface="Red Hat Display"/>
                <a:cs typeface="Red Hat Display"/>
                <a:sym typeface="Red Hat Display"/>
              </a:rPr>
              <a:t>Cụ thể, đề tài cần giải quyết các vấn đề sau:</a:t>
            </a:r>
          </a:p>
          <a:p>
            <a:pPr algn="l" marL="560907" indent="-280453" lvl="1">
              <a:lnSpc>
                <a:spcPts val="3637"/>
              </a:lnSpc>
              <a:buFont typeface="Arial"/>
              <a:buChar char="•"/>
            </a:pPr>
            <a:r>
              <a:rPr lang="en-US" sz="2597">
                <a:solidFill>
                  <a:srgbClr val="5B7ABE"/>
                </a:solidFill>
                <a:latin typeface="Red Hat Display"/>
                <a:ea typeface="Red Hat Display"/>
                <a:cs typeface="Red Hat Display"/>
                <a:sym typeface="Red Hat Display"/>
              </a:rPr>
              <a:t>phân tích các chỉ số sức khỏe của bò</a:t>
            </a:r>
          </a:p>
          <a:p>
            <a:pPr algn="l" marL="560907" indent="-280453" lvl="1">
              <a:lnSpc>
                <a:spcPts val="3637"/>
              </a:lnSpc>
              <a:buFont typeface="Arial"/>
              <a:buChar char="•"/>
            </a:pPr>
            <a:r>
              <a:rPr lang="en-US" sz="2597">
                <a:solidFill>
                  <a:srgbClr val="5B7ABE"/>
                </a:solidFill>
                <a:latin typeface="Red Hat Display"/>
                <a:ea typeface="Red Hat Display"/>
                <a:cs typeface="Red Hat Display"/>
                <a:sym typeface="Red Hat Display"/>
              </a:rPr>
              <a:t>tìm mối quan hệ giữa lượng thức ăn và sản lượng sữa</a:t>
            </a:r>
          </a:p>
          <a:p>
            <a:pPr algn="l" marL="560907" indent="-280453" lvl="1">
              <a:lnSpc>
                <a:spcPts val="3637"/>
              </a:lnSpc>
              <a:buFont typeface="Arial"/>
              <a:buChar char="•"/>
            </a:pPr>
            <a:r>
              <a:rPr lang="en-US" sz="2597">
                <a:solidFill>
                  <a:srgbClr val="5B7ABE"/>
                </a:solidFill>
                <a:latin typeface="Red Hat Display"/>
                <a:ea typeface="Red Hat Display"/>
                <a:cs typeface="Red Hat Display"/>
                <a:sym typeface="Red Hat Display"/>
              </a:rPr>
              <a:t>phân nhóm bò dựa trên dữ liệu thu thập được</a:t>
            </a:r>
          </a:p>
          <a:p>
            <a:pPr algn="l">
              <a:lnSpc>
                <a:spcPts val="3637"/>
              </a:lnSpc>
            </a:pPr>
            <a:r>
              <a:rPr lang="en-US" sz="2597">
                <a:solidFill>
                  <a:srgbClr val="5B7ABE"/>
                </a:solidFill>
                <a:latin typeface="Red Hat Display"/>
                <a:ea typeface="Red Hat Display"/>
                <a:cs typeface="Red Hat Display"/>
                <a:sym typeface="Red Hat Display"/>
              </a:rPr>
              <a:t>Việc giải quyết bài toán này sẽ giúp hỗ trợ quá trình quản lý và chăm sóc đàn bò trong trang trại.</a:t>
            </a:r>
          </a:p>
          <a:p>
            <a:pPr algn="l">
              <a:lnSpc>
                <a:spcPts val="3637"/>
              </a:lnSpc>
            </a:pPr>
          </a:p>
        </p:txBody>
      </p:sp>
      <p:sp>
        <p:nvSpPr>
          <p:cNvPr name="TextBox 3" id="3"/>
          <p:cNvSpPr txBox="true"/>
          <p:nvPr/>
        </p:nvSpPr>
        <p:spPr>
          <a:xfrm rot="0">
            <a:off x="4199267" y="565665"/>
            <a:ext cx="7056119" cy="897496"/>
          </a:xfrm>
          <a:prstGeom prst="rect">
            <a:avLst/>
          </a:prstGeom>
        </p:spPr>
        <p:txBody>
          <a:bodyPr anchor="t" rtlCol="false" tIns="0" lIns="0" bIns="0" rIns="0">
            <a:spAutoFit/>
          </a:bodyPr>
          <a:lstStyle/>
          <a:p>
            <a:pPr algn="l">
              <a:lnSpc>
                <a:spcPts val="7113"/>
              </a:lnSpc>
            </a:pPr>
            <a:r>
              <a:rPr lang="en-US" b="true" sz="5718">
                <a:solidFill>
                  <a:srgbClr val="2D2261"/>
                </a:solidFill>
                <a:latin typeface="Red Hat Display Bold"/>
                <a:ea typeface="Red Hat Display Bold"/>
                <a:cs typeface="Red Hat Display Bold"/>
                <a:sym typeface="Red Hat Display Bold"/>
              </a:rPr>
              <a:t>6. Bài toán đặt ra</a:t>
            </a:r>
          </a:p>
        </p:txBody>
      </p:sp>
      <p:sp>
        <p:nvSpPr>
          <p:cNvPr name="Freeform 4" id="4"/>
          <p:cNvSpPr/>
          <p:nvPr/>
        </p:nvSpPr>
        <p:spPr>
          <a:xfrm flipH="false" flipV="false" rot="0">
            <a:off x="12993540" y="-2095015"/>
            <a:ext cx="6727323" cy="4586811"/>
          </a:xfrm>
          <a:custGeom>
            <a:avLst/>
            <a:gdLst/>
            <a:ahLst/>
            <a:cxnLst/>
            <a:rect r="r" b="b" t="t" l="l"/>
            <a:pathLst>
              <a:path h="4586811" w="6727323">
                <a:moveTo>
                  <a:pt x="0" y="0"/>
                </a:moveTo>
                <a:lnTo>
                  <a:pt x="6727323" y="0"/>
                </a:lnTo>
                <a:lnTo>
                  <a:pt x="6727323" y="4586812"/>
                </a:lnTo>
                <a:lnTo>
                  <a:pt x="0" y="4586812"/>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341303">
            <a:off x="-1442576" y="8071855"/>
            <a:ext cx="7907020" cy="6699403"/>
          </a:xfrm>
          <a:custGeom>
            <a:avLst/>
            <a:gdLst/>
            <a:ahLst/>
            <a:cxnLst/>
            <a:rect r="r" b="b" t="t" l="l"/>
            <a:pathLst>
              <a:path h="6699403" w="7907020">
                <a:moveTo>
                  <a:pt x="0" y="0"/>
                </a:moveTo>
                <a:lnTo>
                  <a:pt x="7907020" y="0"/>
                </a:lnTo>
                <a:lnTo>
                  <a:pt x="7907020" y="6699403"/>
                </a:lnTo>
                <a:lnTo>
                  <a:pt x="0" y="6699403"/>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226878">
            <a:off x="-749303" y="-695400"/>
            <a:ext cx="4576141" cy="2579280"/>
          </a:xfrm>
          <a:custGeom>
            <a:avLst/>
            <a:gdLst/>
            <a:ahLst/>
            <a:cxnLst/>
            <a:rect r="r" b="b" t="t" l="l"/>
            <a:pathLst>
              <a:path h="2579280" w="4576141">
                <a:moveTo>
                  <a:pt x="0" y="0"/>
                </a:moveTo>
                <a:lnTo>
                  <a:pt x="4576142" y="0"/>
                </a:lnTo>
                <a:lnTo>
                  <a:pt x="4576142" y="2579279"/>
                </a:lnTo>
                <a:lnTo>
                  <a:pt x="0" y="257927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2830696">
            <a:off x="14939466" y="8144946"/>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4144764">
            <a:off x="-1843986" y="1585814"/>
            <a:ext cx="4576141" cy="2579280"/>
          </a:xfrm>
          <a:custGeom>
            <a:avLst/>
            <a:gdLst/>
            <a:ahLst/>
            <a:cxnLst/>
            <a:rect r="r" b="b" t="t" l="l"/>
            <a:pathLst>
              <a:path h="2579280" w="4576141">
                <a:moveTo>
                  <a:pt x="0" y="0"/>
                </a:moveTo>
                <a:lnTo>
                  <a:pt x="4576141" y="0"/>
                </a:lnTo>
                <a:lnTo>
                  <a:pt x="4576141" y="2579279"/>
                </a:lnTo>
                <a:lnTo>
                  <a:pt x="0" y="257927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7803058">
            <a:off x="16528617" y="3373915"/>
            <a:ext cx="4576141" cy="2579280"/>
          </a:xfrm>
          <a:custGeom>
            <a:avLst/>
            <a:gdLst/>
            <a:ahLst/>
            <a:cxnLst/>
            <a:rect r="r" b="b" t="t" l="l"/>
            <a:pathLst>
              <a:path h="2579280" w="4576141">
                <a:moveTo>
                  <a:pt x="0" y="0"/>
                </a:moveTo>
                <a:lnTo>
                  <a:pt x="4576141" y="0"/>
                </a:lnTo>
                <a:lnTo>
                  <a:pt x="4576141" y="2579279"/>
                </a:lnTo>
                <a:lnTo>
                  <a:pt x="0" y="257927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3467399">
            <a:off x="15791393" y="5796150"/>
            <a:ext cx="4576141" cy="2579280"/>
          </a:xfrm>
          <a:custGeom>
            <a:avLst/>
            <a:gdLst/>
            <a:ahLst/>
            <a:cxnLst/>
            <a:rect r="r" b="b" t="t" l="l"/>
            <a:pathLst>
              <a:path h="2579280" w="4576141">
                <a:moveTo>
                  <a:pt x="0" y="0"/>
                </a:moveTo>
                <a:lnTo>
                  <a:pt x="4576141" y="0"/>
                </a:lnTo>
                <a:lnTo>
                  <a:pt x="4576141" y="2579279"/>
                </a:lnTo>
                <a:lnTo>
                  <a:pt x="0" y="257927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TextBox 2" id="2"/>
          <p:cNvSpPr txBox="true"/>
          <p:nvPr/>
        </p:nvSpPr>
        <p:spPr>
          <a:xfrm rot="0">
            <a:off x="1719416" y="2128075"/>
            <a:ext cx="14849168" cy="6847131"/>
          </a:xfrm>
          <a:prstGeom prst="rect">
            <a:avLst/>
          </a:prstGeom>
        </p:spPr>
        <p:txBody>
          <a:bodyPr anchor="t" rtlCol="false" tIns="0" lIns="0" bIns="0" rIns="0">
            <a:spAutoFit/>
          </a:bodyPr>
          <a:lstStyle/>
          <a:p>
            <a:pPr algn="l">
              <a:lnSpc>
                <a:spcPts val="4556"/>
              </a:lnSpc>
            </a:pPr>
            <a:r>
              <a:rPr lang="en-US" sz="3254">
                <a:solidFill>
                  <a:srgbClr val="5B7ABE"/>
                </a:solidFill>
                <a:latin typeface="Red Hat Display"/>
                <a:ea typeface="Red Hat Display"/>
                <a:cs typeface="Red Hat Display"/>
                <a:sym typeface="Red Hat Display"/>
              </a:rPr>
              <a:t>Để giải quyết bài toán phân tích dữ liệu bò sữa, đề tài áp dụng quy trình phân tích dữ liệu gồm các bước sau:</a:t>
            </a:r>
          </a:p>
          <a:p>
            <a:pPr algn="l">
              <a:lnSpc>
                <a:spcPts val="4556"/>
              </a:lnSpc>
            </a:pPr>
            <a:r>
              <a:rPr lang="en-US" sz="3254">
                <a:solidFill>
                  <a:srgbClr val="5B7ABE"/>
                </a:solidFill>
                <a:latin typeface="Red Hat Display"/>
                <a:ea typeface="Red Hat Display"/>
                <a:cs typeface="Red Hat Display"/>
                <a:sym typeface="Red Hat Display"/>
              </a:rPr>
              <a:t>1.Thu</a:t>
            </a:r>
            <a:r>
              <a:rPr lang="en-US" sz="3254">
                <a:solidFill>
                  <a:srgbClr val="5B7ABE"/>
                </a:solidFill>
                <a:latin typeface="Red Hat Display"/>
                <a:ea typeface="Red Hat Display"/>
                <a:cs typeface="Red Hat Display"/>
                <a:sym typeface="Red Hat Display"/>
              </a:rPr>
              <a:t> thập và xây dựng dataset</a:t>
            </a:r>
          </a:p>
          <a:p>
            <a:pPr algn="l">
              <a:lnSpc>
                <a:spcPts val="4556"/>
              </a:lnSpc>
            </a:pPr>
            <a:r>
              <a:rPr lang="en-US" sz="3254">
                <a:solidFill>
                  <a:srgbClr val="5B7ABE"/>
                </a:solidFill>
                <a:latin typeface="Red Hat Display"/>
                <a:ea typeface="Red Hat Display"/>
                <a:cs typeface="Red Hat Display"/>
                <a:sym typeface="Red Hat Display"/>
              </a:rPr>
              <a:t>2.T</a:t>
            </a:r>
            <a:r>
              <a:rPr lang="en-US" sz="3254">
                <a:solidFill>
                  <a:srgbClr val="5B7ABE"/>
                </a:solidFill>
                <a:latin typeface="Red Hat Display"/>
                <a:ea typeface="Red Hat Display"/>
                <a:cs typeface="Red Hat Display"/>
                <a:sym typeface="Red Hat Display"/>
              </a:rPr>
              <a:t>iền xử lý dữ liệu</a:t>
            </a:r>
          </a:p>
          <a:p>
            <a:pPr algn="l">
              <a:lnSpc>
                <a:spcPts val="4556"/>
              </a:lnSpc>
            </a:pPr>
            <a:r>
              <a:rPr lang="en-US" sz="3254">
                <a:solidFill>
                  <a:srgbClr val="5B7ABE"/>
                </a:solidFill>
                <a:latin typeface="Red Hat Display"/>
                <a:ea typeface="Red Hat Display"/>
                <a:cs typeface="Red Hat Display"/>
                <a:sym typeface="Red Hat Display"/>
              </a:rPr>
              <a:t>3.Phân tích dữ liệu mô tả</a:t>
            </a:r>
          </a:p>
          <a:p>
            <a:pPr algn="l">
              <a:lnSpc>
                <a:spcPts val="4556"/>
              </a:lnSpc>
            </a:pPr>
            <a:r>
              <a:rPr lang="en-US" sz="3254">
                <a:solidFill>
                  <a:srgbClr val="5B7ABE"/>
                </a:solidFill>
                <a:latin typeface="Red Hat Display"/>
                <a:ea typeface="Red Hat Display"/>
                <a:cs typeface="Red Hat Display"/>
                <a:sym typeface="Red Hat Display"/>
              </a:rPr>
              <a:t>4.Trực quan hóa dữ liệu</a:t>
            </a:r>
          </a:p>
          <a:p>
            <a:pPr algn="l">
              <a:lnSpc>
                <a:spcPts val="4556"/>
              </a:lnSpc>
            </a:pPr>
            <a:r>
              <a:rPr lang="en-US" sz="3254">
                <a:solidFill>
                  <a:srgbClr val="5B7ABE"/>
                </a:solidFill>
                <a:latin typeface="Red Hat Display"/>
                <a:ea typeface="Red Hat Display"/>
                <a:cs typeface="Red Hat Display"/>
                <a:sym typeface="Red Hat Display"/>
              </a:rPr>
              <a:t>5.Áp dụng thuật toán K-Means để phân cụm dữ liệu</a:t>
            </a:r>
          </a:p>
          <a:p>
            <a:pPr algn="l">
              <a:lnSpc>
                <a:spcPts val="4556"/>
              </a:lnSpc>
            </a:pPr>
            <a:r>
              <a:rPr lang="en-US" sz="3254">
                <a:solidFill>
                  <a:srgbClr val="5B7ABE"/>
                </a:solidFill>
                <a:latin typeface="Red Hat Display"/>
                <a:ea typeface="Red Hat Display"/>
                <a:cs typeface="Red Hat Display"/>
                <a:sym typeface="Red Hat Display"/>
              </a:rPr>
              <a:t>Thông qua quy trình này, dữ liệu sẽ được xử lý và phân tích để tìm ra các đặc điểm và xu hướng quan trọng.</a:t>
            </a:r>
          </a:p>
          <a:p>
            <a:pPr algn="l">
              <a:lnSpc>
                <a:spcPts val="4556"/>
              </a:lnSpc>
            </a:pPr>
            <a:r>
              <a:rPr lang="en-US" sz="3254">
                <a:solidFill>
                  <a:srgbClr val="5B7ABE"/>
                </a:solidFill>
                <a:latin typeface="Red Hat Display"/>
                <a:ea typeface="Red Hat Display"/>
                <a:cs typeface="Red Hat Display"/>
                <a:sym typeface="Red Hat Display"/>
              </a:rPr>
              <a:t>Ngoài ra, hệ thống có thể được triển khai trên nền tảng xử lý dữ liệu lớn như Apache Hadoop để mô phỏng môi trường xử lý dữ liệu thực tế.</a:t>
            </a:r>
          </a:p>
          <a:p>
            <a:pPr algn="l">
              <a:lnSpc>
                <a:spcPts val="4556"/>
              </a:lnSpc>
            </a:pPr>
          </a:p>
        </p:txBody>
      </p:sp>
      <p:sp>
        <p:nvSpPr>
          <p:cNvPr name="TextBox 3" id="3"/>
          <p:cNvSpPr txBox="true"/>
          <p:nvPr/>
        </p:nvSpPr>
        <p:spPr>
          <a:xfrm rot="0">
            <a:off x="4199267" y="565665"/>
            <a:ext cx="8442991" cy="897496"/>
          </a:xfrm>
          <a:prstGeom prst="rect">
            <a:avLst/>
          </a:prstGeom>
        </p:spPr>
        <p:txBody>
          <a:bodyPr anchor="t" rtlCol="false" tIns="0" lIns="0" bIns="0" rIns="0">
            <a:spAutoFit/>
          </a:bodyPr>
          <a:lstStyle/>
          <a:p>
            <a:pPr algn="l">
              <a:lnSpc>
                <a:spcPts val="7113"/>
              </a:lnSpc>
            </a:pPr>
            <a:r>
              <a:rPr lang="en-US" b="true" sz="5718">
                <a:solidFill>
                  <a:srgbClr val="2D2261"/>
                </a:solidFill>
                <a:latin typeface="Red Hat Display Bold"/>
                <a:ea typeface="Red Hat Display Bold"/>
                <a:cs typeface="Red Hat Display Bold"/>
                <a:sym typeface="Red Hat Display Bold"/>
              </a:rPr>
              <a:t>7. Tổng quan giải pháp</a:t>
            </a:r>
          </a:p>
        </p:txBody>
      </p:sp>
      <p:sp>
        <p:nvSpPr>
          <p:cNvPr name="Freeform 4" id="4"/>
          <p:cNvSpPr/>
          <p:nvPr/>
        </p:nvSpPr>
        <p:spPr>
          <a:xfrm flipH="false" flipV="false" rot="0">
            <a:off x="12993540" y="-2095015"/>
            <a:ext cx="6727323" cy="4586811"/>
          </a:xfrm>
          <a:custGeom>
            <a:avLst/>
            <a:gdLst/>
            <a:ahLst/>
            <a:cxnLst/>
            <a:rect r="r" b="b" t="t" l="l"/>
            <a:pathLst>
              <a:path h="4586811" w="6727323">
                <a:moveTo>
                  <a:pt x="0" y="0"/>
                </a:moveTo>
                <a:lnTo>
                  <a:pt x="6727323" y="0"/>
                </a:lnTo>
                <a:lnTo>
                  <a:pt x="6727323" y="4586812"/>
                </a:lnTo>
                <a:lnTo>
                  <a:pt x="0" y="4586812"/>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341303">
            <a:off x="-1442576" y="8071855"/>
            <a:ext cx="7907020" cy="6699403"/>
          </a:xfrm>
          <a:custGeom>
            <a:avLst/>
            <a:gdLst/>
            <a:ahLst/>
            <a:cxnLst/>
            <a:rect r="r" b="b" t="t" l="l"/>
            <a:pathLst>
              <a:path h="6699403" w="7907020">
                <a:moveTo>
                  <a:pt x="0" y="0"/>
                </a:moveTo>
                <a:lnTo>
                  <a:pt x="7907020" y="0"/>
                </a:lnTo>
                <a:lnTo>
                  <a:pt x="7907020" y="6699403"/>
                </a:lnTo>
                <a:lnTo>
                  <a:pt x="0" y="6699403"/>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226878">
            <a:off x="-749303" y="-695400"/>
            <a:ext cx="4576141" cy="2579280"/>
          </a:xfrm>
          <a:custGeom>
            <a:avLst/>
            <a:gdLst/>
            <a:ahLst/>
            <a:cxnLst/>
            <a:rect r="r" b="b" t="t" l="l"/>
            <a:pathLst>
              <a:path h="2579280" w="4576141">
                <a:moveTo>
                  <a:pt x="0" y="0"/>
                </a:moveTo>
                <a:lnTo>
                  <a:pt x="4576142" y="0"/>
                </a:lnTo>
                <a:lnTo>
                  <a:pt x="4576142" y="2579279"/>
                </a:lnTo>
                <a:lnTo>
                  <a:pt x="0" y="257927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2830696">
            <a:off x="14939466" y="8144946"/>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4144764">
            <a:off x="-1843986" y="1585814"/>
            <a:ext cx="4576141" cy="2579280"/>
          </a:xfrm>
          <a:custGeom>
            <a:avLst/>
            <a:gdLst/>
            <a:ahLst/>
            <a:cxnLst/>
            <a:rect r="r" b="b" t="t" l="l"/>
            <a:pathLst>
              <a:path h="2579280" w="4576141">
                <a:moveTo>
                  <a:pt x="0" y="0"/>
                </a:moveTo>
                <a:lnTo>
                  <a:pt x="4576141" y="0"/>
                </a:lnTo>
                <a:lnTo>
                  <a:pt x="4576141" y="2579279"/>
                </a:lnTo>
                <a:lnTo>
                  <a:pt x="0" y="257927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7803058">
            <a:off x="16528617" y="3373915"/>
            <a:ext cx="4576141" cy="2579280"/>
          </a:xfrm>
          <a:custGeom>
            <a:avLst/>
            <a:gdLst/>
            <a:ahLst/>
            <a:cxnLst/>
            <a:rect r="r" b="b" t="t" l="l"/>
            <a:pathLst>
              <a:path h="2579280" w="4576141">
                <a:moveTo>
                  <a:pt x="0" y="0"/>
                </a:moveTo>
                <a:lnTo>
                  <a:pt x="4576141" y="0"/>
                </a:lnTo>
                <a:lnTo>
                  <a:pt x="4576141" y="2579279"/>
                </a:lnTo>
                <a:lnTo>
                  <a:pt x="0" y="257927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3467399">
            <a:off x="15791393" y="5796150"/>
            <a:ext cx="4576141" cy="2579280"/>
          </a:xfrm>
          <a:custGeom>
            <a:avLst/>
            <a:gdLst/>
            <a:ahLst/>
            <a:cxnLst/>
            <a:rect r="r" b="b" t="t" l="l"/>
            <a:pathLst>
              <a:path h="2579280" w="4576141">
                <a:moveTo>
                  <a:pt x="0" y="0"/>
                </a:moveTo>
                <a:lnTo>
                  <a:pt x="4576141" y="0"/>
                </a:lnTo>
                <a:lnTo>
                  <a:pt x="4576141" y="2579279"/>
                </a:lnTo>
                <a:lnTo>
                  <a:pt x="0" y="257927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TextBox 2" id="2"/>
          <p:cNvSpPr txBox="true"/>
          <p:nvPr/>
        </p:nvSpPr>
        <p:spPr>
          <a:xfrm rot="0">
            <a:off x="4264475" y="952500"/>
            <a:ext cx="9759051" cy="728158"/>
          </a:xfrm>
          <a:prstGeom prst="rect">
            <a:avLst/>
          </a:prstGeom>
        </p:spPr>
        <p:txBody>
          <a:bodyPr anchor="t" rtlCol="false" tIns="0" lIns="0" bIns="0" rIns="0">
            <a:spAutoFit/>
          </a:bodyPr>
          <a:lstStyle/>
          <a:p>
            <a:pPr algn="ctr">
              <a:lnSpc>
                <a:spcPts val="6065"/>
              </a:lnSpc>
            </a:pPr>
            <a:r>
              <a:rPr lang="en-US" b="true" sz="4332">
                <a:solidFill>
                  <a:srgbClr val="2D2261"/>
                </a:solidFill>
                <a:latin typeface="Red Hat Display Bold"/>
                <a:ea typeface="Red Hat Display Bold"/>
                <a:cs typeface="Red Hat Display Bold"/>
                <a:sym typeface="Red Hat Display Bold"/>
              </a:rPr>
              <a:t>8. Dữ liệu đầu vào</a:t>
            </a:r>
          </a:p>
        </p:txBody>
      </p:sp>
      <p:grpSp>
        <p:nvGrpSpPr>
          <p:cNvPr name="Group 3" id="3"/>
          <p:cNvGrpSpPr/>
          <p:nvPr/>
        </p:nvGrpSpPr>
        <p:grpSpPr>
          <a:xfrm rot="0">
            <a:off x="456250" y="1680658"/>
            <a:ext cx="17375500" cy="7881584"/>
            <a:chOff x="0" y="0"/>
            <a:chExt cx="4576263" cy="2075808"/>
          </a:xfrm>
        </p:grpSpPr>
        <p:sp>
          <p:nvSpPr>
            <p:cNvPr name="Freeform 4" id="4"/>
            <p:cNvSpPr/>
            <p:nvPr/>
          </p:nvSpPr>
          <p:spPr>
            <a:xfrm flipH="false" flipV="false" rot="0">
              <a:off x="0" y="0"/>
              <a:ext cx="4576263" cy="2075808"/>
            </a:xfrm>
            <a:custGeom>
              <a:avLst/>
              <a:gdLst/>
              <a:ahLst/>
              <a:cxnLst/>
              <a:rect r="r" b="b" t="t" l="l"/>
              <a:pathLst>
                <a:path h="2075808" w="4576263">
                  <a:moveTo>
                    <a:pt x="13367" y="0"/>
                  </a:moveTo>
                  <a:lnTo>
                    <a:pt x="4562896" y="0"/>
                  </a:lnTo>
                  <a:cubicBezTo>
                    <a:pt x="4566441" y="0"/>
                    <a:pt x="4569842" y="1408"/>
                    <a:pt x="4572348" y="3915"/>
                  </a:cubicBezTo>
                  <a:cubicBezTo>
                    <a:pt x="4574855" y="6422"/>
                    <a:pt x="4576263" y="9822"/>
                    <a:pt x="4576263" y="13367"/>
                  </a:cubicBezTo>
                  <a:lnTo>
                    <a:pt x="4576263" y="2062441"/>
                  </a:lnTo>
                  <a:cubicBezTo>
                    <a:pt x="4576263" y="2065986"/>
                    <a:pt x="4574855" y="2069386"/>
                    <a:pt x="4572348" y="2071893"/>
                  </a:cubicBezTo>
                  <a:cubicBezTo>
                    <a:pt x="4569842" y="2074400"/>
                    <a:pt x="4566441" y="2075808"/>
                    <a:pt x="4562896" y="2075808"/>
                  </a:cubicBezTo>
                  <a:lnTo>
                    <a:pt x="13367" y="2075808"/>
                  </a:lnTo>
                  <a:cubicBezTo>
                    <a:pt x="9822" y="2075808"/>
                    <a:pt x="6422" y="2074400"/>
                    <a:pt x="3915" y="2071893"/>
                  </a:cubicBezTo>
                  <a:cubicBezTo>
                    <a:pt x="1408" y="2069386"/>
                    <a:pt x="0" y="2065986"/>
                    <a:pt x="0" y="2062441"/>
                  </a:cubicBezTo>
                  <a:lnTo>
                    <a:pt x="0" y="13367"/>
                  </a:lnTo>
                  <a:cubicBezTo>
                    <a:pt x="0" y="9822"/>
                    <a:pt x="1408" y="6422"/>
                    <a:pt x="3915" y="3915"/>
                  </a:cubicBezTo>
                  <a:cubicBezTo>
                    <a:pt x="6422" y="1408"/>
                    <a:pt x="9822" y="0"/>
                    <a:pt x="13367" y="0"/>
                  </a:cubicBezTo>
                  <a:close/>
                </a:path>
              </a:pathLst>
            </a:custGeom>
            <a:solidFill>
              <a:srgbClr val="9CBAE1"/>
            </a:solidFill>
          </p:spPr>
        </p:sp>
        <p:sp>
          <p:nvSpPr>
            <p:cNvPr name="TextBox 5" id="5"/>
            <p:cNvSpPr txBox="true"/>
            <p:nvPr/>
          </p:nvSpPr>
          <p:spPr>
            <a:xfrm>
              <a:off x="0" y="-47625"/>
              <a:ext cx="4576263" cy="2123433"/>
            </a:xfrm>
            <a:prstGeom prst="rect">
              <a:avLst/>
            </a:prstGeom>
          </p:spPr>
          <p:txBody>
            <a:bodyPr anchor="ctr" rtlCol="false" tIns="50800" lIns="50800" bIns="50800" rIns="50800"/>
            <a:lstStyle/>
            <a:p>
              <a:pPr algn="ctr">
                <a:lnSpc>
                  <a:spcPts val="3032"/>
                </a:lnSpc>
              </a:pPr>
            </a:p>
          </p:txBody>
        </p:sp>
      </p:grpSp>
      <p:grpSp>
        <p:nvGrpSpPr>
          <p:cNvPr name="Group 6" id="6"/>
          <p:cNvGrpSpPr/>
          <p:nvPr/>
        </p:nvGrpSpPr>
        <p:grpSpPr>
          <a:xfrm rot="0">
            <a:off x="1925204" y="4479269"/>
            <a:ext cx="4343287" cy="4463467"/>
            <a:chOff x="0" y="0"/>
            <a:chExt cx="993495" cy="1020986"/>
          </a:xfrm>
        </p:grpSpPr>
        <p:sp>
          <p:nvSpPr>
            <p:cNvPr name="Freeform 7" id="7"/>
            <p:cNvSpPr/>
            <p:nvPr/>
          </p:nvSpPr>
          <p:spPr>
            <a:xfrm flipH="false" flipV="false" rot="0">
              <a:off x="0" y="0"/>
              <a:ext cx="993495" cy="1020986"/>
            </a:xfrm>
            <a:custGeom>
              <a:avLst/>
              <a:gdLst/>
              <a:ahLst/>
              <a:cxnLst/>
              <a:rect r="r" b="b" t="t" l="l"/>
              <a:pathLst>
                <a:path h="1020986" w="993495">
                  <a:moveTo>
                    <a:pt x="53475" y="0"/>
                  </a:moveTo>
                  <a:lnTo>
                    <a:pt x="940020" y="0"/>
                  </a:lnTo>
                  <a:cubicBezTo>
                    <a:pt x="954203" y="0"/>
                    <a:pt x="967804" y="5634"/>
                    <a:pt x="977833" y="15662"/>
                  </a:cubicBezTo>
                  <a:cubicBezTo>
                    <a:pt x="987862" y="25691"/>
                    <a:pt x="993495" y="39293"/>
                    <a:pt x="993495" y="53475"/>
                  </a:cubicBezTo>
                  <a:lnTo>
                    <a:pt x="993495" y="967511"/>
                  </a:lnTo>
                  <a:cubicBezTo>
                    <a:pt x="993495" y="981693"/>
                    <a:pt x="987862" y="995295"/>
                    <a:pt x="977833" y="1005323"/>
                  </a:cubicBezTo>
                  <a:cubicBezTo>
                    <a:pt x="967804" y="1015352"/>
                    <a:pt x="954203" y="1020986"/>
                    <a:pt x="940020" y="1020986"/>
                  </a:cubicBezTo>
                  <a:lnTo>
                    <a:pt x="53475" y="1020986"/>
                  </a:lnTo>
                  <a:cubicBezTo>
                    <a:pt x="39293" y="1020986"/>
                    <a:pt x="25691" y="1015352"/>
                    <a:pt x="15662" y="1005323"/>
                  </a:cubicBezTo>
                  <a:cubicBezTo>
                    <a:pt x="5634" y="995295"/>
                    <a:pt x="0" y="981693"/>
                    <a:pt x="0" y="967511"/>
                  </a:cubicBezTo>
                  <a:lnTo>
                    <a:pt x="0" y="53475"/>
                  </a:lnTo>
                  <a:cubicBezTo>
                    <a:pt x="0" y="39293"/>
                    <a:pt x="5634" y="25691"/>
                    <a:pt x="15662" y="15662"/>
                  </a:cubicBezTo>
                  <a:cubicBezTo>
                    <a:pt x="25691" y="5634"/>
                    <a:pt x="39293" y="0"/>
                    <a:pt x="53475" y="0"/>
                  </a:cubicBezTo>
                  <a:close/>
                </a:path>
              </a:pathLst>
            </a:custGeom>
            <a:solidFill>
              <a:srgbClr val="ECE1D7"/>
            </a:solidFill>
          </p:spPr>
        </p:sp>
        <p:sp>
          <p:nvSpPr>
            <p:cNvPr name="TextBox 8" id="8"/>
            <p:cNvSpPr txBox="true"/>
            <p:nvPr/>
          </p:nvSpPr>
          <p:spPr>
            <a:xfrm>
              <a:off x="0" y="-47625"/>
              <a:ext cx="993495" cy="1068611"/>
            </a:xfrm>
            <a:prstGeom prst="rect">
              <a:avLst/>
            </a:prstGeom>
          </p:spPr>
          <p:txBody>
            <a:bodyPr anchor="ctr" rtlCol="false" tIns="50800" lIns="50800" bIns="50800" rIns="50800"/>
            <a:lstStyle/>
            <a:p>
              <a:pPr algn="ctr">
                <a:lnSpc>
                  <a:spcPts val="3032"/>
                </a:lnSpc>
              </a:pPr>
            </a:p>
          </p:txBody>
        </p:sp>
      </p:grpSp>
      <p:sp>
        <p:nvSpPr>
          <p:cNvPr name="TextBox 9" id="9"/>
          <p:cNvSpPr txBox="true"/>
          <p:nvPr/>
        </p:nvSpPr>
        <p:spPr>
          <a:xfrm rot="0">
            <a:off x="915118" y="3322523"/>
            <a:ext cx="8548245" cy="459988"/>
          </a:xfrm>
          <a:prstGeom prst="rect">
            <a:avLst/>
          </a:prstGeom>
        </p:spPr>
        <p:txBody>
          <a:bodyPr anchor="t" rtlCol="false" tIns="0" lIns="0" bIns="0" rIns="0">
            <a:spAutoFit/>
          </a:bodyPr>
          <a:lstStyle/>
          <a:p>
            <a:pPr algn="ctr">
              <a:lnSpc>
                <a:spcPts val="3868"/>
              </a:lnSpc>
            </a:pPr>
            <a:r>
              <a:rPr lang="en-US" b="true" sz="2763">
                <a:solidFill>
                  <a:srgbClr val="FBFCFE"/>
                </a:solidFill>
                <a:latin typeface="Red Hat Display Bold"/>
                <a:ea typeface="Red Hat Display Bold"/>
                <a:cs typeface="Red Hat Display Bold"/>
                <a:sym typeface="Red Hat Display Bold"/>
              </a:rPr>
              <a:t>Các thuộc tính chính của dataset bao gồm:</a:t>
            </a:r>
          </a:p>
        </p:txBody>
      </p:sp>
      <p:grpSp>
        <p:nvGrpSpPr>
          <p:cNvPr name="Group 10" id="10"/>
          <p:cNvGrpSpPr/>
          <p:nvPr/>
        </p:nvGrpSpPr>
        <p:grpSpPr>
          <a:xfrm rot="0">
            <a:off x="4421345" y="4332541"/>
            <a:ext cx="4469382" cy="4610195"/>
            <a:chOff x="0" y="0"/>
            <a:chExt cx="1022339" cy="1054549"/>
          </a:xfrm>
        </p:grpSpPr>
        <p:sp>
          <p:nvSpPr>
            <p:cNvPr name="Freeform 11" id="11"/>
            <p:cNvSpPr/>
            <p:nvPr/>
          </p:nvSpPr>
          <p:spPr>
            <a:xfrm flipH="false" flipV="false" rot="0">
              <a:off x="0" y="0"/>
              <a:ext cx="1022339" cy="1054549"/>
            </a:xfrm>
            <a:custGeom>
              <a:avLst/>
              <a:gdLst/>
              <a:ahLst/>
              <a:cxnLst/>
              <a:rect r="r" b="b" t="t" l="l"/>
              <a:pathLst>
                <a:path h="1054549" w="1022339">
                  <a:moveTo>
                    <a:pt x="51966" y="0"/>
                  </a:moveTo>
                  <a:lnTo>
                    <a:pt x="970372" y="0"/>
                  </a:lnTo>
                  <a:cubicBezTo>
                    <a:pt x="999073" y="0"/>
                    <a:pt x="1022339" y="23266"/>
                    <a:pt x="1022339" y="51966"/>
                  </a:cubicBezTo>
                  <a:lnTo>
                    <a:pt x="1022339" y="1002582"/>
                  </a:lnTo>
                  <a:cubicBezTo>
                    <a:pt x="1022339" y="1031282"/>
                    <a:pt x="999073" y="1054549"/>
                    <a:pt x="970372" y="1054549"/>
                  </a:cubicBezTo>
                  <a:lnTo>
                    <a:pt x="51966" y="1054549"/>
                  </a:lnTo>
                  <a:cubicBezTo>
                    <a:pt x="23266" y="1054549"/>
                    <a:pt x="0" y="1031282"/>
                    <a:pt x="0" y="1002582"/>
                  </a:cubicBezTo>
                  <a:lnTo>
                    <a:pt x="0" y="51966"/>
                  </a:lnTo>
                  <a:cubicBezTo>
                    <a:pt x="0" y="23266"/>
                    <a:pt x="23266" y="0"/>
                    <a:pt x="51966" y="0"/>
                  </a:cubicBezTo>
                  <a:close/>
                </a:path>
              </a:pathLst>
            </a:custGeom>
            <a:solidFill>
              <a:srgbClr val="ECE1D7"/>
            </a:solidFill>
          </p:spPr>
        </p:sp>
        <p:sp>
          <p:nvSpPr>
            <p:cNvPr name="TextBox 12" id="12"/>
            <p:cNvSpPr txBox="true"/>
            <p:nvPr/>
          </p:nvSpPr>
          <p:spPr>
            <a:xfrm>
              <a:off x="0" y="-47625"/>
              <a:ext cx="1022339" cy="1102174"/>
            </a:xfrm>
            <a:prstGeom prst="rect">
              <a:avLst/>
            </a:prstGeom>
          </p:spPr>
          <p:txBody>
            <a:bodyPr anchor="ctr" rtlCol="false" tIns="50800" lIns="50800" bIns="50800" rIns="50800"/>
            <a:lstStyle/>
            <a:p>
              <a:pPr algn="ctr">
                <a:lnSpc>
                  <a:spcPts val="3032"/>
                </a:lnSpc>
              </a:pPr>
            </a:p>
          </p:txBody>
        </p:sp>
      </p:grpSp>
      <p:sp>
        <p:nvSpPr>
          <p:cNvPr name="TextBox 13" id="13"/>
          <p:cNvSpPr txBox="true"/>
          <p:nvPr/>
        </p:nvSpPr>
        <p:spPr>
          <a:xfrm rot="0">
            <a:off x="2365562" y="5132258"/>
            <a:ext cx="2908817" cy="3966511"/>
          </a:xfrm>
          <a:prstGeom prst="rect">
            <a:avLst/>
          </a:prstGeom>
        </p:spPr>
        <p:txBody>
          <a:bodyPr anchor="t" rtlCol="false" tIns="0" lIns="0" bIns="0" rIns="0">
            <a:spAutoFit/>
          </a:bodyPr>
          <a:lstStyle/>
          <a:p>
            <a:pPr algn="ctr">
              <a:lnSpc>
                <a:spcPts val="2901"/>
              </a:lnSpc>
            </a:pPr>
            <a:r>
              <a:rPr lang="en-US" sz="2072">
                <a:solidFill>
                  <a:srgbClr val="2D2261"/>
                </a:solidFill>
                <a:latin typeface="Red Hat Display"/>
                <a:ea typeface="Red Hat Display"/>
                <a:cs typeface="Red Hat Display"/>
                <a:sym typeface="Red Hat Display"/>
              </a:rPr>
              <a:t>cow_id</a:t>
            </a:r>
          </a:p>
          <a:p>
            <a:pPr algn="ctr">
              <a:lnSpc>
                <a:spcPts val="2901"/>
              </a:lnSpc>
            </a:pPr>
            <a:r>
              <a:rPr lang="en-US" sz="2072">
                <a:solidFill>
                  <a:srgbClr val="2D2261"/>
                </a:solidFill>
                <a:latin typeface="Red Hat Display"/>
                <a:ea typeface="Red Hat Display"/>
                <a:cs typeface="Red Hat Display"/>
                <a:sym typeface="Red Hat Display"/>
              </a:rPr>
              <a:t>date</a:t>
            </a:r>
          </a:p>
          <a:p>
            <a:pPr algn="ctr">
              <a:lnSpc>
                <a:spcPts val="2901"/>
              </a:lnSpc>
            </a:pPr>
            <a:r>
              <a:rPr lang="en-US" sz="2072">
                <a:solidFill>
                  <a:srgbClr val="2D2261"/>
                </a:solidFill>
                <a:latin typeface="Red Hat Display"/>
                <a:ea typeface="Red Hat Display"/>
                <a:cs typeface="Red Hat Display"/>
                <a:sym typeface="Red Hat Display"/>
              </a:rPr>
              <a:t>body_temperature</a:t>
            </a:r>
          </a:p>
          <a:p>
            <a:pPr algn="ctr">
              <a:lnSpc>
                <a:spcPts val="2901"/>
              </a:lnSpc>
            </a:pPr>
            <a:r>
              <a:rPr lang="en-US" sz="2072">
                <a:solidFill>
                  <a:srgbClr val="2D2261"/>
                </a:solidFill>
                <a:latin typeface="Red Hat Display"/>
                <a:ea typeface="Red Hat Display"/>
                <a:cs typeface="Red Hat Display"/>
                <a:sym typeface="Red Hat Display"/>
              </a:rPr>
              <a:t>activity_level</a:t>
            </a:r>
          </a:p>
          <a:p>
            <a:pPr algn="ctr">
              <a:lnSpc>
                <a:spcPts val="2901"/>
              </a:lnSpc>
            </a:pPr>
            <a:r>
              <a:rPr lang="en-US" sz="2072">
                <a:solidFill>
                  <a:srgbClr val="2D2261"/>
                </a:solidFill>
                <a:latin typeface="Red Hat Display"/>
                <a:ea typeface="Red Hat Display"/>
                <a:cs typeface="Red Hat Display"/>
                <a:sym typeface="Red Hat Display"/>
              </a:rPr>
              <a:t>feed_intake</a:t>
            </a:r>
          </a:p>
          <a:p>
            <a:pPr algn="ctr">
              <a:lnSpc>
                <a:spcPts val="2901"/>
              </a:lnSpc>
            </a:pPr>
            <a:r>
              <a:rPr lang="en-US" sz="2072">
                <a:solidFill>
                  <a:srgbClr val="2D2261"/>
                </a:solidFill>
                <a:latin typeface="Red Hat Display"/>
                <a:ea typeface="Red Hat Display"/>
                <a:cs typeface="Red Hat Display"/>
                <a:sym typeface="Red Hat Display"/>
              </a:rPr>
              <a:t>milk_yield</a:t>
            </a:r>
          </a:p>
          <a:p>
            <a:pPr algn="ctr">
              <a:lnSpc>
                <a:spcPts val="2901"/>
              </a:lnSpc>
            </a:pPr>
            <a:r>
              <a:rPr lang="en-US" sz="2072">
                <a:solidFill>
                  <a:srgbClr val="2D2261"/>
                </a:solidFill>
                <a:latin typeface="Red Hat Display"/>
                <a:ea typeface="Red Hat Display"/>
                <a:cs typeface="Red Hat Display"/>
                <a:sym typeface="Red Hat Display"/>
              </a:rPr>
              <a:t>rumination_time</a:t>
            </a:r>
          </a:p>
          <a:p>
            <a:pPr algn="ctr">
              <a:lnSpc>
                <a:spcPts val="2901"/>
              </a:lnSpc>
            </a:pPr>
            <a:r>
              <a:rPr lang="en-US" sz="2072">
                <a:solidFill>
                  <a:srgbClr val="2D2261"/>
                </a:solidFill>
                <a:latin typeface="Red Hat Display"/>
                <a:ea typeface="Red Hat Display"/>
                <a:cs typeface="Red Hat Display"/>
                <a:sym typeface="Red Hat Display"/>
              </a:rPr>
              <a:t>heart_rate</a:t>
            </a:r>
          </a:p>
          <a:p>
            <a:pPr algn="ctr">
              <a:lnSpc>
                <a:spcPts val="2901"/>
              </a:lnSpc>
            </a:pPr>
            <a:r>
              <a:rPr lang="en-US" sz="2072">
                <a:solidFill>
                  <a:srgbClr val="2D2261"/>
                </a:solidFill>
                <a:latin typeface="Red Hat Display"/>
                <a:ea typeface="Red Hat Display"/>
                <a:cs typeface="Red Hat Display"/>
                <a:sym typeface="Red Hat Display"/>
              </a:rPr>
              <a:t>steps</a:t>
            </a:r>
          </a:p>
          <a:p>
            <a:pPr algn="ctr">
              <a:lnSpc>
                <a:spcPts val="2901"/>
              </a:lnSpc>
            </a:pPr>
            <a:r>
              <a:rPr lang="en-US" sz="2072">
                <a:solidFill>
                  <a:srgbClr val="2D2261"/>
                </a:solidFill>
                <a:latin typeface="Red Hat Display"/>
                <a:ea typeface="Red Hat Display"/>
                <a:cs typeface="Red Hat Display"/>
                <a:sym typeface="Red Hat Display"/>
              </a:rPr>
              <a:t>health_status</a:t>
            </a:r>
          </a:p>
          <a:p>
            <a:pPr algn="ctr">
              <a:lnSpc>
                <a:spcPts val="2901"/>
              </a:lnSpc>
            </a:pPr>
          </a:p>
        </p:txBody>
      </p:sp>
      <p:grpSp>
        <p:nvGrpSpPr>
          <p:cNvPr name="Group 14" id="14"/>
          <p:cNvGrpSpPr/>
          <p:nvPr/>
        </p:nvGrpSpPr>
        <p:grpSpPr>
          <a:xfrm rot="0">
            <a:off x="5513869" y="3897851"/>
            <a:ext cx="3376857" cy="1162836"/>
            <a:chOff x="0" y="0"/>
            <a:chExt cx="772432" cy="265990"/>
          </a:xfrm>
        </p:grpSpPr>
        <p:sp>
          <p:nvSpPr>
            <p:cNvPr name="Freeform 15" id="15"/>
            <p:cNvSpPr/>
            <p:nvPr/>
          </p:nvSpPr>
          <p:spPr>
            <a:xfrm flipH="false" flipV="false" rot="0">
              <a:off x="0" y="0"/>
              <a:ext cx="772432" cy="265990"/>
            </a:xfrm>
            <a:custGeom>
              <a:avLst/>
              <a:gdLst/>
              <a:ahLst/>
              <a:cxnLst/>
              <a:rect r="r" b="b" t="t" l="l"/>
              <a:pathLst>
                <a:path h="265990" w="772432">
                  <a:moveTo>
                    <a:pt x="68779" y="0"/>
                  </a:moveTo>
                  <a:lnTo>
                    <a:pt x="703652" y="0"/>
                  </a:lnTo>
                  <a:cubicBezTo>
                    <a:pt x="721894" y="0"/>
                    <a:pt x="739388" y="7246"/>
                    <a:pt x="752287" y="20145"/>
                  </a:cubicBezTo>
                  <a:cubicBezTo>
                    <a:pt x="765185" y="33044"/>
                    <a:pt x="772432" y="50538"/>
                    <a:pt x="772432" y="68779"/>
                  </a:cubicBezTo>
                  <a:lnTo>
                    <a:pt x="772432" y="197211"/>
                  </a:lnTo>
                  <a:cubicBezTo>
                    <a:pt x="772432" y="235197"/>
                    <a:pt x="741638" y="265990"/>
                    <a:pt x="703652" y="265990"/>
                  </a:cubicBezTo>
                  <a:lnTo>
                    <a:pt x="68779" y="265990"/>
                  </a:lnTo>
                  <a:cubicBezTo>
                    <a:pt x="30794" y="265990"/>
                    <a:pt x="0" y="235197"/>
                    <a:pt x="0" y="197211"/>
                  </a:cubicBezTo>
                  <a:lnTo>
                    <a:pt x="0" y="68779"/>
                  </a:lnTo>
                  <a:cubicBezTo>
                    <a:pt x="0" y="30794"/>
                    <a:pt x="30794" y="0"/>
                    <a:pt x="68779" y="0"/>
                  </a:cubicBezTo>
                  <a:close/>
                </a:path>
              </a:pathLst>
            </a:custGeom>
            <a:solidFill>
              <a:srgbClr val="5B7ABE"/>
            </a:solidFill>
          </p:spPr>
        </p:sp>
        <p:sp>
          <p:nvSpPr>
            <p:cNvPr name="TextBox 16" id="16"/>
            <p:cNvSpPr txBox="true"/>
            <p:nvPr/>
          </p:nvSpPr>
          <p:spPr>
            <a:xfrm>
              <a:off x="0" y="-47625"/>
              <a:ext cx="772432" cy="313615"/>
            </a:xfrm>
            <a:prstGeom prst="rect">
              <a:avLst/>
            </a:prstGeom>
          </p:spPr>
          <p:txBody>
            <a:bodyPr anchor="ctr" rtlCol="false" tIns="50800" lIns="50800" bIns="50800" rIns="50800"/>
            <a:lstStyle/>
            <a:p>
              <a:pPr algn="ctr">
                <a:lnSpc>
                  <a:spcPts val="3032"/>
                </a:lnSpc>
              </a:pPr>
            </a:p>
          </p:txBody>
        </p:sp>
      </p:grpSp>
      <p:grpSp>
        <p:nvGrpSpPr>
          <p:cNvPr name="Group 17" id="17"/>
          <p:cNvGrpSpPr/>
          <p:nvPr/>
        </p:nvGrpSpPr>
        <p:grpSpPr>
          <a:xfrm rot="0">
            <a:off x="1925204" y="3897851"/>
            <a:ext cx="4343287" cy="1162836"/>
            <a:chOff x="0" y="0"/>
            <a:chExt cx="993495" cy="265990"/>
          </a:xfrm>
        </p:grpSpPr>
        <p:sp>
          <p:nvSpPr>
            <p:cNvPr name="Freeform 18" id="18"/>
            <p:cNvSpPr/>
            <p:nvPr/>
          </p:nvSpPr>
          <p:spPr>
            <a:xfrm flipH="false" flipV="false" rot="0">
              <a:off x="0" y="0"/>
              <a:ext cx="993495" cy="265990"/>
            </a:xfrm>
            <a:custGeom>
              <a:avLst/>
              <a:gdLst/>
              <a:ahLst/>
              <a:cxnLst/>
              <a:rect r="r" b="b" t="t" l="l"/>
              <a:pathLst>
                <a:path h="265990" w="993495">
                  <a:moveTo>
                    <a:pt x="53475" y="0"/>
                  </a:moveTo>
                  <a:lnTo>
                    <a:pt x="940020" y="0"/>
                  </a:lnTo>
                  <a:cubicBezTo>
                    <a:pt x="954203" y="0"/>
                    <a:pt x="967804" y="5634"/>
                    <a:pt x="977833" y="15662"/>
                  </a:cubicBezTo>
                  <a:cubicBezTo>
                    <a:pt x="987862" y="25691"/>
                    <a:pt x="993495" y="39293"/>
                    <a:pt x="993495" y="53475"/>
                  </a:cubicBezTo>
                  <a:lnTo>
                    <a:pt x="993495" y="212515"/>
                  </a:lnTo>
                  <a:cubicBezTo>
                    <a:pt x="993495" y="226698"/>
                    <a:pt x="987862" y="240299"/>
                    <a:pt x="977833" y="250328"/>
                  </a:cubicBezTo>
                  <a:cubicBezTo>
                    <a:pt x="967804" y="260356"/>
                    <a:pt x="954203" y="265990"/>
                    <a:pt x="940020" y="265990"/>
                  </a:cubicBezTo>
                  <a:lnTo>
                    <a:pt x="53475" y="265990"/>
                  </a:lnTo>
                  <a:cubicBezTo>
                    <a:pt x="39293" y="265990"/>
                    <a:pt x="25691" y="260356"/>
                    <a:pt x="15662" y="250328"/>
                  </a:cubicBezTo>
                  <a:cubicBezTo>
                    <a:pt x="5634" y="240299"/>
                    <a:pt x="0" y="226698"/>
                    <a:pt x="0" y="212515"/>
                  </a:cubicBezTo>
                  <a:lnTo>
                    <a:pt x="0" y="53475"/>
                  </a:lnTo>
                  <a:cubicBezTo>
                    <a:pt x="0" y="39293"/>
                    <a:pt x="5634" y="25691"/>
                    <a:pt x="15662" y="15662"/>
                  </a:cubicBezTo>
                  <a:cubicBezTo>
                    <a:pt x="25691" y="5634"/>
                    <a:pt x="39293" y="0"/>
                    <a:pt x="53475" y="0"/>
                  </a:cubicBezTo>
                  <a:close/>
                </a:path>
              </a:pathLst>
            </a:custGeom>
            <a:solidFill>
              <a:srgbClr val="5B7ABE"/>
            </a:solidFill>
          </p:spPr>
        </p:sp>
        <p:sp>
          <p:nvSpPr>
            <p:cNvPr name="TextBox 19" id="19"/>
            <p:cNvSpPr txBox="true"/>
            <p:nvPr/>
          </p:nvSpPr>
          <p:spPr>
            <a:xfrm>
              <a:off x="0" y="-47625"/>
              <a:ext cx="993495" cy="313615"/>
            </a:xfrm>
            <a:prstGeom prst="rect">
              <a:avLst/>
            </a:prstGeom>
          </p:spPr>
          <p:txBody>
            <a:bodyPr anchor="ctr" rtlCol="false" tIns="50800" lIns="50800" bIns="50800" rIns="50800"/>
            <a:lstStyle/>
            <a:p>
              <a:pPr algn="ctr">
                <a:lnSpc>
                  <a:spcPts val="3032"/>
                </a:lnSpc>
              </a:pPr>
            </a:p>
          </p:txBody>
        </p:sp>
      </p:grpSp>
      <p:sp>
        <p:nvSpPr>
          <p:cNvPr name="TextBox 20" id="20"/>
          <p:cNvSpPr txBox="true"/>
          <p:nvPr/>
        </p:nvSpPr>
        <p:spPr>
          <a:xfrm rot="0">
            <a:off x="5628144" y="4284916"/>
            <a:ext cx="3148307" cy="459988"/>
          </a:xfrm>
          <a:prstGeom prst="rect">
            <a:avLst/>
          </a:prstGeom>
        </p:spPr>
        <p:txBody>
          <a:bodyPr anchor="t" rtlCol="false" tIns="0" lIns="0" bIns="0" rIns="0">
            <a:spAutoFit/>
          </a:bodyPr>
          <a:lstStyle/>
          <a:p>
            <a:pPr algn="ctr">
              <a:lnSpc>
                <a:spcPts val="3868"/>
              </a:lnSpc>
            </a:pPr>
            <a:r>
              <a:rPr lang="en-US" b="true" sz="2763">
                <a:solidFill>
                  <a:srgbClr val="FBFCFE"/>
                </a:solidFill>
                <a:latin typeface="Red Hat Display Bold"/>
                <a:ea typeface="Red Hat Display Bold"/>
                <a:cs typeface="Red Hat Display Bold"/>
                <a:sym typeface="Red Hat Display Bold"/>
              </a:rPr>
              <a:t>Ý nghĩa</a:t>
            </a:r>
          </a:p>
        </p:txBody>
      </p:sp>
      <p:sp>
        <p:nvSpPr>
          <p:cNvPr name="TextBox 21" id="21"/>
          <p:cNvSpPr txBox="true"/>
          <p:nvPr/>
        </p:nvSpPr>
        <p:spPr>
          <a:xfrm rot="0">
            <a:off x="5513869" y="5132258"/>
            <a:ext cx="3400496" cy="3966511"/>
          </a:xfrm>
          <a:prstGeom prst="rect">
            <a:avLst/>
          </a:prstGeom>
        </p:spPr>
        <p:txBody>
          <a:bodyPr anchor="t" rtlCol="false" tIns="0" lIns="0" bIns="0" rIns="0">
            <a:spAutoFit/>
          </a:bodyPr>
          <a:lstStyle/>
          <a:p>
            <a:pPr algn="ctr">
              <a:lnSpc>
                <a:spcPts val="2901"/>
              </a:lnSpc>
            </a:pPr>
            <a:r>
              <a:rPr lang="en-US" sz="2072">
                <a:solidFill>
                  <a:srgbClr val="2D2261"/>
                </a:solidFill>
                <a:latin typeface="Red Hat Display"/>
                <a:ea typeface="Red Hat Display"/>
                <a:cs typeface="Red Hat Display"/>
                <a:sym typeface="Red Hat Display"/>
              </a:rPr>
              <a:t>mã định danh của bò</a:t>
            </a:r>
          </a:p>
          <a:p>
            <a:pPr algn="ctr">
              <a:lnSpc>
                <a:spcPts val="2901"/>
              </a:lnSpc>
            </a:pPr>
            <a:r>
              <a:rPr lang="en-US" sz="2072">
                <a:solidFill>
                  <a:srgbClr val="2D2261"/>
                </a:solidFill>
                <a:latin typeface="Red Hat Display"/>
                <a:ea typeface="Red Hat Display"/>
                <a:cs typeface="Red Hat Display"/>
                <a:sym typeface="Red Hat Display"/>
              </a:rPr>
              <a:t>ngày ghi nhận dữ liệu</a:t>
            </a:r>
          </a:p>
          <a:p>
            <a:pPr algn="ctr">
              <a:lnSpc>
                <a:spcPts val="2901"/>
              </a:lnSpc>
            </a:pPr>
            <a:r>
              <a:rPr lang="en-US" sz="2072">
                <a:solidFill>
                  <a:srgbClr val="2D2261"/>
                </a:solidFill>
                <a:latin typeface="Red Hat Display"/>
                <a:ea typeface="Red Hat Display"/>
                <a:cs typeface="Red Hat Display"/>
                <a:sym typeface="Red Hat Display"/>
              </a:rPr>
              <a:t>nhiệt độ cơ thể</a:t>
            </a:r>
          </a:p>
          <a:p>
            <a:pPr algn="ctr">
              <a:lnSpc>
                <a:spcPts val="2901"/>
              </a:lnSpc>
            </a:pPr>
            <a:r>
              <a:rPr lang="en-US" sz="2072">
                <a:solidFill>
                  <a:srgbClr val="2D2261"/>
                </a:solidFill>
                <a:latin typeface="Red Hat Display"/>
                <a:ea typeface="Red Hat Display"/>
                <a:cs typeface="Red Hat Display"/>
                <a:sym typeface="Red Hat Display"/>
              </a:rPr>
              <a:t>mức độ vận động</a:t>
            </a:r>
          </a:p>
          <a:p>
            <a:pPr algn="ctr">
              <a:lnSpc>
                <a:spcPts val="2901"/>
              </a:lnSpc>
            </a:pPr>
            <a:r>
              <a:rPr lang="en-US" sz="2072">
                <a:solidFill>
                  <a:srgbClr val="2D2261"/>
                </a:solidFill>
                <a:latin typeface="Red Hat Display"/>
                <a:ea typeface="Red Hat Display"/>
                <a:cs typeface="Red Hat Display"/>
                <a:sym typeface="Red Hat Display"/>
              </a:rPr>
              <a:t>lượng thức ăn</a:t>
            </a:r>
          </a:p>
          <a:p>
            <a:pPr algn="ctr">
              <a:lnSpc>
                <a:spcPts val="2901"/>
              </a:lnSpc>
            </a:pPr>
            <a:r>
              <a:rPr lang="en-US" sz="2072">
                <a:solidFill>
                  <a:srgbClr val="2D2261"/>
                </a:solidFill>
                <a:latin typeface="Red Hat Display"/>
                <a:ea typeface="Red Hat Display"/>
                <a:cs typeface="Red Hat Display"/>
                <a:sym typeface="Red Hat Display"/>
              </a:rPr>
              <a:t>sản lượng sữa</a:t>
            </a:r>
          </a:p>
          <a:p>
            <a:pPr algn="ctr">
              <a:lnSpc>
                <a:spcPts val="2901"/>
              </a:lnSpc>
            </a:pPr>
            <a:r>
              <a:rPr lang="en-US" sz="2072">
                <a:solidFill>
                  <a:srgbClr val="2D2261"/>
                </a:solidFill>
                <a:latin typeface="Red Hat Display"/>
                <a:ea typeface="Red Hat Display"/>
                <a:cs typeface="Red Hat Display"/>
                <a:sym typeface="Red Hat Display"/>
              </a:rPr>
              <a:t>thời gian nhai lại</a:t>
            </a:r>
          </a:p>
          <a:p>
            <a:pPr algn="ctr">
              <a:lnSpc>
                <a:spcPts val="2901"/>
              </a:lnSpc>
            </a:pPr>
            <a:r>
              <a:rPr lang="en-US" sz="2072">
                <a:solidFill>
                  <a:srgbClr val="2D2261"/>
                </a:solidFill>
                <a:latin typeface="Red Hat Display"/>
                <a:ea typeface="Red Hat Display"/>
                <a:cs typeface="Red Hat Display"/>
                <a:sym typeface="Red Hat Display"/>
              </a:rPr>
              <a:t>nhịp tim</a:t>
            </a:r>
          </a:p>
          <a:p>
            <a:pPr algn="ctr">
              <a:lnSpc>
                <a:spcPts val="2901"/>
              </a:lnSpc>
            </a:pPr>
            <a:r>
              <a:rPr lang="en-US" sz="2072">
                <a:solidFill>
                  <a:srgbClr val="2D2261"/>
                </a:solidFill>
                <a:latin typeface="Red Hat Display"/>
                <a:ea typeface="Red Hat Display"/>
                <a:cs typeface="Red Hat Display"/>
                <a:sym typeface="Red Hat Display"/>
              </a:rPr>
              <a:t>số bước đi</a:t>
            </a:r>
          </a:p>
          <a:p>
            <a:pPr algn="ctr">
              <a:lnSpc>
                <a:spcPts val="2901"/>
              </a:lnSpc>
            </a:pPr>
            <a:r>
              <a:rPr lang="en-US" sz="2072">
                <a:solidFill>
                  <a:srgbClr val="2D2261"/>
                </a:solidFill>
                <a:latin typeface="Red Hat Display"/>
                <a:ea typeface="Red Hat Display"/>
                <a:cs typeface="Red Hat Display"/>
                <a:sym typeface="Red Hat Display"/>
              </a:rPr>
              <a:t>trạng thái sức khỏe</a:t>
            </a:r>
          </a:p>
          <a:p>
            <a:pPr algn="ctr">
              <a:lnSpc>
                <a:spcPts val="2901"/>
              </a:lnSpc>
            </a:pPr>
          </a:p>
        </p:txBody>
      </p:sp>
      <p:sp>
        <p:nvSpPr>
          <p:cNvPr name="TextBox 22" id="22"/>
          <p:cNvSpPr txBox="true"/>
          <p:nvPr/>
        </p:nvSpPr>
        <p:spPr>
          <a:xfrm rot="0">
            <a:off x="2365562" y="4284916"/>
            <a:ext cx="3148307" cy="459988"/>
          </a:xfrm>
          <a:prstGeom prst="rect">
            <a:avLst/>
          </a:prstGeom>
        </p:spPr>
        <p:txBody>
          <a:bodyPr anchor="t" rtlCol="false" tIns="0" lIns="0" bIns="0" rIns="0">
            <a:spAutoFit/>
          </a:bodyPr>
          <a:lstStyle/>
          <a:p>
            <a:pPr algn="ctr">
              <a:lnSpc>
                <a:spcPts val="3868"/>
              </a:lnSpc>
            </a:pPr>
            <a:r>
              <a:rPr lang="en-US" b="true" sz="2763">
                <a:solidFill>
                  <a:srgbClr val="FBFCFE"/>
                </a:solidFill>
                <a:latin typeface="Red Hat Display Bold"/>
                <a:ea typeface="Red Hat Display Bold"/>
                <a:cs typeface="Red Hat Display Bold"/>
                <a:sym typeface="Red Hat Display Bold"/>
              </a:rPr>
              <a:t>Thuộc tính</a:t>
            </a:r>
          </a:p>
        </p:txBody>
      </p:sp>
      <p:sp>
        <p:nvSpPr>
          <p:cNvPr name="TextBox 23" id="23"/>
          <p:cNvSpPr txBox="true"/>
          <p:nvPr/>
        </p:nvSpPr>
        <p:spPr>
          <a:xfrm rot="0">
            <a:off x="1925204" y="1874867"/>
            <a:ext cx="6596718" cy="1907644"/>
          </a:xfrm>
          <a:prstGeom prst="rect">
            <a:avLst/>
          </a:prstGeom>
        </p:spPr>
        <p:txBody>
          <a:bodyPr anchor="t" rtlCol="false" tIns="0" lIns="0" bIns="0" rIns="0">
            <a:spAutoFit/>
          </a:bodyPr>
          <a:lstStyle/>
          <a:p>
            <a:pPr algn="ctr">
              <a:lnSpc>
                <a:spcPts val="3868"/>
              </a:lnSpc>
            </a:pPr>
            <a:r>
              <a:rPr lang="en-US" sz="2763">
                <a:solidFill>
                  <a:srgbClr val="2D2261"/>
                </a:solidFill>
                <a:latin typeface="Red Hat Display"/>
                <a:ea typeface="Red Hat Display"/>
                <a:cs typeface="Red Hat Display"/>
                <a:sym typeface="Red Hat Display"/>
              </a:rPr>
              <a:t>Dataset được sử dụng trong đề tài bao gồm các thông tin liên quan đến sức khỏe và hoạt động của bò sữa.</a:t>
            </a:r>
          </a:p>
          <a:p>
            <a:pPr algn="ctr">
              <a:lnSpc>
                <a:spcPts val="3868"/>
              </a:lnSpc>
            </a:pPr>
          </a:p>
        </p:txBody>
      </p:sp>
      <p:sp>
        <p:nvSpPr>
          <p:cNvPr name="Freeform 24" id="24"/>
          <p:cNvSpPr/>
          <p:nvPr/>
        </p:nvSpPr>
        <p:spPr>
          <a:xfrm flipH="false" flipV="false" rot="-2080684">
            <a:off x="9677279" y="7672704"/>
            <a:ext cx="10960234" cy="7472887"/>
          </a:xfrm>
          <a:custGeom>
            <a:avLst/>
            <a:gdLst/>
            <a:ahLst/>
            <a:cxnLst/>
            <a:rect r="r" b="b" t="t" l="l"/>
            <a:pathLst>
              <a:path h="7472887" w="10960234">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25" id="25"/>
          <p:cNvSpPr/>
          <p:nvPr/>
        </p:nvSpPr>
        <p:spPr>
          <a:xfrm flipH="false" flipV="false" rot="9426524">
            <a:off x="-4520715" y="-6213591"/>
            <a:ext cx="10871667" cy="9211267"/>
          </a:xfrm>
          <a:custGeom>
            <a:avLst/>
            <a:gdLst/>
            <a:ahLst/>
            <a:cxnLst/>
            <a:rect r="r" b="b" t="t" l="l"/>
            <a:pathLst>
              <a:path h="9211267" w="10871667">
                <a:moveTo>
                  <a:pt x="0" y="0"/>
                </a:moveTo>
                <a:lnTo>
                  <a:pt x="10871667" y="0"/>
                </a:lnTo>
                <a:lnTo>
                  <a:pt x="10871667" y="9211267"/>
                </a:lnTo>
                <a:lnTo>
                  <a:pt x="0" y="9211267"/>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26" id="26"/>
          <p:cNvSpPr/>
          <p:nvPr/>
        </p:nvSpPr>
        <p:spPr>
          <a:xfrm flipH="false" flipV="false" rot="-2624874">
            <a:off x="-884948" y="9077955"/>
            <a:ext cx="3242701" cy="1827704"/>
          </a:xfrm>
          <a:custGeom>
            <a:avLst/>
            <a:gdLst/>
            <a:ahLst/>
            <a:cxnLst/>
            <a:rect r="r" b="b" t="t" l="l"/>
            <a:pathLst>
              <a:path h="1827704" w="3242701">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7" id="27"/>
          <p:cNvSpPr/>
          <p:nvPr/>
        </p:nvSpPr>
        <p:spPr>
          <a:xfrm flipH="false" flipV="false" rot="2830696">
            <a:off x="16075185" y="-10287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8" id="28"/>
          <p:cNvSpPr txBox="true"/>
          <p:nvPr/>
        </p:nvSpPr>
        <p:spPr>
          <a:xfrm rot="0">
            <a:off x="10229984" y="4402404"/>
            <a:ext cx="6268442" cy="2732159"/>
          </a:xfrm>
          <a:prstGeom prst="rect">
            <a:avLst/>
          </a:prstGeom>
        </p:spPr>
        <p:txBody>
          <a:bodyPr anchor="t" rtlCol="false" tIns="0" lIns="0" bIns="0" rIns="0">
            <a:spAutoFit/>
          </a:bodyPr>
          <a:lstStyle/>
          <a:p>
            <a:pPr algn="ctr">
              <a:lnSpc>
                <a:spcPts val="3676"/>
              </a:lnSpc>
            </a:pPr>
            <a:r>
              <a:rPr lang="en-US" sz="2625">
                <a:solidFill>
                  <a:srgbClr val="2D2261"/>
                </a:solidFill>
                <a:latin typeface="Red Hat Display"/>
                <a:ea typeface="Red Hat Display"/>
                <a:cs typeface="Red Hat Display"/>
                <a:sym typeface="Red Hat Display"/>
              </a:rPr>
              <a:t>Mỗi dòng dữ liệu đại diện cho tình trạng của một con bò trong một ngày.</a:t>
            </a:r>
          </a:p>
          <a:p>
            <a:pPr algn="ctr">
              <a:lnSpc>
                <a:spcPts val="3676"/>
              </a:lnSpc>
            </a:pPr>
            <a:r>
              <a:rPr lang="en-US" sz="2625">
                <a:solidFill>
                  <a:srgbClr val="2D2261"/>
                </a:solidFill>
                <a:latin typeface="Red Hat Display"/>
                <a:ea typeface="Red Hat Display"/>
                <a:cs typeface="Red Hat Display"/>
                <a:sym typeface="Red Hat Display"/>
              </a:rPr>
              <a:t>Dataset được sử dụng trong nghiên cứu có khoảng 6000 bản ghi dữ liệu, đủ để thực hiện các phương pháp phân tích dữ liệu.</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TextBox 2" id="2"/>
          <p:cNvSpPr txBox="true"/>
          <p:nvPr/>
        </p:nvSpPr>
        <p:spPr>
          <a:xfrm rot="0">
            <a:off x="4264475" y="952500"/>
            <a:ext cx="9759051" cy="728158"/>
          </a:xfrm>
          <a:prstGeom prst="rect">
            <a:avLst/>
          </a:prstGeom>
        </p:spPr>
        <p:txBody>
          <a:bodyPr anchor="t" rtlCol="false" tIns="0" lIns="0" bIns="0" rIns="0">
            <a:spAutoFit/>
          </a:bodyPr>
          <a:lstStyle/>
          <a:p>
            <a:pPr algn="ctr">
              <a:lnSpc>
                <a:spcPts val="6065"/>
              </a:lnSpc>
            </a:pPr>
            <a:r>
              <a:rPr lang="en-US" b="true" sz="4332">
                <a:solidFill>
                  <a:srgbClr val="2D2261"/>
                </a:solidFill>
                <a:latin typeface="Red Hat Display Bold"/>
                <a:ea typeface="Red Hat Display Bold"/>
                <a:cs typeface="Red Hat Display Bold"/>
                <a:sym typeface="Red Hat Display Bold"/>
              </a:rPr>
              <a:t>9. Tiền xử lý dữ liệu</a:t>
            </a:r>
          </a:p>
        </p:txBody>
      </p:sp>
      <p:grpSp>
        <p:nvGrpSpPr>
          <p:cNvPr name="Group 3" id="3"/>
          <p:cNvGrpSpPr/>
          <p:nvPr/>
        </p:nvGrpSpPr>
        <p:grpSpPr>
          <a:xfrm rot="0">
            <a:off x="3182552" y="4910833"/>
            <a:ext cx="4019497" cy="4247258"/>
            <a:chOff x="0" y="0"/>
            <a:chExt cx="921610" cy="973832"/>
          </a:xfrm>
        </p:grpSpPr>
        <p:sp>
          <p:nvSpPr>
            <p:cNvPr name="Freeform 4" id="4"/>
            <p:cNvSpPr/>
            <p:nvPr/>
          </p:nvSpPr>
          <p:spPr>
            <a:xfrm flipH="false" flipV="false" rot="0">
              <a:off x="0" y="0"/>
              <a:ext cx="921610" cy="973832"/>
            </a:xfrm>
            <a:custGeom>
              <a:avLst/>
              <a:gdLst/>
              <a:ahLst/>
              <a:cxnLst/>
              <a:rect r="r" b="b" t="t" l="l"/>
              <a:pathLst>
                <a:path h="973832" w="921610">
                  <a:moveTo>
                    <a:pt x="57783" y="0"/>
                  </a:moveTo>
                  <a:lnTo>
                    <a:pt x="863827" y="0"/>
                  </a:lnTo>
                  <a:cubicBezTo>
                    <a:pt x="879152" y="0"/>
                    <a:pt x="893849" y="6088"/>
                    <a:pt x="904686" y="16924"/>
                  </a:cubicBezTo>
                  <a:cubicBezTo>
                    <a:pt x="915522" y="27761"/>
                    <a:pt x="921610" y="42458"/>
                    <a:pt x="921610" y="57783"/>
                  </a:cubicBezTo>
                  <a:lnTo>
                    <a:pt x="921610" y="916049"/>
                  </a:lnTo>
                  <a:cubicBezTo>
                    <a:pt x="921610" y="931374"/>
                    <a:pt x="915522" y="946071"/>
                    <a:pt x="904686" y="956908"/>
                  </a:cubicBezTo>
                  <a:cubicBezTo>
                    <a:pt x="893849" y="967744"/>
                    <a:pt x="879152" y="973832"/>
                    <a:pt x="863827" y="973832"/>
                  </a:cubicBezTo>
                  <a:lnTo>
                    <a:pt x="57783" y="973832"/>
                  </a:lnTo>
                  <a:cubicBezTo>
                    <a:pt x="42458" y="973832"/>
                    <a:pt x="27761" y="967744"/>
                    <a:pt x="16924" y="956908"/>
                  </a:cubicBezTo>
                  <a:cubicBezTo>
                    <a:pt x="6088" y="946071"/>
                    <a:pt x="0" y="931374"/>
                    <a:pt x="0" y="916049"/>
                  </a:cubicBezTo>
                  <a:lnTo>
                    <a:pt x="0" y="57783"/>
                  </a:lnTo>
                  <a:cubicBezTo>
                    <a:pt x="0" y="42458"/>
                    <a:pt x="6088" y="27761"/>
                    <a:pt x="16924" y="16924"/>
                  </a:cubicBezTo>
                  <a:cubicBezTo>
                    <a:pt x="27761" y="6088"/>
                    <a:pt x="42458" y="0"/>
                    <a:pt x="57783" y="0"/>
                  </a:cubicBezTo>
                  <a:close/>
                </a:path>
              </a:pathLst>
            </a:custGeom>
            <a:solidFill>
              <a:srgbClr val="ECE1D7"/>
            </a:solidFill>
          </p:spPr>
        </p:sp>
        <p:sp>
          <p:nvSpPr>
            <p:cNvPr name="TextBox 5" id="5"/>
            <p:cNvSpPr txBox="true"/>
            <p:nvPr/>
          </p:nvSpPr>
          <p:spPr>
            <a:xfrm>
              <a:off x="0" y="-47625"/>
              <a:ext cx="921610" cy="1021457"/>
            </a:xfrm>
            <a:prstGeom prst="rect">
              <a:avLst/>
            </a:prstGeom>
          </p:spPr>
          <p:txBody>
            <a:bodyPr anchor="ctr" rtlCol="false" tIns="50800" lIns="50800" bIns="50800" rIns="50800"/>
            <a:lstStyle/>
            <a:p>
              <a:pPr algn="ctr">
                <a:lnSpc>
                  <a:spcPts val="3032"/>
                </a:lnSpc>
              </a:pPr>
            </a:p>
          </p:txBody>
        </p:sp>
      </p:grpSp>
      <p:grpSp>
        <p:nvGrpSpPr>
          <p:cNvPr name="Group 6" id="6"/>
          <p:cNvGrpSpPr/>
          <p:nvPr/>
        </p:nvGrpSpPr>
        <p:grpSpPr>
          <a:xfrm rot="0">
            <a:off x="3182552" y="3838648"/>
            <a:ext cx="4019497" cy="2144370"/>
            <a:chOff x="0" y="0"/>
            <a:chExt cx="921610" cy="491672"/>
          </a:xfrm>
        </p:grpSpPr>
        <p:sp>
          <p:nvSpPr>
            <p:cNvPr name="Freeform 7" id="7"/>
            <p:cNvSpPr/>
            <p:nvPr/>
          </p:nvSpPr>
          <p:spPr>
            <a:xfrm flipH="false" flipV="false" rot="0">
              <a:off x="0" y="0"/>
              <a:ext cx="921610" cy="491672"/>
            </a:xfrm>
            <a:custGeom>
              <a:avLst/>
              <a:gdLst/>
              <a:ahLst/>
              <a:cxnLst/>
              <a:rect r="r" b="b" t="t" l="l"/>
              <a:pathLst>
                <a:path h="491672" w="921610">
                  <a:moveTo>
                    <a:pt x="57783" y="0"/>
                  </a:moveTo>
                  <a:lnTo>
                    <a:pt x="863827" y="0"/>
                  </a:lnTo>
                  <a:cubicBezTo>
                    <a:pt x="879152" y="0"/>
                    <a:pt x="893849" y="6088"/>
                    <a:pt x="904686" y="16924"/>
                  </a:cubicBezTo>
                  <a:cubicBezTo>
                    <a:pt x="915522" y="27761"/>
                    <a:pt x="921610" y="42458"/>
                    <a:pt x="921610" y="57783"/>
                  </a:cubicBezTo>
                  <a:lnTo>
                    <a:pt x="921610" y="433889"/>
                  </a:lnTo>
                  <a:cubicBezTo>
                    <a:pt x="921610" y="449214"/>
                    <a:pt x="915522" y="463911"/>
                    <a:pt x="904686" y="474747"/>
                  </a:cubicBezTo>
                  <a:cubicBezTo>
                    <a:pt x="893849" y="485584"/>
                    <a:pt x="879152" y="491672"/>
                    <a:pt x="863827" y="491672"/>
                  </a:cubicBezTo>
                  <a:lnTo>
                    <a:pt x="57783" y="491672"/>
                  </a:lnTo>
                  <a:cubicBezTo>
                    <a:pt x="42458" y="491672"/>
                    <a:pt x="27761" y="485584"/>
                    <a:pt x="16924" y="474747"/>
                  </a:cubicBezTo>
                  <a:cubicBezTo>
                    <a:pt x="6088" y="463911"/>
                    <a:pt x="0" y="449214"/>
                    <a:pt x="0" y="433889"/>
                  </a:cubicBezTo>
                  <a:lnTo>
                    <a:pt x="0" y="57783"/>
                  </a:lnTo>
                  <a:cubicBezTo>
                    <a:pt x="0" y="42458"/>
                    <a:pt x="6088" y="27761"/>
                    <a:pt x="16924" y="16924"/>
                  </a:cubicBezTo>
                  <a:cubicBezTo>
                    <a:pt x="27761" y="6088"/>
                    <a:pt x="42458" y="0"/>
                    <a:pt x="57783" y="0"/>
                  </a:cubicBezTo>
                  <a:close/>
                </a:path>
              </a:pathLst>
            </a:custGeom>
            <a:solidFill>
              <a:srgbClr val="5B7ABE"/>
            </a:solidFill>
          </p:spPr>
        </p:sp>
        <p:sp>
          <p:nvSpPr>
            <p:cNvPr name="TextBox 8" id="8"/>
            <p:cNvSpPr txBox="true"/>
            <p:nvPr/>
          </p:nvSpPr>
          <p:spPr>
            <a:xfrm>
              <a:off x="0" y="-47625"/>
              <a:ext cx="921610" cy="539297"/>
            </a:xfrm>
            <a:prstGeom prst="rect">
              <a:avLst/>
            </a:prstGeom>
          </p:spPr>
          <p:txBody>
            <a:bodyPr anchor="ctr" rtlCol="false" tIns="50800" lIns="50800" bIns="50800" rIns="50800"/>
            <a:lstStyle/>
            <a:p>
              <a:pPr algn="ctr">
                <a:lnSpc>
                  <a:spcPts val="3032"/>
                </a:lnSpc>
              </a:pPr>
            </a:p>
          </p:txBody>
        </p:sp>
      </p:grpSp>
      <p:sp>
        <p:nvSpPr>
          <p:cNvPr name="TextBox 9" id="9"/>
          <p:cNvSpPr txBox="true"/>
          <p:nvPr/>
        </p:nvSpPr>
        <p:spPr>
          <a:xfrm rot="0">
            <a:off x="3741331" y="4692488"/>
            <a:ext cx="2901939" cy="459013"/>
          </a:xfrm>
          <a:prstGeom prst="rect">
            <a:avLst/>
          </a:prstGeom>
        </p:spPr>
        <p:txBody>
          <a:bodyPr anchor="t" rtlCol="false" tIns="0" lIns="0" bIns="0" rIns="0">
            <a:spAutoFit/>
          </a:bodyPr>
          <a:lstStyle/>
          <a:p>
            <a:pPr algn="ctr">
              <a:lnSpc>
                <a:spcPts val="3859"/>
              </a:lnSpc>
            </a:pPr>
            <a:r>
              <a:rPr lang="en-US" b="true" sz="2756">
                <a:solidFill>
                  <a:srgbClr val="FBFCFE"/>
                </a:solidFill>
                <a:latin typeface="Red Hat Display Bold"/>
                <a:ea typeface="Red Hat Display Bold"/>
                <a:cs typeface="Red Hat Display Bold"/>
                <a:sym typeface="Red Hat Display Bold"/>
              </a:rPr>
              <a:t>Làm sạch dữ liệu</a:t>
            </a:r>
          </a:p>
        </p:txBody>
      </p:sp>
      <p:sp>
        <p:nvSpPr>
          <p:cNvPr name="TextBox 10" id="10"/>
          <p:cNvSpPr txBox="true"/>
          <p:nvPr/>
        </p:nvSpPr>
        <p:spPr>
          <a:xfrm rot="0">
            <a:off x="3182552" y="6996361"/>
            <a:ext cx="3925175" cy="1654363"/>
          </a:xfrm>
          <a:prstGeom prst="rect">
            <a:avLst/>
          </a:prstGeom>
        </p:spPr>
        <p:txBody>
          <a:bodyPr anchor="t" rtlCol="false" tIns="0" lIns="0" bIns="0" rIns="0">
            <a:spAutoFit/>
          </a:bodyPr>
          <a:lstStyle/>
          <a:p>
            <a:pPr algn="l" marL="511166" indent="-255583" lvl="1">
              <a:lnSpc>
                <a:spcPts val="3314"/>
              </a:lnSpc>
              <a:buFont typeface="Arial"/>
              <a:buChar char="•"/>
            </a:pPr>
            <a:r>
              <a:rPr lang="en-US" sz="2367">
                <a:solidFill>
                  <a:srgbClr val="2D2261"/>
                </a:solidFill>
                <a:latin typeface="Red Hat Display"/>
                <a:ea typeface="Red Hat Display"/>
                <a:cs typeface="Red Hat Display"/>
                <a:sym typeface="Red Hat Display"/>
              </a:rPr>
              <a:t>kiểm tra giá trị thiếu</a:t>
            </a:r>
          </a:p>
          <a:p>
            <a:pPr algn="l" marL="511166" indent="-255583" lvl="1">
              <a:lnSpc>
                <a:spcPts val="3314"/>
              </a:lnSpc>
              <a:buFont typeface="Arial"/>
              <a:buChar char="•"/>
            </a:pPr>
            <a:r>
              <a:rPr lang="en-US" sz="2367">
                <a:solidFill>
                  <a:srgbClr val="2D2261"/>
                </a:solidFill>
                <a:latin typeface="Red Hat Display"/>
                <a:ea typeface="Red Hat Display"/>
                <a:cs typeface="Red Hat Display"/>
                <a:sym typeface="Red Hat Display"/>
              </a:rPr>
              <a:t>loại bỏ dữ liệu sai hoặc không hợp lệ</a:t>
            </a:r>
          </a:p>
          <a:p>
            <a:pPr algn="l">
              <a:lnSpc>
                <a:spcPts val="3314"/>
              </a:lnSpc>
            </a:pPr>
          </a:p>
        </p:txBody>
      </p:sp>
      <p:grpSp>
        <p:nvGrpSpPr>
          <p:cNvPr name="Group 11" id="11"/>
          <p:cNvGrpSpPr/>
          <p:nvPr/>
        </p:nvGrpSpPr>
        <p:grpSpPr>
          <a:xfrm rot="0">
            <a:off x="7627974" y="4910833"/>
            <a:ext cx="4019497" cy="4539231"/>
            <a:chOff x="0" y="0"/>
            <a:chExt cx="921610" cy="1040777"/>
          </a:xfrm>
        </p:grpSpPr>
        <p:sp>
          <p:nvSpPr>
            <p:cNvPr name="Freeform 12" id="12"/>
            <p:cNvSpPr/>
            <p:nvPr/>
          </p:nvSpPr>
          <p:spPr>
            <a:xfrm flipH="false" flipV="false" rot="0">
              <a:off x="0" y="0"/>
              <a:ext cx="921610" cy="1040777"/>
            </a:xfrm>
            <a:custGeom>
              <a:avLst/>
              <a:gdLst/>
              <a:ahLst/>
              <a:cxnLst/>
              <a:rect r="r" b="b" t="t" l="l"/>
              <a:pathLst>
                <a:path h="1040777" w="921610">
                  <a:moveTo>
                    <a:pt x="57783" y="0"/>
                  </a:moveTo>
                  <a:lnTo>
                    <a:pt x="863827" y="0"/>
                  </a:lnTo>
                  <a:cubicBezTo>
                    <a:pt x="879152" y="0"/>
                    <a:pt x="893849" y="6088"/>
                    <a:pt x="904686" y="16924"/>
                  </a:cubicBezTo>
                  <a:cubicBezTo>
                    <a:pt x="915522" y="27761"/>
                    <a:pt x="921610" y="42458"/>
                    <a:pt x="921610" y="57783"/>
                  </a:cubicBezTo>
                  <a:lnTo>
                    <a:pt x="921610" y="982994"/>
                  </a:lnTo>
                  <a:cubicBezTo>
                    <a:pt x="921610" y="998319"/>
                    <a:pt x="915522" y="1013016"/>
                    <a:pt x="904686" y="1023853"/>
                  </a:cubicBezTo>
                  <a:cubicBezTo>
                    <a:pt x="893849" y="1034689"/>
                    <a:pt x="879152" y="1040777"/>
                    <a:pt x="863827" y="1040777"/>
                  </a:cubicBezTo>
                  <a:lnTo>
                    <a:pt x="57783" y="1040777"/>
                  </a:lnTo>
                  <a:cubicBezTo>
                    <a:pt x="42458" y="1040777"/>
                    <a:pt x="27761" y="1034689"/>
                    <a:pt x="16924" y="1023853"/>
                  </a:cubicBezTo>
                  <a:cubicBezTo>
                    <a:pt x="6088" y="1013016"/>
                    <a:pt x="0" y="998319"/>
                    <a:pt x="0" y="982994"/>
                  </a:cubicBezTo>
                  <a:lnTo>
                    <a:pt x="0" y="57783"/>
                  </a:lnTo>
                  <a:cubicBezTo>
                    <a:pt x="0" y="42458"/>
                    <a:pt x="6088" y="27761"/>
                    <a:pt x="16924" y="16924"/>
                  </a:cubicBezTo>
                  <a:cubicBezTo>
                    <a:pt x="27761" y="6088"/>
                    <a:pt x="42458" y="0"/>
                    <a:pt x="57783" y="0"/>
                  </a:cubicBezTo>
                  <a:close/>
                </a:path>
              </a:pathLst>
            </a:custGeom>
            <a:solidFill>
              <a:srgbClr val="ECE1D7"/>
            </a:solidFill>
          </p:spPr>
        </p:sp>
        <p:sp>
          <p:nvSpPr>
            <p:cNvPr name="TextBox 13" id="13"/>
            <p:cNvSpPr txBox="true"/>
            <p:nvPr/>
          </p:nvSpPr>
          <p:spPr>
            <a:xfrm>
              <a:off x="0" y="-47625"/>
              <a:ext cx="921610" cy="1088402"/>
            </a:xfrm>
            <a:prstGeom prst="rect">
              <a:avLst/>
            </a:prstGeom>
          </p:spPr>
          <p:txBody>
            <a:bodyPr anchor="ctr" rtlCol="false" tIns="50800" lIns="50800" bIns="50800" rIns="50800"/>
            <a:lstStyle/>
            <a:p>
              <a:pPr algn="ctr">
                <a:lnSpc>
                  <a:spcPts val="3032"/>
                </a:lnSpc>
              </a:pPr>
            </a:p>
          </p:txBody>
        </p:sp>
      </p:grpSp>
      <p:grpSp>
        <p:nvGrpSpPr>
          <p:cNvPr name="Group 14" id="14"/>
          <p:cNvGrpSpPr/>
          <p:nvPr/>
        </p:nvGrpSpPr>
        <p:grpSpPr>
          <a:xfrm rot="0">
            <a:off x="7627974" y="3838648"/>
            <a:ext cx="4019497" cy="2144370"/>
            <a:chOff x="0" y="0"/>
            <a:chExt cx="921610" cy="491672"/>
          </a:xfrm>
        </p:grpSpPr>
        <p:sp>
          <p:nvSpPr>
            <p:cNvPr name="Freeform 15" id="15"/>
            <p:cNvSpPr/>
            <p:nvPr/>
          </p:nvSpPr>
          <p:spPr>
            <a:xfrm flipH="false" flipV="false" rot="0">
              <a:off x="0" y="0"/>
              <a:ext cx="921610" cy="491672"/>
            </a:xfrm>
            <a:custGeom>
              <a:avLst/>
              <a:gdLst/>
              <a:ahLst/>
              <a:cxnLst/>
              <a:rect r="r" b="b" t="t" l="l"/>
              <a:pathLst>
                <a:path h="491672" w="921610">
                  <a:moveTo>
                    <a:pt x="57783" y="0"/>
                  </a:moveTo>
                  <a:lnTo>
                    <a:pt x="863827" y="0"/>
                  </a:lnTo>
                  <a:cubicBezTo>
                    <a:pt x="879152" y="0"/>
                    <a:pt x="893849" y="6088"/>
                    <a:pt x="904686" y="16924"/>
                  </a:cubicBezTo>
                  <a:cubicBezTo>
                    <a:pt x="915522" y="27761"/>
                    <a:pt x="921610" y="42458"/>
                    <a:pt x="921610" y="57783"/>
                  </a:cubicBezTo>
                  <a:lnTo>
                    <a:pt x="921610" y="433889"/>
                  </a:lnTo>
                  <a:cubicBezTo>
                    <a:pt x="921610" y="449214"/>
                    <a:pt x="915522" y="463911"/>
                    <a:pt x="904686" y="474747"/>
                  </a:cubicBezTo>
                  <a:cubicBezTo>
                    <a:pt x="893849" y="485584"/>
                    <a:pt x="879152" y="491672"/>
                    <a:pt x="863827" y="491672"/>
                  </a:cubicBezTo>
                  <a:lnTo>
                    <a:pt x="57783" y="491672"/>
                  </a:lnTo>
                  <a:cubicBezTo>
                    <a:pt x="42458" y="491672"/>
                    <a:pt x="27761" y="485584"/>
                    <a:pt x="16924" y="474747"/>
                  </a:cubicBezTo>
                  <a:cubicBezTo>
                    <a:pt x="6088" y="463911"/>
                    <a:pt x="0" y="449214"/>
                    <a:pt x="0" y="433889"/>
                  </a:cubicBezTo>
                  <a:lnTo>
                    <a:pt x="0" y="57783"/>
                  </a:lnTo>
                  <a:cubicBezTo>
                    <a:pt x="0" y="42458"/>
                    <a:pt x="6088" y="27761"/>
                    <a:pt x="16924" y="16924"/>
                  </a:cubicBezTo>
                  <a:cubicBezTo>
                    <a:pt x="27761" y="6088"/>
                    <a:pt x="42458" y="0"/>
                    <a:pt x="57783" y="0"/>
                  </a:cubicBezTo>
                  <a:close/>
                </a:path>
              </a:pathLst>
            </a:custGeom>
            <a:solidFill>
              <a:srgbClr val="5B7ABE"/>
            </a:solidFill>
          </p:spPr>
        </p:sp>
        <p:sp>
          <p:nvSpPr>
            <p:cNvPr name="TextBox 16" id="16"/>
            <p:cNvSpPr txBox="true"/>
            <p:nvPr/>
          </p:nvSpPr>
          <p:spPr>
            <a:xfrm>
              <a:off x="0" y="-47625"/>
              <a:ext cx="921610" cy="539297"/>
            </a:xfrm>
            <a:prstGeom prst="rect">
              <a:avLst/>
            </a:prstGeom>
          </p:spPr>
          <p:txBody>
            <a:bodyPr anchor="ctr" rtlCol="false" tIns="50800" lIns="50800" bIns="50800" rIns="50800"/>
            <a:lstStyle/>
            <a:p>
              <a:pPr algn="ctr">
                <a:lnSpc>
                  <a:spcPts val="3032"/>
                </a:lnSpc>
              </a:pPr>
            </a:p>
          </p:txBody>
        </p:sp>
      </p:grpSp>
      <p:sp>
        <p:nvSpPr>
          <p:cNvPr name="TextBox 17" id="17"/>
          <p:cNvSpPr txBox="true"/>
          <p:nvPr/>
        </p:nvSpPr>
        <p:spPr>
          <a:xfrm rot="0">
            <a:off x="8067291" y="4708737"/>
            <a:ext cx="3140863" cy="459013"/>
          </a:xfrm>
          <a:prstGeom prst="rect">
            <a:avLst/>
          </a:prstGeom>
        </p:spPr>
        <p:txBody>
          <a:bodyPr anchor="t" rtlCol="false" tIns="0" lIns="0" bIns="0" rIns="0">
            <a:spAutoFit/>
          </a:bodyPr>
          <a:lstStyle/>
          <a:p>
            <a:pPr algn="ctr">
              <a:lnSpc>
                <a:spcPts val="3859"/>
              </a:lnSpc>
            </a:pPr>
            <a:r>
              <a:rPr lang="en-US" b="true" sz="2756">
                <a:solidFill>
                  <a:srgbClr val="FBFCFE"/>
                </a:solidFill>
                <a:latin typeface="Red Hat Display Bold"/>
                <a:ea typeface="Red Hat Display Bold"/>
                <a:cs typeface="Red Hat Display Bold"/>
                <a:sym typeface="Red Hat Display Bold"/>
              </a:rPr>
              <a:t>Chuẩn hóa dữ liệu</a:t>
            </a:r>
          </a:p>
        </p:txBody>
      </p:sp>
      <p:sp>
        <p:nvSpPr>
          <p:cNvPr name="TextBox 18" id="18"/>
          <p:cNvSpPr txBox="true"/>
          <p:nvPr/>
        </p:nvSpPr>
        <p:spPr>
          <a:xfrm rot="0">
            <a:off x="7686368" y="5991140"/>
            <a:ext cx="3902708" cy="3664805"/>
          </a:xfrm>
          <a:prstGeom prst="rect">
            <a:avLst/>
          </a:prstGeom>
        </p:spPr>
        <p:txBody>
          <a:bodyPr anchor="t" rtlCol="false" tIns="0" lIns="0" bIns="0" rIns="0">
            <a:spAutoFit/>
          </a:bodyPr>
          <a:lstStyle/>
          <a:p>
            <a:pPr algn="l">
              <a:lnSpc>
                <a:spcPts val="3277"/>
              </a:lnSpc>
            </a:pPr>
            <a:r>
              <a:rPr lang="en-US" sz="2341">
                <a:solidFill>
                  <a:srgbClr val="2D2261"/>
                </a:solidFill>
                <a:latin typeface="Red Hat Display"/>
                <a:ea typeface="Red Hat Display"/>
                <a:cs typeface="Red Hat Display"/>
                <a:sym typeface="Red Hat Display"/>
              </a:rPr>
              <a:t>Chuẩn hóa các giá trị để đảm bảo dữ liệu có cùng đơn vị đo.</a:t>
            </a:r>
          </a:p>
          <a:p>
            <a:pPr algn="l">
              <a:lnSpc>
                <a:spcPts val="3277"/>
              </a:lnSpc>
            </a:pPr>
            <a:r>
              <a:rPr lang="en-US" sz="2341">
                <a:solidFill>
                  <a:srgbClr val="2D2261"/>
                </a:solidFill>
                <a:latin typeface="Red Hat Display"/>
                <a:ea typeface="Red Hat Display"/>
                <a:cs typeface="Red Hat Display"/>
                <a:sym typeface="Red Hat Display"/>
              </a:rPr>
              <a:t>Ví dụ:</a:t>
            </a:r>
          </a:p>
          <a:p>
            <a:pPr algn="l" marL="505491" indent="-252745" lvl="1">
              <a:lnSpc>
                <a:spcPts val="3277"/>
              </a:lnSpc>
              <a:buFont typeface="Arial"/>
              <a:buChar char="•"/>
            </a:pPr>
            <a:r>
              <a:rPr lang="en-US" sz="2341">
                <a:solidFill>
                  <a:srgbClr val="2D2261"/>
                </a:solidFill>
                <a:latin typeface="Red Hat Display"/>
                <a:ea typeface="Red Hat Display"/>
                <a:cs typeface="Red Hat Display"/>
                <a:sym typeface="Red Hat Display"/>
              </a:rPr>
              <a:t>nhiệt độ cơ thể tính bằng °C</a:t>
            </a:r>
          </a:p>
          <a:p>
            <a:pPr algn="l" marL="505491" indent="-252745" lvl="1">
              <a:lnSpc>
                <a:spcPts val="3277"/>
              </a:lnSpc>
              <a:buFont typeface="Arial"/>
              <a:buChar char="•"/>
            </a:pPr>
            <a:r>
              <a:rPr lang="en-US" sz="2341">
                <a:solidFill>
                  <a:srgbClr val="2D2261"/>
                </a:solidFill>
                <a:latin typeface="Red Hat Display"/>
                <a:ea typeface="Red Hat Display"/>
                <a:cs typeface="Red Hat Display"/>
                <a:sym typeface="Red Hat Display"/>
              </a:rPr>
              <a:t>sản lượng sữa tính bằng kg/ngày</a:t>
            </a:r>
          </a:p>
          <a:p>
            <a:pPr algn="l">
              <a:lnSpc>
                <a:spcPts val="3277"/>
              </a:lnSpc>
            </a:pPr>
          </a:p>
        </p:txBody>
      </p:sp>
      <p:grpSp>
        <p:nvGrpSpPr>
          <p:cNvPr name="Group 19" id="19"/>
          <p:cNvGrpSpPr/>
          <p:nvPr/>
        </p:nvGrpSpPr>
        <p:grpSpPr>
          <a:xfrm rot="0">
            <a:off x="12073396" y="4910833"/>
            <a:ext cx="4019497" cy="4247258"/>
            <a:chOff x="0" y="0"/>
            <a:chExt cx="921610" cy="973832"/>
          </a:xfrm>
        </p:grpSpPr>
        <p:sp>
          <p:nvSpPr>
            <p:cNvPr name="Freeform 20" id="20"/>
            <p:cNvSpPr/>
            <p:nvPr/>
          </p:nvSpPr>
          <p:spPr>
            <a:xfrm flipH="false" flipV="false" rot="0">
              <a:off x="0" y="0"/>
              <a:ext cx="921610" cy="973832"/>
            </a:xfrm>
            <a:custGeom>
              <a:avLst/>
              <a:gdLst/>
              <a:ahLst/>
              <a:cxnLst/>
              <a:rect r="r" b="b" t="t" l="l"/>
              <a:pathLst>
                <a:path h="973832" w="921610">
                  <a:moveTo>
                    <a:pt x="57783" y="0"/>
                  </a:moveTo>
                  <a:lnTo>
                    <a:pt x="863827" y="0"/>
                  </a:lnTo>
                  <a:cubicBezTo>
                    <a:pt x="879152" y="0"/>
                    <a:pt x="893849" y="6088"/>
                    <a:pt x="904686" y="16924"/>
                  </a:cubicBezTo>
                  <a:cubicBezTo>
                    <a:pt x="915522" y="27761"/>
                    <a:pt x="921610" y="42458"/>
                    <a:pt x="921610" y="57783"/>
                  </a:cubicBezTo>
                  <a:lnTo>
                    <a:pt x="921610" y="916049"/>
                  </a:lnTo>
                  <a:cubicBezTo>
                    <a:pt x="921610" y="931374"/>
                    <a:pt x="915522" y="946071"/>
                    <a:pt x="904686" y="956908"/>
                  </a:cubicBezTo>
                  <a:cubicBezTo>
                    <a:pt x="893849" y="967744"/>
                    <a:pt x="879152" y="973832"/>
                    <a:pt x="863827" y="973832"/>
                  </a:cubicBezTo>
                  <a:lnTo>
                    <a:pt x="57783" y="973832"/>
                  </a:lnTo>
                  <a:cubicBezTo>
                    <a:pt x="42458" y="973832"/>
                    <a:pt x="27761" y="967744"/>
                    <a:pt x="16924" y="956908"/>
                  </a:cubicBezTo>
                  <a:cubicBezTo>
                    <a:pt x="6088" y="946071"/>
                    <a:pt x="0" y="931374"/>
                    <a:pt x="0" y="916049"/>
                  </a:cubicBezTo>
                  <a:lnTo>
                    <a:pt x="0" y="57783"/>
                  </a:lnTo>
                  <a:cubicBezTo>
                    <a:pt x="0" y="42458"/>
                    <a:pt x="6088" y="27761"/>
                    <a:pt x="16924" y="16924"/>
                  </a:cubicBezTo>
                  <a:cubicBezTo>
                    <a:pt x="27761" y="6088"/>
                    <a:pt x="42458" y="0"/>
                    <a:pt x="57783" y="0"/>
                  </a:cubicBezTo>
                  <a:close/>
                </a:path>
              </a:pathLst>
            </a:custGeom>
            <a:solidFill>
              <a:srgbClr val="ECE1D7"/>
            </a:solidFill>
          </p:spPr>
        </p:sp>
        <p:sp>
          <p:nvSpPr>
            <p:cNvPr name="TextBox 21" id="21"/>
            <p:cNvSpPr txBox="true"/>
            <p:nvPr/>
          </p:nvSpPr>
          <p:spPr>
            <a:xfrm>
              <a:off x="0" y="-47625"/>
              <a:ext cx="921610" cy="1021457"/>
            </a:xfrm>
            <a:prstGeom prst="rect">
              <a:avLst/>
            </a:prstGeom>
          </p:spPr>
          <p:txBody>
            <a:bodyPr anchor="ctr" rtlCol="false" tIns="50800" lIns="50800" bIns="50800" rIns="50800"/>
            <a:lstStyle/>
            <a:p>
              <a:pPr algn="ctr">
                <a:lnSpc>
                  <a:spcPts val="3032"/>
                </a:lnSpc>
              </a:pPr>
            </a:p>
          </p:txBody>
        </p:sp>
      </p:grpSp>
      <p:grpSp>
        <p:nvGrpSpPr>
          <p:cNvPr name="Group 22" id="22"/>
          <p:cNvGrpSpPr/>
          <p:nvPr/>
        </p:nvGrpSpPr>
        <p:grpSpPr>
          <a:xfrm rot="0">
            <a:off x="12073396" y="3838648"/>
            <a:ext cx="4019497" cy="2144370"/>
            <a:chOff x="0" y="0"/>
            <a:chExt cx="921610" cy="491672"/>
          </a:xfrm>
        </p:grpSpPr>
        <p:sp>
          <p:nvSpPr>
            <p:cNvPr name="Freeform 23" id="23"/>
            <p:cNvSpPr/>
            <p:nvPr/>
          </p:nvSpPr>
          <p:spPr>
            <a:xfrm flipH="false" flipV="false" rot="0">
              <a:off x="0" y="0"/>
              <a:ext cx="921610" cy="491672"/>
            </a:xfrm>
            <a:custGeom>
              <a:avLst/>
              <a:gdLst/>
              <a:ahLst/>
              <a:cxnLst/>
              <a:rect r="r" b="b" t="t" l="l"/>
              <a:pathLst>
                <a:path h="491672" w="921610">
                  <a:moveTo>
                    <a:pt x="57783" y="0"/>
                  </a:moveTo>
                  <a:lnTo>
                    <a:pt x="863827" y="0"/>
                  </a:lnTo>
                  <a:cubicBezTo>
                    <a:pt x="879152" y="0"/>
                    <a:pt x="893849" y="6088"/>
                    <a:pt x="904686" y="16924"/>
                  </a:cubicBezTo>
                  <a:cubicBezTo>
                    <a:pt x="915522" y="27761"/>
                    <a:pt x="921610" y="42458"/>
                    <a:pt x="921610" y="57783"/>
                  </a:cubicBezTo>
                  <a:lnTo>
                    <a:pt x="921610" y="433889"/>
                  </a:lnTo>
                  <a:cubicBezTo>
                    <a:pt x="921610" y="449214"/>
                    <a:pt x="915522" y="463911"/>
                    <a:pt x="904686" y="474747"/>
                  </a:cubicBezTo>
                  <a:cubicBezTo>
                    <a:pt x="893849" y="485584"/>
                    <a:pt x="879152" y="491672"/>
                    <a:pt x="863827" y="491672"/>
                  </a:cubicBezTo>
                  <a:lnTo>
                    <a:pt x="57783" y="491672"/>
                  </a:lnTo>
                  <a:cubicBezTo>
                    <a:pt x="42458" y="491672"/>
                    <a:pt x="27761" y="485584"/>
                    <a:pt x="16924" y="474747"/>
                  </a:cubicBezTo>
                  <a:cubicBezTo>
                    <a:pt x="6088" y="463911"/>
                    <a:pt x="0" y="449214"/>
                    <a:pt x="0" y="433889"/>
                  </a:cubicBezTo>
                  <a:lnTo>
                    <a:pt x="0" y="57783"/>
                  </a:lnTo>
                  <a:cubicBezTo>
                    <a:pt x="0" y="42458"/>
                    <a:pt x="6088" y="27761"/>
                    <a:pt x="16924" y="16924"/>
                  </a:cubicBezTo>
                  <a:cubicBezTo>
                    <a:pt x="27761" y="6088"/>
                    <a:pt x="42458" y="0"/>
                    <a:pt x="57783" y="0"/>
                  </a:cubicBezTo>
                  <a:close/>
                </a:path>
              </a:pathLst>
            </a:custGeom>
            <a:solidFill>
              <a:srgbClr val="5B7ABE"/>
            </a:solidFill>
          </p:spPr>
        </p:sp>
        <p:sp>
          <p:nvSpPr>
            <p:cNvPr name="TextBox 24" id="24"/>
            <p:cNvSpPr txBox="true"/>
            <p:nvPr/>
          </p:nvSpPr>
          <p:spPr>
            <a:xfrm>
              <a:off x="0" y="-47625"/>
              <a:ext cx="921610" cy="539297"/>
            </a:xfrm>
            <a:prstGeom prst="rect">
              <a:avLst/>
            </a:prstGeom>
          </p:spPr>
          <p:txBody>
            <a:bodyPr anchor="ctr" rtlCol="false" tIns="50800" lIns="50800" bIns="50800" rIns="50800"/>
            <a:lstStyle/>
            <a:p>
              <a:pPr algn="ctr">
                <a:lnSpc>
                  <a:spcPts val="3032"/>
                </a:lnSpc>
              </a:pPr>
            </a:p>
          </p:txBody>
        </p:sp>
      </p:grpSp>
      <p:sp>
        <p:nvSpPr>
          <p:cNvPr name="TextBox 25" id="25"/>
          <p:cNvSpPr txBox="true"/>
          <p:nvPr/>
        </p:nvSpPr>
        <p:spPr>
          <a:xfrm rot="0">
            <a:off x="12514246" y="4708737"/>
            <a:ext cx="3140863" cy="459013"/>
          </a:xfrm>
          <a:prstGeom prst="rect">
            <a:avLst/>
          </a:prstGeom>
        </p:spPr>
        <p:txBody>
          <a:bodyPr anchor="t" rtlCol="false" tIns="0" lIns="0" bIns="0" rIns="0">
            <a:spAutoFit/>
          </a:bodyPr>
          <a:lstStyle/>
          <a:p>
            <a:pPr algn="ctr">
              <a:lnSpc>
                <a:spcPts val="3859"/>
              </a:lnSpc>
            </a:pPr>
            <a:r>
              <a:rPr lang="en-US" b="true" sz="2756">
                <a:solidFill>
                  <a:srgbClr val="FBFCFE"/>
                </a:solidFill>
                <a:latin typeface="Red Hat Display Bold"/>
                <a:ea typeface="Red Hat Display Bold"/>
                <a:cs typeface="Red Hat Display Bold"/>
                <a:sym typeface="Red Hat Display Bold"/>
              </a:rPr>
              <a:t>Chuyển đổi dữ liệu</a:t>
            </a:r>
          </a:p>
        </p:txBody>
      </p:sp>
      <p:sp>
        <p:nvSpPr>
          <p:cNvPr name="TextBox 26" id="26"/>
          <p:cNvSpPr txBox="true"/>
          <p:nvPr/>
        </p:nvSpPr>
        <p:spPr>
          <a:xfrm rot="0">
            <a:off x="12073396" y="6172948"/>
            <a:ext cx="4019497" cy="2924998"/>
          </a:xfrm>
          <a:prstGeom prst="rect">
            <a:avLst/>
          </a:prstGeom>
        </p:spPr>
        <p:txBody>
          <a:bodyPr anchor="t" rtlCol="false" tIns="0" lIns="0" bIns="0" rIns="0">
            <a:spAutoFit/>
          </a:bodyPr>
          <a:lstStyle/>
          <a:p>
            <a:pPr algn="l">
              <a:lnSpc>
                <a:spcPts val="2894"/>
              </a:lnSpc>
            </a:pPr>
            <a:r>
              <a:rPr lang="en-US" sz="2067">
                <a:solidFill>
                  <a:srgbClr val="2D2261"/>
                </a:solidFill>
                <a:latin typeface="Red Hat Display"/>
                <a:ea typeface="Red Hat Display"/>
                <a:cs typeface="Red Hat Display"/>
                <a:sym typeface="Red Hat Display"/>
              </a:rPr>
              <a:t>Một số thuộc tính cần được chuyển đổi để thuận tiện cho việc phân tích, ví dụ:</a:t>
            </a:r>
          </a:p>
          <a:p>
            <a:pPr algn="l" marL="446398" indent="-223199" lvl="1">
              <a:lnSpc>
                <a:spcPts val="2894"/>
              </a:lnSpc>
              <a:buFont typeface="Arial"/>
              <a:buChar char="•"/>
            </a:pPr>
            <a:r>
              <a:rPr lang="en-US" sz="2067">
                <a:solidFill>
                  <a:srgbClr val="2D2261"/>
                </a:solidFill>
                <a:latin typeface="Red Hat Display"/>
                <a:ea typeface="Red Hat Display"/>
                <a:cs typeface="Red Hat Display"/>
                <a:sym typeface="Red Hat Display"/>
              </a:rPr>
              <a:t>chuyển cột ngày sang định dạng datetime</a:t>
            </a:r>
          </a:p>
          <a:p>
            <a:pPr algn="l" marL="446398" indent="-223199" lvl="1">
              <a:lnSpc>
                <a:spcPts val="2894"/>
              </a:lnSpc>
              <a:buFont typeface="Arial"/>
              <a:buChar char="•"/>
            </a:pPr>
            <a:r>
              <a:rPr lang="en-US" sz="2067">
                <a:solidFill>
                  <a:srgbClr val="2D2261"/>
                </a:solidFill>
                <a:latin typeface="Red Hat Display"/>
                <a:ea typeface="Red Hat Display"/>
                <a:cs typeface="Red Hat Display"/>
                <a:sym typeface="Red Hat Display"/>
              </a:rPr>
              <a:t>chuyển các giá trị số sang dạng số thực</a:t>
            </a:r>
          </a:p>
          <a:p>
            <a:pPr algn="l">
              <a:lnSpc>
                <a:spcPts val="3314"/>
              </a:lnSpc>
            </a:pPr>
          </a:p>
        </p:txBody>
      </p:sp>
      <p:sp>
        <p:nvSpPr>
          <p:cNvPr name="Freeform 27" id="27"/>
          <p:cNvSpPr/>
          <p:nvPr/>
        </p:nvSpPr>
        <p:spPr>
          <a:xfrm flipH="false" flipV="false" rot="-2080684">
            <a:off x="10082077" y="8242051"/>
            <a:ext cx="10960234" cy="7472887"/>
          </a:xfrm>
          <a:custGeom>
            <a:avLst/>
            <a:gdLst/>
            <a:ahLst/>
            <a:cxnLst/>
            <a:rect r="r" b="b" t="t" l="l"/>
            <a:pathLst>
              <a:path h="7472887" w="10960234">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28" id="28"/>
          <p:cNvSpPr/>
          <p:nvPr/>
        </p:nvSpPr>
        <p:spPr>
          <a:xfrm flipH="false" flipV="false" rot="9426524">
            <a:off x="-3984660" y="-4765086"/>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29" id="29"/>
          <p:cNvSpPr/>
          <p:nvPr/>
        </p:nvSpPr>
        <p:spPr>
          <a:xfrm flipH="false" flipV="false" rot="-2624874">
            <a:off x="-884948" y="9077955"/>
            <a:ext cx="3242701" cy="1827704"/>
          </a:xfrm>
          <a:custGeom>
            <a:avLst/>
            <a:gdLst/>
            <a:ahLst/>
            <a:cxnLst/>
            <a:rect r="r" b="b" t="t" l="l"/>
            <a:pathLst>
              <a:path h="1827704" w="3242701">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0" id="30"/>
          <p:cNvSpPr/>
          <p:nvPr/>
        </p:nvSpPr>
        <p:spPr>
          <a:xfrm flipH="false" flipV="false" rot="2830696">
            <a:off x="16075185" y="-10287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31" id="31"/>
          <p:cNvSpPr txBox="true"/>
          <p:nvPr/>
        </p:nvSpPr>
        <p:spPr>
          <a:xfrm rot="0">
            <a:off x="4264475" y="1623508"/>
            <a:ext cx="9759051" cy="1580327"/>
          </a:xfrm>
          <a:prstGeom prst="rect">
            <a:avLst/>
          </a:prstGeom>
        </p:spPr>
        <p:txBody>
          <a:bodyPr anchor="t" rtlCol="false" tIns="0" lIns="0" bIns="0" rIns="0">
            <a:spAutoFit/>
          </a:bodyPr>
          <a:lstStyle/>
          <a:p>
            <a:pPr algn="ctr">
              <a:lnSpc>
                <a:spcPts val="4245"/>
              </a:lnSpc>
            </a:pPr>
            <a:r>
              <a:rPr lang="en-US" sz="3032">
                <a:solidFill>
                  <a:srgbClr val="2D2261"/>
                </a:solidFill>
                <a:latin typeface="Red Hat Display"/>
                <a:ea typeface="Red Hat Display"/>
                <a:cs typeface="Red Hat Display"/>
                <a:sym typeface="Red Hat Display"/>
              </a:rPr>
              <a:t>Trước khi tiến hành phân tích, dữ liệu cần được tiền xử lý để đảm bảo tính chính xác và đồng nhất.</a:t>
            </a:r>
          </a:p>
          <a:p>
            <a:pPr algn="ctr">
              <a:lnSpc>
                <a:spcPts val="4245"/>
              </a:lnSpc>
            </a:pPr>
          </a:p>
        </p:txBody>
      </p:sp>
      <p:sp>
        <p:nvSpPr>
          <p:cNvPr name="TextBox 32" id="32"/>
          <p:cNvSpPr txBox="true"/>
          <p:nvPr/>
        </p:nvSpPr>
        <p:spPr>
          <a:xfrm rot="0">
            <a:off x="1581485" y="3032239"/>
            <a:ext cx="5365979" cy="513527"/>
          </a:xfrm>
          <a:prstGeom prst="rect">
            <a:avLst/>
          </a:prstGeom>
        </p:spPr>
        <p:txBody>
          <a:bodyPr anchor="t" rtlCol="false" tIns="0" lIns="0" bIns="0" rIns="0">
            <a:spAutoFit/>
          </a:bodyPr>
          <a:lstStyle/>
          <a:p>
            <a:pPr algn="ctr">
              <a:lnSpc>
                <a:spcPts val="4245"/>
              </a:lnSpc>
            </a:pPr>
            <a:r>
              <a:rPr lang="en-US" sz="3032" u="sng">
                <a:solidFill>
                  <a:srgbClr val="2D2261"/>
                </a:solidFill>
                <a:latin typeface="Red Hat Display"/>
                <a:ea typeface="Red Hat Display"/>
                <a:cs typeface="Red Hat Display"/>
                <a:sym typeface="Red Hat Display"/>
              </a:rPr>
              <a:t>Các bước tiền xử lý bao gồm:</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0">
            <a:off x="-4139221" y="2652879"/>
            <a:ext cx="4899276" cy="3623338"/>
          </a:xfrm>
          <a:custGeom>
            <a:avLst/>
            <a:gdLst/>
            <a:ahLst/>
            <a:cxnLst/>
            <a:rect r="r" b="b" t="t" l="l"/>
            <a:pathLst>
              <a:path h="3623338" w="4899276">
                <a:moveTo>
                  <a:pt x="0" y="0"/>
                </a:moveTo>
                <a:lnTo>
                  <a:pt x="4899276" y="0"/>
                </a:lnTo>
                <a:lnTo>
                  <a:pt x="4899276" y="3623338"/>
                </a:lnTo>
                <a:lnTo>
                  <a:pt x="0" y="36233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438347" y="3387278"/>
            <a:ext cx="6516516" cy="3493394"/>
          </a:xfrm>
          <a:prstGeom prst="rect">
            <a:avLst/>
          </a:prstGeom>
        </p:spPr>
        <p:txBody>
          <a:bodyPr anchor="t" rtlCol="false" tIns="0" lIns="0" bIns="0" rIns="0">
            <a:spAutoFit/>
          </a:bodyPr>
          <a:lstStyle/>
          <a:p>
            <a:pPr algn="l" marL="965613" indent="-482807" lvl="1">
              <a:lnSpc>
                <a:spcPts val="5563"/>
              </a:lnSpc>
              <a:buFont typeface="Arial"/>
              <a:buChar char="•"/>
            </a:pPr>
            <a:r>
              <a:rPr lang="en-US" b="true" sz="4472">
                <a:solidFill>
                  <a:srgbClr val="2D2261"/>
                </a:solidFill>
                <a:latin typeface="Red Hat Display Bold"/>
                <a:ea typeface="Red Hat Display Bold"/>
                <a:cs typeface="Red Hat Display Bold"/>
                <a:sym typeface="Red Hat Display Bold"/>
              </a:rPr>
              <a:t>giá trị trung bình</a:t>
            </a:r>
          </a:p>
          <a:p>
            <a:pPr algn="l" marL="965613" indent="-482807" lvl="1">
              <a:lnSpc>
                <a:spcPts val="5563"/>
              </a:lnSpc>
              <a:buFont typeface="Arial"/>
              <a:buChar char="•"/>
            </a:pPr>
            <a:r>
              <a:rPr lang="en-US" b="true" sz="4472">
                <a:solidFill>
                  <a:srgbClr val="2D2261"/>
                </a:solidFill>
                <a:latin typeface="Red Hat Display Bold"/>
                <a:ea typeface="Red Hat Display Bold"/>
                <a:cs typeface="Red Hat Display Bold"/>
                <a:sym typeface="Red Hat Display Bold"/>
              </a:rPr>
              <a:t>giá trị lớn nhất</a:t>
            </a:r>
          </a:p>
          <a:p>
            <a:pPr algn="l" marL="965613" indent="-482807" lvl="1">
              <a:lnSpc>
                <a:spcPts val="5563"/>
              </a:lnSpc>
              <a:buFont typeface="Arial"/>
              <a:buChar char="•"/>
            </a:pPr>
            <a:r>
              <a:rPr lang="en-US" b="true" sz="4472">
                <a:solidFill>
                  <a:srgbClr val="2D2261"/>
                </a:solidFill>
                <a:latin typeface="Red Hat Display Bold"/>
                <a:ea typeface="Red Hat Display Bold"/>
                <a:cs typeface="Red Hat Display Bold"/>
                <a:sym typeface="Red Hat Display Bold"/>
              </a:rPr>
              <a:t>giá trị nhỏ nhất</a:t>
            </a:r>
          </a:p>
          <a:p>
            <a:pPr algn="l" marL="965613" indent="-482807" lvl="1">
              <a:lnSpc>
                <a:spcPts val="5563"/>
              </a:lnSpc>
              <a:buFont typeface="Arial"/>
              <a:buChar char="•"/>
            </a:pPr>
            <a:r>
              <a:rPr lang="en-US" b="true" sz="4472">
                <a:solidFill>
                  <a:srgbClr val="2D2261"/>
                </a:solidFill>
                <a:latin typeface="Red Hat Display Bold"/>
                <a:ea typeface="Red Hat Display Bold"/>
                <a:cs typeface="Red Hat Display Bold"/>
                <a:sym typeface="Red Hat Display Bold"/>
              </a:rPr>
              <a:t>độ lệch chuẩn</a:t>
            </a:r>
          </a:p>
          <a:p>
            <a:pPr algn="l">
              <a:lnSpc>
                <a:spcPts val="5563"/>
              </a:lnSpc>
            </a:pPr>
          </a:p>
        </p:txBody>
      </p:sp>
      <p:sp>
        <p:nvSpPr>
          <p:cNvPr name="TextBox 4" id="4"/>
          <p:cNvSpPr txBox="true"/>
          <p:nvPr/>
        </p:nvSpPr>
        <p:spPr>
          <a:xfrm rot="0">
            <a:off x="1890811" y="1661310"/>
            <a:ext cx="14830521" cy="1916464"/>
          </a:xfrm>
          <a:prstGeom prst="rect">
            <a:avLst/>
          </a:prstGeom>
        </p:spPr>
        <p:txBody>
          <a:bodyPr anchor="t" rtlCol="false" tIns="0" lIns="0" bIns="0" rIns="0">
            <a:spAutoFit/>
          </a:bodyPr>
          <a:lstStyle/>
          <a:p>
            <a:pPr algn="l">
              <a:lnSpc>
                <a:spcPts val="5143"/>
              </a:lnSpc>
            </a:pPr>
            <a:r>
              <a:rPr lang="en-US" sz="3673">
                <a:solidFill>
                  <a:srgbClr val="5B7ABE"/>
                </a:solidFill>
                <a:latin typeface="Red Hat Display"/>
                <a:ea typeface="Red Hat Display"/>
                <a:cs typeface="Red Hat Display"/>
                <a:sym typeface="Red Hat Display"/>
              </a:rPr>
              <a:t>Phân tích dữ liệu mô tả giúp hiểu rõ đặc điểm chung của dataset.</a:t>
            </a:r>
          </a:p>
          <a:p>
            <a:pPr algn="l">
              <a:lnSpc>
                <a:spcPts val="5143"/>
              </a:lnSpc>
            </a:pPr>
            <a:r>
              <a:rPr lang="en-US" sz="3673">
                <a:solidFill>
                  <a:srgbClr val="5B7ABE"/>
                </a:solidFill>
                <a:latin typeface="Red Hat Display"/>
                <a:ea typeface="Red Hat Display"/>
                <a:cs typeface="Red Hat Display"/>
                <a:sym typeface="Red Hat Display"/>
              </a:rPr>
              <a:t>Một số chỉ số thống kê cơ bản được sử dụng trong phân tích bao gồm:</a:t>
            </a:r>
          </a:p>
          <a:p>
            <a:pPr algn="l">
              <a:lnSpc>
                <a:spcPts val="5143"/>
              </a:lnSpc>
            </a:pPr>
          </a:p>
        </p:txBody>
      </p:sp>
      <p:sp>
        <p:nvSpPr>
          <p:cNvPr name="TextBox 5" id="5"/>
          <p:cNvSpPr txBox="true"/>
          <p:nvPr/>
        </p:nvSpPr>
        <p:spPr>
          <a:xfrm rot="0">
            <a:off x="4031773" y="462839"/>
            <a:ext cx="10548596" cy="1798372"/>
          </a:xfrm>
          <a:prstGeom prst="rect">
            <a:avLst/>
          </a:prstGeom>
        </p:spPr>
        <p:txBody>
          <a:bodyPr anchor="t" rtlCol="false" tIns="0" lIns="0" bIns="0" rIns="0">
            <a:spAutoFit/>
          </a:bodyPr>
          <a:lstStyle/>
          <a:p>
            <a:pPr algn="l">
              <a:lnSpc>
                <a:spcPts val="7113"/>
              </a:lnSpc>
            </a:pPr>
            <a:r>
              <a:rPr lang="en-US" sz="5718" b="true">
                <a:solidFill>
                  <a:srgbClr val="2D2261"/>
                </a:solidFill>
                <a:latin typeface="Red Hat Display Bold"/>
                <a:ea typeface="Red Hat Display Bold"/>
                <a:cs typeface="Red Hat Display Bold"/>
                <a:sym typeface="Red Hat Display Bold"/>
              </a:rPr>
              <a:t>10. Phân tích dữ liệu mô tả</a:t>
            </a:r>
          </a:p>
          <a:p>
            <a:pPr algn="l">
              <a:lnSpc>
                <a:spcPts val="7113"/>
              </a:lnSpc>
            </a:pPr>
          </a:p>
        </p:txBody>
      </p:sp>
      <p:sp>
        <p:nvSpPr>
          <p:cNvPr name="Freeform 6" id="6"/>
          <p:cNvSpPr/>
          <p:nvPr/>
        </p:nvSpPr>
        <p:spPr>
          <a:xfrm flipH="false" flipV="false" rot="1026841">
            <a:off x="13266207" y="-2293406"/>
            <a:ext cx="6727323" cy="4586811"/>
          </a:xfrm>
          <a:custGeom>
            <a:avLst/>
            <a:gdLst/>
            <a:ahLst/>
            <a:cxnLst/>
            <a:rect r="r" b="b" t="t" l="l"/>
            <a:pathLst>
              <a:path h="4586811" w="6727323">
                <a:moveTo>
                  <a:pt x="0" y="0"/>
                </a:moveTo>
                <a:lnTo>
                  <a:pt x="6727323" y="0"/>
                </a:lnTo>
                <a:lnTo>
                  <a:pt x="6727323" y="4586812"/>
                </a:lnTo>
                <a:lnTo>
                  <a:pt x="0" y="4586812"/>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635325">
            <a:off x="-1442576" y="8071855"/>
            <a:ext cx="7907020" cy="6699403"/>
          </a:xfrm>
          <a:custGeom>
            <a:avLst/>
            <a:gdLst/>
            <a:ahLst/>
            <a:cxnLst/>
            <a:rect r="r" b="b" t="t" l="l"/>
            <a:pathLst>
              <a:path h="6699403" w="7907020">
                <a:moveTo>
                  <a:pt x="0" y="0"/>
                </a:moveTo>
                <a:lnTo>
                  <a:pt x="7907020" y="0"/>
                </a:lnTo>
                <a:lnTo>
                  <a:pt x="7907020" y="6699403"/>
                </a:lnTo>
                <a:lnTo>
                  <a:pt x="0" y="6699403"/>
                </a:lnTo>
                <a:lnTo>
                  <a:pt x="0" y="0"/>
                </a:lnTo>
                <a:close/>
              </a:path>
            </a:pathLst>
          </a:custGeom>
          <a:blipFill>
            <a:blip r:embed="rId6">
              <a:alphaModFix amt="50000"/>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226878">
            <a:off x="-3070488" y="-798226"/>
            <a:ext cx="4576141" cy="2579280"/>
          </a:xfrm>
          <a:custGeom>
            <a:avLst/>
            <a:gdLst/>
            <a:ahLst/>
            <a:cxnLst/>
            <a:rect r="r" b="b" t="t" l="l"/>
            <a:pathLst>
              <a:path h="2579280" w="4576141">
                <a:moveTo>
                  <a:pt x="0" y="0"/>
                </a:moveTo>
                <a:lnTo>
                  <a:pt x="4576142" y="0"/>
                </a:lnTo>
                <a:lnTo>
                  <a:pt x="4576142" y="2579280"/>
                </a:lnTo>
                <a:lnTo>
                  <a:pt x="0" y="25792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2830696">
            <a:off x="14939466" y="8144946"/>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0" id="10"/>
          <p:cNvSpPr txBox="true"/>
          <p:nvPr/>
        </p:nvSpPr>
        <p:spPr>
          <a:xfrm rot="0">
            <a:off x="8633155" y="5321071"/>
            <a:ext cx="8214202" cy="3937229"/>
          </a:xfrm>
          <a:prstGeom prst="rect">
            <a:avLst/>
          </a:prstGeom>
        </p:spPr>
        <p:txBody>
          <a:bodyPr anchor="t" rtlCol="false" tIns="0" lIns="0" bIns="0" rIns="0">
            <a:spAutoFit/>
          </a:bodyPr>
          <a:lstStyle/>
          <a:p>
            <a:pPr algn="just">
              <a:lnSpc>
                <a:spcPts val="3483"/>
              </a:lnSpc>
            </a:pPr>
            <a:r>
              <a:rPr lang="en-US" sz="2799" b="true">
                <a:solidFill>
                  <a:srgbClr val="2D2261"/>
                </a:solidFill>
                <a:latin typeface="Red Hat Display Bold"/>
                <a:ea typeface="Red Hat Display Bold"/>
                <a:cs typeface="Red Hat Display Bold"/>
                <a:sym typeface="Red Hat Display Bold"/>
              </a:rPr>
              <a:t>Ví dụ:</a:t>
            </a:r>
          </a:p>
          <a:p>
            <a:pPr algn="just">
              <a:lnSpc>
                <a:spcPts val="3483"/>
              </a:lnSpc>
            </a:pPr>
          </a:p>
          <a:p>
            <a:pPr algn="just" marL="604519" indent="-302260" lvl="1">
              <a:lnSpc>
                <a:spcPts val="3483"/>
              </a:lnSpc>
              <a:buFont typeface="Arial"/>
              <a:buChar char="•"/>
            </a:pPr>
            <a:r>
              <a:rPr lang="en-US" b="true" sz="2799">
                <a:solidFill>
                  <a:srgbClr val="2D2261"/>
                </a:solidFill>
                <a:latin typeface="Red Hat Display Bold"/>
                <a:ea typeface="Red Hat Display Bold"/>
                <a:cs typeface="Red Hat Display Bold"/>
                <a:sym typeface="Red Hat Display Bold"/>
              </a:rPr>
              <a:t>nhiệt độ trung bình của bò khoảng 38.5°C</a:t>
            </a:r>
          </a:p>
          <a:p>
            <a:pPr algn="just">
              <a:lnSpc>
                <a:spcPts val="3483"/>
              </a:lnSpc>
            </a:pPr>
          </a:p>
          <a:p>
            <a:pPr algn="just" marL="604519" indent="-302260" lvl="1">
              <a:lnSpc>
                <a:spcPts val="3483"/>
              </a:lnSpc>
              <a:buFont typeface="Arial"/>
              <a:buChar char="•"/>
            </a:pPr>
            <a:r>
              <a:rPr lang="en-US" b="true" sz="2799">
                <a:solidFill>
                  <a:srgbClr val="2D2261"/>
                </a:solidFill>
                <a:latin typeface="Red Hat Display Bold"/>
                <a:ea typeface="Red Hat Display Bold"/>
                <a:cs typeface="Red Hat Display Bold"/>
                <a:sym typeface="Red Hat Display Bold"/>
              </a:rPr>
              <a:t>sản lượng sữa trung bình khoảng 28 kg/ngày</a:t>
            </a:r>
          </a:p>
          <a:p>
            <a:pPr algn="just">
              <a:lnSpc>
                <a:spcPts val="3483"/>
              </a:lnSpc>
            </a:pPr>
          </a:p>
          <a:p>
            <a:pPr algn="just">
              <a:lnSpc>
                <a:spcPts val="3483"/>
              </a:lnSpc>
            </a:pPr>
            <a:r>
              <a:rPr lang="en-US" sz="2799" b="true">
                <a:solidFill>
                  <a:srgbClr val="2D2261"/>
                </a:solidFill>
                <a:latin typeface="Red Hat Display Bold"/>
                <a:ea typeface="Red Hat Display Bold"/>
                <a:cs typeface="Red Hat Display Bold"/>
                <a:sym typeface="Red Hat Display Bold"/>
              </a:rPr>
              <a:t>Các kết quả này giúp hiểu rõ tình trạng chung của đàn bò trong dataset.</a:t>
            </a:r>
          </a:p>
          <a:p>
            <a:pPr algn="just">
              <a:lnSpc>
                <a:spcPts val="3483"/>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0">
            <a:off x="13388724" y="8307667"/>
            <a:ext cx="4899276" cy="3623338"/>
          </a:xfrm>
          <a:custGeom>
            <a:avLst/>
            <a:gdLst/>
            <a:ahLst/>
            <a:cxnLst/>
            <a:rect r="r" b="b" t="t" l="l"/>
            <a:pathLst>
              <a:path h="3623338" w="4899276">
                <a:moveTo>
                  <a:pt x="0" y="0"/>
                </a:moveTo>
                <a:lnTo>
                  <a:pt x="4899276" y="0"/>
                </a:lnTo>
                <a:lnTo>
                  <a:pt x="4899276" y="3623338"/>
                </a:lnTo>
                <a:lnTo>
                  <a:pt x="0" y="36233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918843" y="1757223"/>
            <a:ext cx="15462734" cy="7411230"/>
          </a:xfrm>
          <a:prstGeom prst="rect">
            <a:avLst/>
          </a:prstGeom>
        </p:spPr>
        <p:txBody>
          <a:bodyPr anchor="t" rtlCol="false" tIns="0" lIns="0" bIns="0" rIns="0">
            <a:spAutoFit/>
          </a:bodyPr>
          <a:lstStyle/>
          <a:p>
            <a:pPr algn="l">
              <a:lnSpc>
                <a:spcPts val="3917"/>
              </a:lnSpc>
            </a:pPr>
            <a:r>
              <a:rPr lang="en-US" sz="2798">
                <a:solidFill>
                  <a:srgbClr val="5B7ABE"/>
                </a:solidFill>
                <a:latin typeface="Red Hat Display"/>
                <a:ea typeface="Red Hat Display"/>
                <a:cs typeface="Red Hat Display"/>
                <a:sym typeface="Red Hat Display"/>
              </a:rPr>
              <a:t>Trong đề tài này, thuật toán K-Means được sử dụng để phân cụm dữ liệu.</a:t>
            </a:r>
          </a:p>
          <a:p>
            <a:pPr algn="l">
              <a:lnSpc>
                <a:spcPts val="3917"/>
              </a:lnSpc>
            </a:pPr>
            <a:r>
              <a:rPr lang="en-US" sz="2798">
                <a:solidFill>
                  <a:srgbClr val="5B7ABE"/>
                </a:solidFill>
                <a:latin typeface="Red Hat Display"/>
                <a:ea typeface="Red Hat Display"/>
                <a:cs typeface="Red Hat Display"/>
                <a:sym typeface="Red Hat Display"/>
              </a:rPr>
              <a:t>Thuật toán này hoạt động bằng cách chia dữ liệu thành một số nhóm nhất định dựa trên khoảng cách giữa các điểm dữ liệu.</a:t>
            </a:r>
          </a:p>
          <a:p>
            <a:pPr algn="l">
              <a:lnSpc>
                <a:spcPts val="3917"/>
              </a:lnSpc>
            </a:pPr>
            <a:r>
              <a:rPr lang="en-US" sz="2798">
                <a:solidFill>
                  <a:srgbClr val="5B7ABE"/>
                </a:solidFill>
                <a:latin typeface="Red Hat Display"/>
                <a:ea typeface="Red Hat Display"/>
                <a:cs typeface="Red Hat Display"/>
                <a:sym typeface="Red Hat Display"/>
              </a:rPr>
              <a:t>Trong dataset bò sữa, các thuộc tính được sử dụng để phân cụm bao gồm:</a:t>
            </a:r>
          </a:p>
          <a:p>
            <a:pPr algn="l" marL="604106" indent="-302053" lvl="1">
              <a:lnSpc>
                <a:spcPts val="3917"/>
              </a:lnSpc>
              <a:buFont typeface="Arial"/>
              <a:buChar char="•"/>
            </a:pPr>
            <a:r>
              <a:rPr lang="en-US" sz="2798">
                <a:solidFill>
                  <a:srgbClr val="5B7ABE"/>
                </a:solidFill>
                <a:latin typeface="Red Hat Display"/>
                <a:ea typeface="Red Hat Display"/>
                <a:cs typeface="Red Hat Display"/>
                <a:sym typeface="Red Hat Display"/>
              </a:rPr>
              <a:t>activity_level</a:t>
            </a:r>
          </a:p>
          <a:p>
            <a:pPr algn="l" marL="604106" indent="-302053" lvl="1">
              <a:lnSpc>
                <a:spcPts val="3917"/>
              </a:lnSpc>
              <a:buFont typeface="Arial"/>
              <a:buChar char="•"/>
            </a:pPr>
            <a:r>
              <a:rPr lang="en-US" sz="2798">
                <a:solidFill>
                  <a:srgbClr val="5B7ABE"/>
                </a:solidFill>
                <a:latin typeface="Red Hat Display"/>
                <a:ea typeface="Red Hat Display"/>
                <a:cs typeface="Red Hat Display"/>
                <a:sym typeface="Red Hat Display"/>
              </a:rPr>
              <a:t>milk_yield</a:t>
            </a:r>
          </a:p>
          <a:p>
            <a:pPr algn="l" marL="604106" indent="-302053" lvl="1">
              <a:lnSpc>
                <a:spcPts val="3917"/>
              </a:lnSpc>
              <a:buFont typeface="Arial"/>
              <a:buChar char="•"/>
            </a:pPr>
            <a:r>
              <a:rPr lang="en-US" sz="2798">
                <a:solidFill>
                  <a:srgbClr val="5B7ABE"/>
                </a:solidFill>
                <a:latin typeface="Red Hat Display"/>
                <a:ea typeface="Red Hat Display"/>
                <a:cs typeface="Red Hat Display"/>
                <a:sym typeface="Red Hat Display"/>
              </a:rPr>
              <a:t>feed_intake</a:t>
            </a:r>
          </a:p>
          <a:p>
            <a:pPr algn="l">
              <a:lnSpc>
                <a:spcPts val="3917"/>
              </a:lnSpc>
            </a:pPr>
            <a:r>
              <a:rPr lang="en-US" sz="2798">
                <a:solidFill>
                  <a:srgbClr val="5B7ABE"/>
                </a:solidFill>
                <a:latin typeface="Red Hat Display"/>
                <a:ea typeface="Red Hat Display"/>
                <a:cs typeface="Red Hat Display"/>
                <a:sym typeface="Red Hat Display"/>
              </a:rPr>
              <a:t>Sau khi thực hiện phân cụm, dataset có thể được chia thành một số nhóm như:</a:t>
            </a:r>
          </a:p>
          <a:p>
            <a:pPr algn="l">
              <a:lnSpc>
                <a:spcPts val="3917"/>
              </a:lnSpc>
            </a:pPr>
            <a:r>
              <a:rPr lang="en-US" sz="2798">
                <a:solidFill>
                  <a:srgbClr val="5B7ABE"/>
                </a:solidFill>
                <a:latin typeface="Red Hat Display"/>
                <a:ea typeface="Red Hat Display"/>
                <a:cs typeface="Red Hat Display"/>
                <a:sym typeface="Red Hat Display"/>
              </a:rPr>
              <a:t>            Nhóm                   Đặc điểm</a:t>
            </a:r>
          </a:p>
          <a:p>
            <a:pPr algn="l">
              <a:lnSpc>
                <a:spcPts val="3917"/>
              </a:lnSpc>
            </a:pPr>
            <a:r>
              <a:rPr lang="en-US" sz="2798">
                <a:solidFill>
                  <a:srgbClr val="5B7ABE"/>
                </a:solidFill>
                <a:latin typeface="Red Hat Display"/>
                <a:ea typeface="Red Hat Display"/>
                <a:cs typeface="Red Hat Display"/>
                <a:sym typeface="Red Hat Display"/>
              </a:rPr>
              <a:t>            Nhóm 1              bò có sản lượng sữa cao</a:t>
            </a:r>
          </a:p>
          <a:p>
            <a:pPr algn="l">
              <a:lnSpc>
                <a:spcPts val="3917"/>
              </a:lnSpc>
            </a:pPr>
            <a:r>
              <a:rPr lang="en-US" sz="2798">
                <a:solidFill>
                  <a:srgbClr val="5B7ABE"/>
                </a:solidFill>
                <a:latin typeface="Red Hat Display"/>
                <a:ea typeface="Red Hat Display"/>
                <a:cs typeface="Red Hat Display"/>
                <a:sym typeface="Red Hat Display"/>
              </a:rPr>
              <a:t>            Nhóm 2             bò có mức vận động trung bình</a:t>
            </a:r>
          </a:p>
          <a:p>
            <a:pPr algn="l">
              <a:lnSpc>
                <a:spcPts val="3917"/>
              </a:lnSpc>
            </a:pPr>
            <a:r>
              <a:rPr lang="en-US" sz="2798">
                <a:solidFill>
                  <a:srgbClr val="5B7ABE"/>
                </a:solidFill>
                <a:latin typeface="Red Hat Display"/>
                <a:ea typeface="Red Hat Display"/>
                <a:cs typeface="Red Hat Display"/>
                <a:sym typeface="Red Hat Display"/>
              </a:rPr>
              <a:t>            Nhóm 3             bò có dấu hiệu sức khỏe kém</a:t>
            </a:r>
          </a:p>
          <a:p>
            <a:pPr algn="l">
              <a:lnSpc>
                <a:spcPts val="3917"/>
              </a:lnSpc>
            </a:pPr>
            <a:r>
              <a:rPr lang="en-US" sz="2798">
                <a:solidFill>
                  <a:srgbClr val="5B7ABE"/>
                </a:solidFill>
                <a:latin typeface="Red Hat Display"/>
                <a:ea typeface="Red Hat Display"/>
                <a:cs typeface="Red Hat Display"/>
                <a:sym typeface="Red Hat Display"/>
              </a:rPr>
              <a:t>Kết quả phân cụm giúp người quản lý trang trại dễ dàng xác định các nhóm bò cần được theo dõi đặc biệt.</a:t>
            </a:r>
          </a:p>
          <a:p>
            <a:pPr algn="l">
              <a:lnSpc>
                <a:spcPts val="3917"/>
              </a:lnSpc>
            </a:pPr>
          </a:p>
        </p:txBody>
      </p:sp>
      <p:sp>
        <p:nvSpPr>
          <p:cNvPr name="TextBox 4" id="4"/>
          <p:cNvSpPr txBox="true"/>
          <p:nvPr/>
        </p:nvSpPr>
        <p:spPr>
          <a:xfrm rot="0">
            <a:off x="4157899" y="674686"/>
            <a:ext cx="12559614" cy="1798372"/>
          </a:xfrm>
          <a:prstGeom prst="rect">
            <a:avLst/>
          </a:prstGeom>
        </p:spPr>
        <p:txBody>
          <a:bodyPr anchor="t" rtlCol="false" tIns="0" lIns="0" bIns="0" rIns="0">
            <a:spAutoFit/>
          </a:bodyPr>
          <a:lstStyle/>
          <a:p>
            <a:pPr algn="l">
              <a:lnSpc>
                <a:spcPts val="7113"/>
              </a:lnSpc>
            </a:pPr>
            <a:r>
              <a:rPr lang="en-US" sz="5718" b="true">
                <a:solidFill>
                  <a:srgbClr val="2D2261"/>
                </a:solidFill>
                <a:latin typeface="Red Hat Display Bold"/>
                <a:ea typeface="Red Hat Display Bold"/>
                <a:cs typeface="Red Hat Display Bold"/>
                <a:sym typeface="Red Hat Display Bold"/>
              </a:rPr>
              <a:t>11. Áp dụng thuật toán K-Means</a:t>
            </a:r>
          </a:p>
          <a:p>
            <a:pPr algn="l">
              <a:lnSpc>
                <a:spcPts val="7113"/>
              </a:lnSpc>
            </a:pPr>
          </a:p>
        </p:txBody>
      </p:sp>
      <p:sp>
        <p:nvSpPr>
          <p:cNvPr name="Freeform 5" id="5"/>
          <p:cNvSpPr/>
          <p:nvPr/>
        </p:nvSpPr>
        <p:spPr>
          <a:xfrm flipH="false" flipV="false" rot="715246">
            <a:off x="12993540" y="-2095015"/>
            <a:ext cx="6727323" cy="4586811"/>
          </a:xfrm>
          <a:custGeom>
            <a:avLst/>
            <a:gdLst/>
            <a:ahLst/>
            <a:cxnLst/>
            <a:rect r="r" b="b" t="t" l="l"/>
            <a:pathLst>
              <a:path h="4586811" w="6727323">
                <a:moveTo>
                  <a:pt x="0" y="0"/>
                </a:moveTo>
                <a:lnTo>
                  <a:pt x="6727323" y="0"/>
                </a:lnTo>
                <a:lnTo>
                  <a:pt x="6727323" y="4586812"/>
                </a:lnTo>
                <a:lnTo>
                  <a:pt x="0" y="4586812"/>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226878">
            <a:off x="-498311" y="-825402"/>
            <a:ext cx="4576141" cy="2579280"/>
          </a:xfrm>
          <a:custGeom>
            <a:avLst/>
            <a:gdLst/>
            <a:ahLst/>
            <a:cxnLst/>
            <a:rect r="r" b="b" t="t" l="l"/>
            <a:pathLst>
              <a:path h="2579280" w="4576141">
                <a:moveTo>
                  <a:pt x="0" y="0"/>
                </a:moveTo>
                <a:lnTo>
                  <a:pt x="4576142" y="0"/>
                </a:lnTo>
                <a:lnTo>
                  <a:pt x="4576142" y="2579280"/>
                </a:lnTo>
                <a:lnTo>
                  <a:pt x="0" y="25792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3492100" y="6663662"/>
            <a:ext cx="4899276" cy="3623338"/>
          </a:xfrm>
          <a:custGeom>
            <a:avLst/>
            <a:gdLst/>
            <a:ahLst/>
            <a:cxnLst/>
            <a:rect r="r" b="b" t="t" l="l"/>
            <a:pathLst>
              <a:path h="3623338" w="4899276">
                <a:moveTo>
                  <a:pt x="0" y="0"/>
                </a:moveTo>
                <a:lnTo>
                  <a:pt x="4899276" y="0"/>
                </a:lnTo>
                <a:lnTo>
                  <a:pt x="4899276" y="3623338"/>
                </a:lnTo>
                <a:lnTo>
                  <a:pt x="0" y="36233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6462469" y="3137132"/>
            <a:ext cx="4899276" cy="3623338"/>
          </a:xfrm>
          <a:custGeom>
            <a:avLst/>
            <a:gdLst/>
            <a:ahLst/>
            <a:cxnLst/>
            <a:rect r="r" b="b" t="t" l="l"/>
            <a:pathLst>
              <a:path h="3623338" w="4899276">
                <a:moveTo>
                  <a:pt x="0" y="0"/>
                </a:moveTo>
                <a:lnTo>
                  <a:pt x="4899276" y="0"/>
                </a:lnTo>
                <a:lnTo>
                  <a:pt x="4899276" y="3623338"/>
                </a:lnTo>
                <a:lnTo>
                  <a:pt x="0" y="36233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5400000">
            <a:off x="-2563676" y="2113281"/>
            <a:ext cx="4899276" cy="3623338"/>
          </a:xfrm>
          <a:custGeom>
            <a:avLst/>
            <a:gdLst/>
            <a:ahLst/>
            <a:cxnLst/>
            <a:rect r="r" b="b" t="t" l="l"/>
            <a:pathLst>
              <a:path h="3623338" w="4899276">
                <a:moveTo>
                  <a:pt x="0" y="0"/>
                </a:moveTo>
                <a:lnTo>
                  <a:pt x="4899276" y="0"/>
                </a:lnTo>
                <a:lnTo>
                  <a:pt x="4899276" y="3623338"/>
                </a:lnTo>
                <a:lnTo>
                  <a:pt x="0" y="36233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TextBox 2" id="2"/>
          <p:cNvSpPr txBox="true"/>
          <p:nvPr/>
        </p:nvSpPr>
        <p:spPr>
          <a:xfrm rot="0">
            <a:off x="4646929" y="952500"/>
            <a:ext cx="8994142" cy="728158"/>
          </a:xfrm>
          <a:prstGeom prst="rect">
            <a:avLst/>
          </a:prstGeom>
        </p:spPr>
        <p:txBody>
          <a:bodyPr anchor="t" rtlCol="false" tIns="0" lIns="0" bIns="0" rIns="0">
            <a:spAutoFit/>
          </a:bodyPr>
          <a:lstStyle/>
          <a:p>
            <a:pPr algn="ctr">
              <a:lnSpc>
                <a:spcPts val="6065"/>
              </a:lnSpc>
            </a:pPr>
            <a:r>
              <a:rPr lang="en-US" b="true" sz="4332">
                <a:solidFill>
                  <a:srgbClr val="2D2261"/>
                </a:solidFill>
                <a:latin typeface="Red Hat Display Bold"/>
                <a:ea typeface="Red Hat Display Bold"/>
                <a:cs typeface="Red Hat Display Bold"/>
                <a:sym typeface="Red Hat Display Bold"/>
              </a:rPr>
              <a:t>12. Đánh giá kết quả</a:t>
            </a:r>
          </a:p>
        </p:txBody>
      </p:sp>
      <p:grpSp>
        <p:nvGrpSpPr>
          <p:cNvPr name="Group 3" id="3"/>
          <p:cNvGrpSpPr/>
          <p:nvPr/>
        </p:nvGrpSpPr>
        <p:grpSpPr>
          <a:xfrm rot="0">
            <a:off x="3493908" y="3949509"/>
            <a:ext cx="4061528" cy="3319802"/>
            <a:chOff x="0" y="0"/>
            <a:chExt cx="1069703" cy="874351"/>
          </a:xfrm>
        </p:grpSpPr>
        <p:sp>
          <p:nvSpPr>
            <p:cNvPr name="Freeform 4" id="4"/>
            <p:cNvSpPr/>
            <p:nvPr/>
          </p:nvSpPr>
          <p:spPr>
            <a:xfrm flipH="false" flipV="false" rot="0">
              <a:off x="0" y="0"/>
              <a:ext cx="1069703" cy="874351"/>
            </a:xfrm>
            <a:custGeom>
              <a:avLst/>
              <a:gdLst/>
              <a:ahLst/>
              <a:cxnLst/>
              <a:rect r="r" b="b" t="t" l="l"/>
              <a:pathLst>
                <a:path h="874351" w="1069703">
                  <a:moveTo>
                    <a:pt x="57185" y="0"/>
                  </a:moveTo>
                  <a:lnTo>
                    <a:pt x="1012518" y="0"/>
                  </a:lnTo>
                  <a:cubicBezTo>
                    <a:pt x="1027684" y="0"/>
                    <a:pt x="1042230" y="6025"/>
                    <a:pt x="1052954" y="16749"/>
                  </a:cubicBezTo>
                  <a:cubicBezTo>
                    <a:pt x="1063678" y="27473"/>
                    <a:pt x="1069703" y="42018"/>
                    <a:pt x="1069703" y="57185"/>
                  </a:cubicBezTo>
                  <a:lnTo>
                    <a:pt x="1069703" y="817166"/>
                  </a:lnTo>
                  <a:cubicBezTo>
                    <a:pt x="1069703" y="832333"/>
                    <a:pt x="1063678" y="846878"/>
                    <a:pt x="1052954" y="857602"/>
                  </a:cubicBezTo>
                  <a:cubicBezTo>
                    <a:pt x="1042230" y="868326"/>
                    <a:pt x="1027684" y="874351"/>
                    <a:pt x="1012518" y="874351"/>
                  </a:cubicBezTo>
                  <a:lnTo>
                    <a:pt x="57185" y="874351"/>
                  </a:lnTo>
                  <a:cubicBezTo>
                    <a:pt x="25603" y="874351"/>
                    <a:pt x="0" y="848749"/>
                    <a:pt x="0" y="817166"/>
                  </a:cubicBezTo>
                  <a:lnTo>
                    <a:pt x="0" y="57185"/>
                  </a:lnTo>
                  <a:cubicBezTo>
                    <a:pt x="0" y="42018"/>
                    <a:pt x="6025" y="27473"/>
                    <a:pt x="16749" y="16749"/>
                  </a:cubicBezTo>
                  <a:cubicBezTo>
                    <a:pt x="27473" y="6025"/>
                    <a:pt x="42018" y="0"/>
                    <a:pt x="57185" y="0"/>
                  </a:cubicBezTo>
                  <a:close/>
                </a:path>
              </a:pathLst>
            </a:custGeom>
            <a:solidFill>
              <a:srgbClr val="ECE1D7"/>
            </a:solidFill>
          </p:spPr>
        </p:sp>
        <p:sp>
          <p:nvSpPr>
            <p:cNvPr name="TextBox 5" id="5"/>
            <p:cNvSpPr txBox="true"/>
            <p:nvPr/>
          </p:nvSpPr>
          <p:spPr>
            <a:xfrm>
              <a:off x="0" y="-47625"/>
              <a:ext cx="1069703" cy="921976"/>
            </a:xfrm>
            <a:prstGeom prst="rect">
              <a:avLst/>
            </a:prstGeom>
          </p:spPr>
          <p:txBody>
            <a:bodyPr anchor="ctr" rtlCol="false" tIns="50800" lIns="50800" bIns="50800" rIns="50800"/>
            <a:lstStyle/>
            <a:p>
              <a:pPr algn="ctr">
                <a:lnSpc>
                  <a:spcPts val="3032"/>
                </a:lnSpc>
              </a:pPr>
            </a:p>
          </p:txBody>
        </p:sp>
      </p:grpSp>
      <p:grpSp>
        <p:nvGrpSpPr>
          <p:cNvPr name="Group 6" id="6"/>
          <p:cNvGrpSpPr/>
          <p:nvPr/>
        </p:nvGrpSpPr>
        <p:grpSpPr>
          <a:xfrm rot="0">
            <a:off x="9172782" y="3949509"/>
            <a:ext cx="4061528" cy="3319802"/>
            <a:chOff x="0" y="0"/>
            <a:chExt cx="1069703" cy="874351"/>
          </a:xfrm>
        </p:grpSpPr>
        <p:sp>
          <p:nvSpPr>
            <p:cNvPr name="Freeform 7" id="7"/>
            <p:cNvSpPr/>
            <p:nvPr/>
          </p:nvSpPr>
          <p:spPr>
            <a:xfrm flipH="false" flipV="false" rot="0">
              <a:off x="0" y="0"/>
              <a:ext cx="1069703" cy="874351"/>
            </a:xfrm>
            <a:custGeom>
              <a:avLst/>
              <a:gdLst/>
              <a:ahLst/>
              <a:cxnLst/>
              <a:rect r="r" b="b" t="t" l="l"/>
              <a:pathLst>
                <a:path h="874351" w="1069703">
                  <a:moveTo>
                    <a:pt x="57185" y="0"/>
                  </a:moveTo>
                  <a:lnTo>
                    <a:pt x="1012518" y="0"/>
                  </a:lnTo>
                  <a:cubicBezTo>
                    <a:pt x="1027684" y="0"/>
                    <a:pt x="1042230" y="6025"/>
                    <a:pt x="1052954" y="16749"/>
                  </a:cubicBezTo>
                  <a:cubicBezTo>
                    <a:pt x="1063678" y="27473"/>
                    <a:pt x="1069703" y="42018"/>
                    <a:pt x="1069703" y="57185"/>
                  </a:cubicBezTo>
                  <a:lnTo>
                    <a:pt x="1069703" y="817166"/>
                  </a:lnTo>
                  <a:cubicBezTo>
                    <a:pt x="1069703" y="832333"/>
                    <a:pt x="1063678" y="846878"/>
                    <a:pt x="1052954" y="857602"/>
                  </a:cubicBezTo>
                  <a:cubicBezTo>
                    <a:pt x="1042230" y="868326"/>
                    <a:pt x="1027684" y="874351"/>
                    <a:pt x="1012518" y="874351"/>
                  </a:cubicBezTo>
                  <a:lnTo>
                    <a:pt x="57185" y="874351"/>
                  </a:lnTo>
                  <a:cubicBezTo>
                    <a:pt x="25603" y="874351"/>
                    <a:pt x="0" y="848749"/>
                    <a:pt x="0" y="817166"/>
                  </a:cubicBezTo>
                  <a:lnTo>
                    <a:pt x="0" y="57185"/>
                  </a:lnTo>
                  <a:cubicBezTo>
                    <a:pt x="0" y="42018"/>
                    <a:pt x="6025" y="27473"/>
                    <a:pt x="16749" y="16749"/>
                  </a:cubicBezTo>
                  <a:cubicBezTo>
                    <a:pt x="27473" y="6025"/>
                    <a:pt x="42018" y="0"/>
                    <a:pt x="57185" y="0"/>
                  </a:cubicBezTo>
                  <a:close/>
                </a:path>
              </a:pathLst>
            </a:custGeom>
            <a:solidFill>
              <a:srgbClr val="ECE1D7"/>
            </a:solidFill>
          </p:spPr>
        </p:sp>
        <p:sp>
          <p:nvSpPr>
            <p:cNvPr name="TextBox 8" id="8"/>
            <p:cNvSpPr txBox="true"/>
            <p:nvPr/>
          </p:nvSpPr>
          <p:spPr>
            <a:xfrm>
              <a:off x="0" y="-47625"/>
              <a:ext cx="1069703" cy="921976"/>
            </a:xfrm>
            <a:prstGeom prst="rect">
              <a:avLst/>
            </a:prstGeom>
          </p:spPr>
          <p:txBody>
            <a:bodyPr anchor="ctr" rtlCol="false" tIns="50800" lIns="50800" bIns="50800" rIns="50800"/>
            <a:lstStyle/>
            <a:p>
              <a:pPr algn="ctr">
                <a:lnSpc>
                  <a:spcPts val="3032"/>
                </a:lnSpc>
              </a:pPr>
            </a:p>
          </p:txBody>
        </p:sp>
      </p:grpSp>
      <p:grpSp>
        <p:nvGrpSpPr>
          <p:cNvPr name="Group 9" id="9"/>
          <p:cNvGrpSpPr/>
          <p:nvPr/>
        </p:nvGrpSpPr>
        <p:grpSpPr>
          <a:xfrm rot="0">
            <a:off x="3493908" y="8087339"/>
            <a:ext cx="9740402" cy="1417268"/>
            <a:chOff x="0" y="0"/>
            <a:chExt cx="2565373" cy="373272"/>
          </a:xfrm>
        </p:grpSpPr>
        <p:sp>
          <p:nvSpPr>
            <p:cNvPr name="Freeform 10" id="10"/>
            <p:cNvSpPr/>
            <p:nvPr/>
          </p:nvSpPr>
          <p:spPr>
            <a:xfrm flipH="false" flipV="false" rot="0">
              <a:off x="0" y="0"/>
              <a:ext cx="2565373" cy="373272"/>
            </a:xfrm>
            <a:custGeom>
              <a:avLst/>
              <a:gdLst/>
              <a:ahLst/>
              <a:cxnLst/>
              <a:rect r="r" b="b" t="t" l="l"/>
              <a:pathLst>
                <a:path h="373272" w="2565373">
                  <a:moveTo>
                    <a:pt x="23845" y="0"/>
                  </a:moveTo>
                  <a:lnTo>
                    <a:pt x="2541529" y="0"/>
                  </a:lnTo>
                  <a:cubicBezTo>
                    <a:pt x="2547852" y="0"/>
                    <a:pt x="2553918" y="2512"/>
                    <a:pt x="2558389" y="6984"/>
                  </a:cubicBezTo>
                  <a:cubicBezTo>
                    <a:pt x="2562861" y="11456"/>
                    <a:pt x="2565373" y="17521"/>
                    <a:pt x="2565373" y="23845"/>
                  </a:cubicBezTo>
                  <a:lnTo>
                    <a:pt x="2565373" y="349428"/>
                  </a:lnTo>
                  <a:cubicBezTo>
                    <a:pt x="2565373" y="362597"/>
                    <a:pt x="2554698" y="373272"/>
                    <a:pt x="2541529" y="373272"/>
                  </a:cubicBezTo>
                  <a:lnTo>
                    <a:pt x="23845" y="373272"/>
                  </a:lnTo>
                  <a:cubicBezTo>
                    <a:pt x="10676" y="373272"/>
                    <a:pt x="0" y="362597"/>
                    <a:pt x="0" y="349428"/>
                  </a:cubicBezTo>
                  <a:lnTo>
                    <a:pt x="0" y="23845"/>
                  </a:lnTo>
                  <a:cubicBezTo>
                    <a:pt x="0" y="10676"/>
                    <a:pt x="10676" y="0"/>
                    <a:pt x="23845" y="0"/>
                  </a:cubicBezTo>
                  <a:close/>
                </a:path>
              </a:pathLst>
            </a:custGeom>
            <a:solidFill>
              <a:srgbClr val="ECE1D7"/>
            </a:solidFill>
          </p:spPr>
        </p:sp>
        <p:sp>
          <p:nvSpPr>
            <p:cNvPr name="TextBox 11" id="11"/>
            <p:cNvSpPr txBox="true"/>
            <p:nvPr/>
          </p:nvSpPr>
          <p:spPr>
            <a:xfrm>
              <a:off x="0" y="-47625"/>
              <a:ext cx="2565373" cy="420897"/>
            </a:xfrm>
            <a:prstGeom prst="rect">
              <a:avLst/>
            </a:prstGeom>
          </p:spPr>
          <p:txBody>
            <a:bodyPr anchor="ctr" rtlCol="false" tIns="50800" lIns="50800" bIns="50800" rIns="50800"/>
            <a:lstStyle/>
            <a:p>
              <a:pPr algn="ctr">
                <a:lnSpc>
                  <a:spcPts val="3032"/>
                </a:lnSpc>
              </a:pPr>
            </a:p>
          </p:txBody>
        </p:sp>
      </p:grpSp>
      <p:grpSp>
        <p:nvGrpSpPr>
          <p:cNvPr name="Group 12" id="12"/>
          <p:cNvGrpSpPr/>
          <p:nvPr/>
        </p:nvGrpSpPr>
        <p:grpSpPr>
          <a:xfrm rot="0">
            <a:off x="3493908" y="3016101"/>
            <a:ext cx="4061528" cy="1866815"/>
            <a:chOff x="0" y="0"/>
            <a:chExt cx="1069703" cy="491672"/>
          </a:xfrm>
        </p:grpSpPr>
        <p:sp>
          <p:nvSpPr>
            <p:cNvPr name="Freeform 13" id="13"/>
            <p:cNvSpPr/>
            <p:nvPr/>
          </p:nvSpPr>
          <p:spPr>
            <a:xfrm flipH="false" flipV="false" rot="0">
              <a:off x="0" y="0"/>
              <a:ext cx="1069703" cy="491672"/>
            </a:xfrm>
            <a:custGeom>
              <a:avLst/>
              <a:gdLst/>
              <a:ahLst/>
              <a:cxnLst/>
              <a:rect r="r" b="b" t="t" l="l"/>
              <a:pathLst>
                <a:path h="491672" w="1069703">
                  <a:moveTo>
                    <a:pt x="57185" y="0"/>
                  </a:moveTo>
                  <a:lnTo>
                    <a:pt x="1012518" y="0"/>
                  </a:lnTo>
                  <a:cubicBezTo>
                    <a:pt x="1027684" y="0"/>
                    <a:pt x="1042230" y="6025"/>
                    <a:pt x="1052954" y="16749"/>
                  </a:cubicBezTo>
                  <a:cubicBezTo>
                    <a:pt x="1063678" y="27473"/>
                    <a:pt x="1069703" y="42018"/>
                    <a:pt x="1069703" y="57185"/>
                  </a:cubicBezTo>
                  <a:lnTo>
                    <a:pt x="1069703" y="434487"/>
                  </a:lnTo>
                  <a:cubicBezTo>
                    <a:pt x="1069703" y="466069"/>
                    <a:pt x="1044100" y="491672"/>
                    <a:pt x="1012518" y="491672"/>
                  </a:cubicBezTo>
                  <a:lnTo>
                    <a:pt x="57185" y="491672"/>
                  </a:lnTo>
                  <a:cubicBezTo>
                    <a:pt x="42018" y="491672"/>
                    <a:pt x="27473" y="485647"/>
                    <a:pt x="16749" y="474923"/>
                  </a:cubicBezTo>
                  <a:cubicBezTo>
                    <a:pt x="6025" y="464198"/>
                    <a:pt x="0" y="449653"/>
                    <a:pt x="0" y="434487"/>
                  </a:cubicBezTo>
                  <a:lnTo>
                    <a:pt x="0" y="57185"/>
                  </a:lnTo>
                  <a:cubicBezTo>
                    <a:pt x="0" y="42018"/>
                    <a:pt x="6025" y="27473"/>
                    <a:pt x="16749" y="16749"/>
                  </a:cubicBezTo>
                  <a:cubicBezTo>
                    <a:pt x="27473" y="6025"/>
                    <a:pt x="42018" y="0"/>
                    <a:pt x="57185" y="0"/>
                  </a:cubicBezTo>
                  <a:close/>
                </a:path>
              </a:pathLst>
            </a:custGeom>
            <a:solidFill>
              <a:srgbClr val="5B7ABE"/>
            </a:solidFill>
          </p:spPr>
        </p:sp>
        <p:sp>
          <p:nvSpPr>
            <p:cNvPr name="TextBox 14" id="14"/>
            <p:cNvSpPr txBox="true"/>
            <p:nvPr/>
          </p:nvSpPr>
          <p:spPr>
            <a:xfrm>
              <a:off x="0" y="-47625"/>
              <a:ext cx="1069703" cy="539297"/>
            </a:xfrm>
            <a:prstGeom prst="rect">
              <a:avLst/>
            </a:prstGeom>
          </p:spPr>
          <p:txBody>
            <a:bodyPr anchor="ctr" rtlCol="false" tIns="50800" lIns="50800" bIns="50800" rIns="50800"/>
            <a:lstStyle/>
            <a:p>
              <a:pPr algn="ctr">
                <a:lnSpc>
                  <a:spcPts val="3032"/>
                </a:lnSpc>
              </a:pPr>
            </a:p>
          </p:txBody>
        </p:sp>
      </p:grpSp>
      <p:grpSp>
        <p:nvGrpSpPr>
          <p:cNvPr name="Group 15" id="15"/>
          <p:cNvGrpSpPr/>
          <p:nvPr/>
        </p:nvGrpSpPr>
        <p:grpSpPr>
          <a:xfrm rot="0">
            <a:off x="9172782" y="3016101"/>
            <a:ext cx="4061528" cy="1866815"/>
            <a:chOff x="0" y="0"/>
            <a:chExt cx="1069703" cy="491672"/>
          </a:xfrm>
        </p:grpSpPr>
        <p:sp>
          <p:nvSpPr>
            <p:cNvPr name="Freeform 16" id="16"/>
            <p:cNvSpPr/>
            <p:nvPr/>
          </p:nvSpPr>
          <p:spPr>
            <a:xfrm flipH="false" flipV="false" rot="0">
              <a:off x="0" y="0"/>
              <a:ext cx="1069703" cy="491672"/>
            </a:xfrm>
            <a:custGeom>
              <a:avLst/>
              <a:gdLst/>
              <a:ahLst/>
              <a:cxnLst/>
              <a:rect r="r" b="b" t="t" l="l"/>
              <a:pathLst>
                <a:path h="491672" w="1069703">
                  <a:moveTo>
                    <a:pt x="57185" y="0"/>
                  </a:moveTo>
                  <a:lnTo>
                    <a:pt x="1012518" y="0"/>
                  </a:lnTo>
                  <a:cubicBezTo>
                    <a:pt x="1027684" y="0"/>
                    <a:pt x="1042230" y="6025"/>
                    <a:pt x="1052954" y="16749"/>
                  </a:cubicBezTo>
                  <a:cubicBezTo>
                    <a:pt x="1063678" y="27473"/>
                    <a:pt x="1069703" y="42018"/>
                    <a:pt x="1069703" y="57185"/>
                  </a:cubicBezTo>
                  <a:lnTo>
                    <a:pt x="1069703" y="434487"/>
                  </a:lnTo>
                  <a:cubicBezTo>
                    <a:pt x="1069703" y="466069"/>
                    <a:pt x="1044100" y="491672"/>
                    <a:pt x="1012518" y="491672"/>
                  </a:cubicBezTo>
                  <a:lnTo>
                    <a:pt x="57185" y="491672"/>
                  </a:lnTo>
                  <a:cubicBezTo>
                    <a:pt x="42018" y="491672"/>
                    <a:pt x="27473" y="485647"/>
                    <a:pt x="16749" y="474923"/>
                  </a:cubicBezTo>
                  <a:cubicBezTo>
                    <a:pt x="6025" y="464198"/>
                    <a:pt x="0" y="449653"/>
                    <a:pt x="0" y="434487"/>
                  </a:cubicBezTo>
                  <a:lnTo>
                    <a:pt x="0" y="57185"/>
                  </a:lnTo>
                  <a:cubicBezTo>
                    <a:pt x="0" y="42018"/>
                    <a:pt x="6025" y="27473"/>
                    <a:pt x="16749" y="16749"/>
                  </a:cubicBezTo>
                  <a:cubicBezTo>
                    <a:pt x="27473" y="6025"/>
                    <a:pt x="42018" y="0"/>
                    <a:pt x="57185" y="0"/>
                  </a:cubicBezTo>
                  <a:close/>
                </a:path>
              </a:pathLst>
            </a:custGeom>
            <a:solidFill>
              <a:srgbClr val="5B7ABE"/>
            </a:solidFill>
          </p:spPr>
        </p:sp>
        <p:sp>
          <p:nvSpPr>
            <p:cNvPr name="TextBox 17" id="17"/>
            <p:cNvSpPr txBox="true"/>
            <p:nvPr/>
          </p:nvSpPr>
          <p:spPr>
            <a:xfrm>
              <a:off x="0" y="-47625"/>
              <a:ext cx="1069703" cy="539297"/>
            </a:xfrm>
            <a:prstGeom prst="rect">
              <a:avLst/>
            </a:prstGeom>
          </p:spPr>
          <p:txBody>
            <a:bodyPr anchor="ctr" rtlCol="false" tIns="50800" lIns="50800" bIns="50800" rIns="50800"/>
            <a:lstStyle/>
            <a:p>
              <a:pPr algn="ctr">
                <a:lnSpc>
                  <a:spcPts val="3032"/>
                </a:lnSpc>
              </a:pPr>
            </a:p>
          </p:txBody>
        </p:sp>
      </p:grpSp>
      <p:sp>
        <p:nvSpPr>
          <p:cNvPr name="TextBox 18" id="18"/>
          <p:cNvSpPr txBox="true"/>
          <p:nvPr/>
        </p:nvSpPr>
        <p:spPr>
          <a:xfrm rot="0">
            <a:off x="4383156" y="3732339"/>
            <a:ext cx="2283032" cy="396240"/>
          </a:xfrm>
          <a:prstGeom prst="rect">
            <a:avLst/>
          </a:prstGeom>
        </p:spPr>
        <p:txBody>
          <a:bodyPr anchor="t" rtlCol="false" tIns="0" lIns="0" bIns="0" rIns="0">
            <a:spAutoFit/>
          </a:bodyPr>
          <a:lstStyle/>
          <a:p>
            <a:pPr algn="ctr">
              <a:lnSpc>
                <a:spcPts val="3359"/>
              </a:lnSpc>
            </a:pPr>
            <a:r>
              <a:rPr lang="en-US" b="true" sz="2400">
                <a:solidFill>
                  <a:srgbClr val="FBFCFE"/>
                </a:solidFill>
                <a:latin typeface="Red Hat Display Bold"/>
                <a:ea typeface="Red Hat Display Bold"/>
                <a:cs typeface="Red Hat Display Bold"/>
                <a:sym typeface="Red Hat Display Bold"/>
              </a:rPr>
              <a:t>Ưu điểm</a:t>
            </a:r>
          </a:p>
        </p:txBody>
      </p:sp>
      <p:sp>
        <p:nvSpPr>
          <p:cNvPr name="TextBox 19" id="19"/>
          <p:cNvSpPr txBox="true"/>
          <p:nvPr/>
        </p:nvSpPr>
        <p:spPr>
          <a:xfrm rot="0">
            <a:off x="9658930" y="3732339"/>
            <a:ext cx="3173706" cy="396240"/>
          </a:xfrm>
          <a:prstGeom prst="rect">
            <a:avLst/>
          </a:prstGeom>
        </p:spPr>
        <p:txBody>
          <a:bodyPr anchor="t" rtlCol="false" tIns="0" lIns="0" bIns="0" rIns="0">
            <a:spAutoFit/>
          </a:bodyPr>
          <a:lstStyle/>
          <a:p>
            <a:pPr algn="ctr">
              <a:lnSpc>
                <a:spcPts val="3359"/>
              </a:lnSpc>
            </a:pPr>
            <a:r>
              <a:rPr lang="en-US" b="true" sz="2400">
                <a:solidFill>
                  <a:srgbClr val="FBFCFE"/>
                </a:solidFill>
                <a:latin typeface="Red Hat Display Bold"/>
                <a:ea typeface="Red Hat Display Bold"/>
                <a:cs typeface="Red Hat Display Bold"/>
                <a:sym typeface="Red Hat Display Bold"/>
              </a:rPr>
              <a:t>Nhược điểm</a:t>
            </a:r>
          </a:p>
        </p:txBody>
      </p:sp>
      <p:sp>
        <p:nvSpPr>
          <p:cNvPr name="TextBox 20" id="20"/>
          <p:cNvSpPr txBox="true"/>
          <p:nvPr/>
        </p:nvSpPr>
        <p:spPr>
          <a:xfrm rot="0">
            <a:off x="3613941" y="4835292"/>
            <a:ext cx="3785672" cy="2851997"/>
          </a:xfrm>
          <a:prstGeom prst="rect">
            <a:avLst/>
          </a:prstGeom>
        </p:spPr>
        <p:txBody>
          <a:bodyPr anchor="t" rtlCol="false" tIns="0" lIns="0" bIns="0" rIns="0">
            <a:spAutoFit/>
          </a:bodyPr>
          <a:lstStyle/>
          <a:p>
            <a:pPr algn="l" marL="582358" indent="-291179" lvl="1">
              <a:lnSpc>
                <a:spcPts val="3776"/>
              </a:lnSpc>
              <a:buFont typeface="Arial"/>
              <a:buChar char="•"/>
            </a:pPr>
            <a:r>
              <a:rPr lang="en-US" sz="2697">
                <a:solidFill>
                  <a:srgbClr val="2D2261"/>
                </a:solidFill>
                <a:latin typeface="Red Hat Display"/>
                <a:ea typeface="Red Hat Display"/>
                <a:cs typeface="Red Hat Display"/>
                <a:sym typeface="Red Hat Display"/>
              </a:rPr>
              <a:t>dễ triển khai</a:t>
            </a:r>
          </a:p>
          <a:p>
            <a:pPr algn="l" marL="582358" indent="-291179" lvl="1">
              <a:lnSpc>
                <a:spcPts val="3776"/>
              </a:lnSpc>
              <a:buFont typeface="Arial"/>
              <a:buChar char="•"/>
            </a:pPr>
            <a:r>
              <a:rPr lang="en-US" sz="2697">
                <a:solidFill>
                  <a:srgbClr val="2D2261"/>
                </a:solidFill>
                <a:latin typeface="Red Hat Display"/>
                <a:ea typeface="Red Hat Display"/>
                <a:cs typeface="Red Hat Display"/>
                <a:sym typeface="Red Hat Display"/>
              </a:rPr>
              <a:t>dễ hiểu và trực quan</a:t>
            </a:r>
          </a:p>
          <a:p>
            <a:pPr algn="l" marL="582358" indent="-291179" lvl="1">
              <a:lnSpc>
                <a:spcPts val="3776"/>
              </a:lnSpc>
              <a:buFont typeface="Arial"/>
              <a:buChar char="•"/>
            </a:pPr>
            <a:r>
              <a:rPr lang="en-US" sz="2697">
                <a:solidFill>
                  <a:srgbClr val="2D2261"/>
                </a:solidFill>
                <a:latin typeface="Red Hat Display"/>
                <a:ea typeface="Red Hat Display"/>
                <a:cs typeface="Red Hat Display"/>
                <a:sym typeface="Red Hat Display"/>
              </a:rPr>
              <a:t>phù hợp với các bài toán phân tích dữ liệu lớn</a:t>
            </a:r>
          </a:p>
          <a:p>
            <a:pPr algn="l">
              <a:lnSpc>
                <a:spcPts val="3776"/>
              </a:lnSpc>
            </a:pPr>
          </a:p>
        </p:txBody>
      </p:sp>
      <p:sp>
        <p:nvSpPr>
          <p:cNvPr name="TextBox 21" id="21"/>
          <p:cNvSpPr txBox="true"/>
          <p:nvPr/>
        </p:nvSpPr>
        <p:spPr>
          <a:xfrm rot="0">
            <a:off x="9172782" y="4825767"/>
            <a:ext cx="3909054" cy="2342623"/>
          </a:xfrm>
          <a:prstGeom prst="rect">
            <a:avLst/>
          </a:prstGeom>
        </p:spPr>
        <p:txBody>
          <a:bodyPr anchor="t" rtlCol="false" tIns="0" lIns="0" bIns="0" rIns="0">
            <a:spAutoFit/>
          </a:bodyPr>
          <a:lstStyle/>
          <a:p>
            <a:pPr algn="ctr" marL="571221" indent="-285611" lvl="1">
              <a:lnSpc>
                <a:spcPts val="3704"/>
              </a:lnSpc>
              <a:buFont typeface="Arial"/>
              <a:buChar char="•"/>
            </a:pPr>
            <a:r>
              <a:rPr lang="en-US" sz="2645">
                <a:solidFill>
                  <a:srgbClr val="2D2261"/>
                </a:solidFill>
                <a:latin typeface="Red Hat Display"/>
                <a:ea typeface="Red Hat Display"/>
                <a:cs typeface="Red Hat Display"/>
                <a:sym typeface="Red Hat Display"/>
              </a:rPr>
              <a:t>kết quả phụ thuộc vào chất lượng dữ liệu</a:t>
            </a:r>
          </a:p>
          <a:p>
            <a:pPr algn="ctr" marL="582930" indent="-291465" lvl="1">
              <a:lnSpc>
                <a:spcPts val="3779"/>
              </a:lnSpc>
              <a:buFont typeface="Arial"/>
              <a:buChar char="•"/>
            </a:pPr>
            <a:r>
              <a:rPr lang="en-US" sz="2700">
                <a:solidFill>
                  <a:srgbClr val="2D2261"/>
                </a:solidFill>
                <a:latin typeface="Red Hat Display"/>
                <a:ea typeface="Red Hat Display"/>
                <a:cs typeface="Red Hat Display"/>
                <a:sym typeface="Red Hat Display"/>
              </a:rPr>
              <a:t>cần lựa chọn số lượng cụm phù hợp</a:t>
            </a:r>
          </a:p>
          <a:p>
            <a:pPr algn="ctr">
              <a:lnSpc>
                <a:spcPts val="3704"/>
              </a:lnSpc>
            </a:pPr>
          </a:p>
        </p:txBody>
      </p:sp>
      <p:sp>
        <p:nvSpPr>
          <p:cNvPr name="TextBox 22" id="22"/>
          <p:cNvSpPr txBox="true"/>
          <p:nvPr/>
        </p:nvSpPr>
        <p:spPr>
          <a:xfrm rot="0">
            <a:off x="2634643" y="1799835"/>
            <a:ext cx="11479826" cy="815341"/>
          </a:xfrm>
          <a:prstGeom prst="rect">
            <a:avLst/>
          </a:prstGeom>
        </p:spPr>
        <p:txBody>
          <a:bodyPr anchor="t" rtlCol="false" tIns="0" lIns="0" bIns="0" rIns="0">
            <a:spAutoFit/>
          </a:bodyPr>
          <a:lstStyle/>
          <a:p>
            <a:pPr algn="l">
              <a:lnSpc>
                <a:spcPts val="3359"/>
              </a:lnSpc>
            </a:pPr>
            <a:r>
              <a:rPr lang="en-US" sz="2399">
                <a:solidFill>
                  <a:srgbClr val="2D2261"/>
                </a:solidFill>
                <a:latin typeface="Red Hat Display"/>
                <a:ea typeface="Red Hat Display"/>
                <a:cs typeface="Red Hat Display"/>
                <a:sym typeface="Red Hat Display"/>
              </a:rPr>
              <a:t>Sau khi thực hiện phân tích dữ liệu và phân cụm, kết quả cho thấy phương pháp này có thể giúp khám phá các đặc điểm quan trọng của dataset.</a:t>
            </a:r>
          </a:p>
        </p:txBody>
      </p:sp>
      <p:sp>
        <p:nvSpPr>
          <p:cNvPr name="Freeform 23" id="23"/>
          <p:cNvSpPr/>
          <p:nvPr/>
        </p:nvSpPr>
        <p:spPr>
          <a:xfrm flipH="false" flipV="false" rot="-2080684">
            <a:off x="10082077" y="8242051"/>
            <a:ext cx="10960234" cy="7472887"/>
          </a:xfrm>
          <a:custGeom>
            <a:avLst/>
            <a:gdLst/>
            <a:ahLst/>
            <a:cxnLst/>
            <a:rect r="r" b="b" t="t" l="l"/>
            <a:pathLst>
              <a:path h="7472887" w="10960234">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24" id="24"/>
          <p:cNvSpPr/>
          <p:nvPr/>
        </p:nvSpPr>
        <p:spPr>
          <a:xfrm flipH="false" flipV="false" rot="9426524">
            <a:off x="-3984660" y="-4765086"/>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25" id="25"/>
          <p:cNvSpPr/>
          <p:nvPr/>
        </p:nvSpPr>
        <p:spPr>
          <a:xfrm flipH="false" flipV="false" rot="-2624874">
            <a:off x="-884948" y="9077955"/>
            <a:ext cx="3242701" cy="1827704"/>
          </a:xfrm>
          <a:custGeom>
            <a:avLst/>
            <a:gdLst/>
            <a:ahLst/>
            <a:cxnLst/>
            <a:rect r="r" b="b" t="t" l="l"/>
            <a:pathLst>
              <a:path h="1827704" w="3242701">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6" id="26"/>
          <p:cNvSpPr/>
          <p:nvPr/>
        </p:nvSpPr>
        <p:spPr>
          <a:xfrm flipH="false" flipV="false" rot="2830696">
            <a:off x="16075185" y="-10287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7" id="27"/>
          <p:cNvSpPr txBox="true"/>
          <p:nvPr/>
        </p:nvSpPr>
        <p:spPr>
          <a:xfrm rot="0">
            <a:off x="4030002" y="8301281"/>
            <a:ext cx="8668214" cy="923398"/>
          </a:xfrm>
          <a:prstGeom prst="rect">
            <a:avLst/>
          </a:prstGeom>
        </p:spPr>
        <p:txBody>
          <a:bodyPr anchor="t" rtlCol="false" tIns="0" lIns="0" bIns="0" rIns="0">
            <a:spAutoFit/>
          </a:bodyPr>
          <a:lstStyle/>
          <a:p>
            <a:pPr algn="ctr">
              <a:lnSpc>
                <a:spcPts val="3704"/>
              </a:lnSpc>
            </a:pPr>
            <a:r>
              <a:rPr lang="en-US" sz="2645">
                <a:solidFill>
                  <a:srgbClr val="2D2261"/>
                </a:solidFill>
                <a:latin typeface="Red Hat Display"/>
                <a:ea typeface="Red Hat Display"/>
                <a:cs typeface="Red Hat Display"/>
                <a:sym typeface="Red Hat Display"/>
              </a:rPr>
              <a:t>Tuy nhiên, phương pháp này vẫn là một trong những kỹ thuật</a:t>
            </a:r>
            <a:r>
              <a:rPr lang="en-US" sz="2645">
                <a:solidFill>
                  <a:srgbClr val="2D2261"/>
                </a:solidFill>
                <a:latin typeface="Red Hat Display"/>
                <a:ea typeface="Red Hat Display"/>
                <a:cs typeface="Red Hat Display"/>
                <a:sym typeface="Red Hat Display"/>
              </a:rPr>
              <a:t> phổ biến trong phân tích dữ liệu.</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0">
            <a:off x="-4139221" y="2652879"/>
            <a:ext cx="4899276" cy="3623338"/>
          </a:xfrm>
          <a:custGeom>
            <a:avLst/>
            <a:gdLst/>
            <a:ahLst/>
            <a:cxnLst/>
            <a:rect r="r" b="b" t="t" l="l"/>
            <a:pathLst>
              <a:path h="3623338" w="4899276">
                <a:moveTo>
                  <a:pt x="0" y="0"/>
                </a:moveTo>
                <a:lnTo>
                  <a:pt x="4899276" y="0"/>
                </a:lnTo>
                <a:lnTo>
                  <a:pt x="4899276" y="3623338"/>
                </a:lnTo>
                <a:lnTo>
                  <a:pt x="0" y="36233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890811" y="1661310"/>
            <a:ext cx="14830521" cy="1916464"/>
          </a:xfrm>
          <a:prstGeom prst="rect">
            <a:avLst/>
          </a:prstGeom>
        </p:spPr>
        <p:txBody>
          <a:bodyPr anchor="t" rtlCol="false" tIns="0" lIns="0" bIns="0" rIns="0">
            <a:spAutoFit/>
          </a:bodyPr>
          <a:lstStyle/>
          <a:p>
            <a:pPr algn="l">
              <a:lnSpc>
                <a:spcPts val="5143"/>
              </a:lnSpc>
            </a:pPr>
            <a:r>
              <a:rPr lang="en-US" sz="3673">
                <a:solidFill>
                  <a:srgbClr val="5B7ABE"/>
                </a:solidFill>
                <a:latin typeface="Red Hat Display"/>
                <a:ea typeface="Red Hat Display"/>
                <a:cs typeface="Red Hat Display"/>
                <a:sym typeface="Red Hat Display"/>
              </a:rPr>
              <a:t>Đề tài đã thực hiện phân tích dữ liệu sức khỏe bò sữa thông qua các bước của quy trình phân tích dữ liệu lớn.</a:t>
            </a:r>
          </a:p>
          <a:p>
            <a:pPr algn="l">
              <a:lnSpc>
                <a:spcPts val="5143"/>
              </a:lnSpc>
            </a:pPr>
          </a:p>
        </p:txBody>
      </p:sp>
      <p:sp>
        <p:nvSpPr>
          <p:cNvPr name="TextBox 4" id="4"/>
          <p:cNvSpPr txBox="true"/>
          <p:nvPr/>
        </p:nvSpPr>
        <p:spPr>
          <a:xfrm rot="0">
            <a:off x="7182455" y="331451"/>
            <a:ext cx="3923090" cy="897496"/>
          </a:xfrm>
          <a:prstGeom prst="rect">
            <a:avLst/>
          </a:prstGeom>
        </p:spPr>
        <p:txBody>
          <a:bodyPr anchor="t" rtlCol="false" tIns="0" lIns="0" bIns="0" rIns="0">
            <a:spAutoFit/>
          </a:bodyPr>
          <a:lstStyle/>
          <a:p>
            <a:pPr algn="l">
              <a:lnSpc>
                <a:spcPts val="7113"/>
              </a:lnSpc>
            </a:pPr>
            <a:r>
              <a:rPr lang="en-US" b="true" sz="5718">
                <a:solidFill>
                  <a:srgbClr val="2D2261"/>
                </a:solidFill>
                <a:latin typeface="Red Hat Display Bold"/>
                <a:ea typeface="Red Hat Display Bold"/>
                <a:cs typeface="Red Hat Display Bold"/>
                <a:sym typeface="Red Hat Display Bold"/>
              </a:rPr>
              <a:t>13. Kết luận</a:t>
            </a:r>
          </a:p>
        </p:txBody>
      </p:sp>
      <p:sp>
        <p:nvSpPr>
          <p:cNvPr name="Freeform 5" id="5"/>
          <p:cNvSpPr/>
          <p:nvPr/>
        </p:nvSpPr>
        <p:spPr>
          <a:xfrm flipH="false" flipV="false" rot="1026841">
            <a:off x="13266207" y="-2293406"/>
            <a:ext cx="6727323" cy="4586811"/>
          </a:xfrm>
          <a:custGeom>
            <a:avLst/>
            <a:gdLst/>
            <a:ahLst/>
            <a:cxnLst/>
            <a:rect r="r" b="b" t="t" l="l"/>
            <a:pathLst>
              <a:path h="4586811" w="6727323">
                <a:moveTo>
                  <a:pt x="0" y="0"/>
                </a:moveTo>
                <a:lnTo>
                  <a:pt x="6727323" y="0"/>
                </a:lnTo>
                <a:lnTo>
                  <a:pt x="6727323" y="4586812"/>
                </a:lnTo>
                <a:lnTo>
                  <a:pt x="0" y="4586812"/>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635325">
            <a:off x="-1442576" y="8071855"/>
            <a:ext cx="7907020" cy="6699403"/>
          </a:xfrm>
          <a:custGeom>
            <a:avLst/>
            <a:gdLst/>
            <a:ahLst/>
            <a:cxnLst/>
            <a:rect r="r" b="b" t="t" l="l"/>
            <a:pathLst>
              <a:path h="6699403" w="7907020">
                <a:moveTo>
                  <a:pt x="0" y="0"/>
                </a:moveTo>
                <a:lnTo>
                  <a:pt x="7907020" y="0"/>
                </a:lnTo>
                <a:lnTo>
                  <a:pt x="7907020" y="6699403"/>
                </a:lnTo>
                <a:lnTo>
                  <a:pt x="0" y="6699403"/>
                </a:lnTo>
                <a:lnTo>
                  <a:pt x="0" y="0"/>
                </a:lnTo>
                <a:close/>
              </a:path>
            </a:pathLst>
          </a:custGeom>
          <a:blipFill>
            <a:blip r:embed="rId6">
              <a:alphaModFix amt="50000"/>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226878">
            <a:off x="-3070488" y="-798226"/>
            <a:ext cx="4576141" cy="2579280"/>
          </a:xfrm>
          <a:custGeom>
            <a:avLst/>
            <a:gdLst/>
            <a:ahLst/>
            <a:cxnLst/>
            <a:rect r="r" b="b" t="t" l="l"/>
            <a:pathLst>
              <a:path h="2579280" w="4576141">
                <a:moveTo>
                  <a:pt x="0" y="0"/>
                </a:moveTo>
                <a:lnTo>
                  <a:pt x="4576142" y="0"/>
                </a:lnTo>
                <a:lnTo>
                  <a:pt x="4576142" y="2579280"/>
                </a:lnTo>
                <a:lnTo>
                  <a:pt x="0" y="25792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2830696">
            <a:off x="14939466" y="8144946"/>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9" id="9"/>
          <p:cNvSpPr txBox="true"/>
          <p:nvPr/>
        </p:nvSpPr>
        <p:spPr>
          <a:xfrm rot="0">
            <a:off x="1741219" y="3800619"/>
            <a:ext cx="13950453" cy="4206852"/>
          </a:xfrm>
          <a:prstGeom prst="rect">
            <a:avLst/>
          </a:prstGeom>
        </p:spPr>
        <p:txBody>
          <a:bodyPr anchor="t" rtlCol="false" tIns="0" lIns="0" bIns="0" rIns="0">
            <a:spAutoFit/>
          </a:bodyPr>
          <a:lstStyle/>
          <a:p>
            <a:pPr algn="just">
              <a:lnSpc>
                <a:spcPts val="4189"/>
              </a:lnSpc>
            </a:pPr>
            <a:r>
              <a:rPr lang="en-US" sz="3367" b="true">
                <a:solidFill>
                  <a:srgbClr val="2D2261"/>
                </a:solidFill>
                <a:latin typeface="Red Hat Display Bold"/>
                <a:ea typeface="Red Hat Display Bold"/>
                <a:cs typeface="Red Hat Display Bold"/>
                <a:sym typeface="Red Hat Display Bold"/>
              </a:rPr>
              <a:t>Thông qua các phương pháp phân tích dữ liệu và thuật toán phân cụm, nghiên cứu đã giúp:</a:t>
            </a:r>
          </a:p>
          <a:p>
            <a:pPr algn="just" marL="727132" indent="-363566" lvl="1">
              <a:lnSpc>
                <a:spcPts val="4189"/>
              </a:lnSpc>
              <a:buFont typeface="Arial"/>
              <a:buChar char="•"/>
            </a:pPr>
            <a:r>
              <a:rPr lang="en-US" b="true" sz="3367">
                <a:solidFill>
                  <a:srgbClr val="2D2261"/>
                </a:solidFill>
                <a:latin typeface="Red Hat Display Bold"/>
                <a:ea typeface="Red Hat Display Bold"/>
                <a:cs typeface="Red Hat Display Bold"/>
                <a:sym typeface="Red Hat Display Bold"/>
              </a:rPr>
              <a:t>hiểu rõ đặc điểm của dataset</a:t>
            </a:r>
          </a:p>
          <a:p>
            <a:pPr algn="just" marL="727132" indent="-363566" lvl="1">
              <a:lnSpc>
                <a:spcPts val="4189"/>
              </a:lnSpc>
              <a:buFont typeface="Arial"/>
              <a:buChar char="•"/>
            </a:pPr>
            <a:r>
              <a:rPr lang="en-US" b="true" sz="3367">
                <a:solidFill>
                  <a:srgbClr val="2D2261"/>
                </a:solidFill>
                <a:latin typeface="Red Hat Display Bold"/>
                <a:ea typeface="Red Hat Display Bold"/>
                <a:cs typeface="Red Hat Display Bold"/>
                <a:sym typeface="Red Hat Display Bold"/>
              </a:rPr>
              <a:t>phát hiện các xu hướng trong dữ liệu</a:t>
            </a:r>
          </a:p>
          <a:p>
            <a:pPr algn="just" marL="727132" indent="-363566" lvl="1">
              <a:lnSpc>
                <a:spcPts val="4189"/>
              </a:lnSpc>
              <a:buFont typeface="Arial"/>
              <a:buChar char="•"/>
            </a:pPr>
            <a:r>
              <a:rPr lang="en-US" b="true" sz="3367">
                <a:solidFill>
                  <a:srgbClr val="2D2261"/>
                </a:solidFill>
                <a:latin typeface="Red Hat Display Bold"/>
                <a:ea typeface="Red Hat Display Bold"/>
                <a:cs typeface="Red Hat Display Bold"/>
                <a:sym typeface="Red Hat Display Bold"/>
              </a:rPr>
              <a:t>phân nhóm các con bò dựa trên đặc điểm tương tự</a:t>
            </a:r>
          </a:p>
          <a:p>
            <a:pPr algn="just">
              <a:lnSpc>
                <a:spcPts val="4189"/>
              </a:lnSpc>
            </a:pPr>
            <a:r>
              <a:rPr lang="en-US" sz="3367" b="true">
                <a:solidFill>
                  <a:srgbClr val="2D2261"/>
                </a:solidFill>
                <a:latin typeface="Red Hat Display Bold"/>
                <a:ea typeface="Red Hat Display Bold"/>
                <a:cs typeface="Red Hat Display Bold"/>
                <a:sym typeface="Red Hat Display Bold"/>
              </a:rPr>
              <a:t>Những</a:t>
            </a:r>
            <a:r>
              <a:rPr lang="en-US" sz="3367" b="true">
                <a:solidFill>
                  <a:srgbClr val="2D2261"/>
                </a:solidFill>
                <a:latin typeface="Red Hat Display Bold"/>
                <a:ea typeface="Red Hat Display Bold"/>
                <a:cs typeface="Red Hat Display Bold"/>
                <a:sym typeface="Red Hat Display Bold"/>
              </a:rPr>
              <a:t> kết quả này có thể hỗ trợ quá trình quản lý và chăm sóc đàn bò trong trang trại.</a:t>
            </a:r>
          </a:p>
          <a:p>
            <a:pPr algn="just">
              <a:lnSpc>
                <a:spcPts val="4189"/>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0">
            <a:off x="-830683" y="-1934430"/>
            <a:ext cx="10960234" cy="7472887"/>
          </a:xfrm>
          <a:custGeom>
            <a:avLst/>
            <a:gdLst/>
            <a:ahLst/>
            <a:cxnLst/>
            <a:rect r="r" b="b" t="t" l="l"/>
            <a:pathLst>
              <a:path h="7472887" w="10960234">
                <a:moveTo>
                  <a:pt x="0" y="0"/>
                </a:moveTo>
                <a:lnTo>
                  <a:pt x="10960234" y="0"/>
                </a:lnTo>
                <a:lnTo>
                  <a:pt x="10960234"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76873" y="2296807"/>
            <a:ext cx="6925852" cy="6014556"/>
          </a:xfrm>
          <a:custGeom>
            <a:avLst/>
            <a:gdLst/>
            <a:ahLst/>
            <a:cxnLst/>
            <a:rect r="r" b="b" t="t" l="l"/>
            <a:pathLst>
              <a:path h="6014556" w="6925852">
                <a:moveTo>
                  <a:pt x="0" y="0"/>
                </a:moveTo>
                <a:lnTo>
                  <a:pt x="6925853" y="0"/>
                </a:lnTo>
                <a:lnTo>
                  <a:pt x="6925853" y="6014556"/>
                </a:lnTo>
                <a:lnTo>
                  <a:pt x="0" y="60145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954423">
            <a:off x="7900264" y="1185318"/>
            <a:ext cx="10275652" cy="8706280"/>
          </a:xfrm>
          <a:custGeom>
            <a:avLst/>
            <a:gdLst/>
            <a:ahLst/>
            <a:cxnLst/>
            <a:rect r="r" b="b" t="t" l="l"/>
            <a:pathLst>
              <a:path h="8706280" w="10275652">
                <a:moveTo>
                  <a:pt x="0" y="0"/>
                </a:moveTo>
                <a:lnTo>
                  <a:pt x="10275652" y="0"/>
                </a:lnTo>
                <a:lnTo>
                  <a:pt x="10275652" y="8706279"/>
                </a:lnTo>
                <a:lnTo>
                  <a:pt x="0" y="8706279"/>
                </a:lnTo>
                <a:lnTo>
                  <a:pt x="0" y="0"/>
                </a:lnTo>
                <a:close/>
              </a:path>
            </a:pathLst>
          </a:custGeom>
          <a:blipFill>
            <a:blip r:embed="rId6">
              <a:alphaModFix amt="50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226878">
            <a:off x="14163385" y="-130454"/>
            <a:ext cx="4576141" cy="2579280"/>
          </a:xfrm>
          <a:custGeom>
            <a:avLst/>
            <a:gdLst/>
            <a:ahLst/>
            <a:cxnLst/>
            <a:rect r="r" b="b" t="t" l="l"/>
            <a:pathLst>
              <a:path h="2579280" w="4576141">
                <a:moveTo>
                  <a:pt x="0" y="0"/>
                </a:moveTo>
                <a:lnTo>
                  <a:pt x="4576141" y="0"/>
                </a:lnTo>
                <a:lnTo>
                  <a:pt x="4576141" y="2579280"/>
                </a:lnTo>
                <a:lnTo>
                  <a:pt x="0" y="25792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3715474">
            <a:off x="3332199" y="5863489"/>
            <a:ext cx="5696370" cy="8266500"/>
          </a:xfrm>
          <a:custGeom>
            <a:avLst/>
            <a:gdLst/>
            <a:ahLst/>
            <a:cxnLst/>
            <a:rect r="r" b="b" t="t" l="l"/>
            <a:pathLst>
              <a:path h="8266500" w="5696370">
                <a:moveTo>
                  <a:pt x="0" y="0"/>
                </a:moveTo>
                <a:lnTo>
                  <a:pt x="5696370" y="0"/>
                </a:lnTo>
                <a:lnTo>
                  <a:pt x="5696370" y="8266500"/>
                </a:lnTo>
                <a:lnTo>
                  <a:pt x="0" y="82665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10039327" y="5353491"/>
            <a:ext cx="5756398" cy="1019781"/>
          </a:xfrm>
          <a:prstGeom prst="rect">
            <a:avLst/>
          </a:prstGeom>
        </p:spPr>
        <p:txBody>
          <a:bodyPr anchor="t" rtlCol="false" tIns="0" lIns="0" bIns="0" rIns="0">
            <a:spAutoFit/>
          </a:bodyPr>
          <a:lstStyle/>
          <a:p>
            <a:pPr algn="l">
              <a:lnSpc>
                <a:spcPts val="4166"/>
              </a:lnSpc>
            </a:pPr>
            <a:r>
              <a:rPr lang="en-US" sz="2976">
                <a:solidFill>
                  <a:srgbClr val="5B7ABE"/>
                </a:solidFill>
                <a:latin typeface="Red Hat Display"/>
                <a:ea typeface="Red Hat Display"/>
                <a:cs typeface="Red Hat Display"/>
                <a:sym typeface="Red Hat Display"/>
              </a:rPr>
              <a:t>C</a:t>
            </a:r>
            <a:r>
              <a:rPr lang="en-US" sz="2976">
                <a:solidFill>
                  <a:srgbClr val="5B7ABE"/>
                </a:solidFill>
                <a:latin typeface="Red Hat Display"/>
                <a:ea typeface="Red Hat Display"/>
                <a:cs typeface="Red Hat Display"/>
                <a:sym typeface="Red Hat Display"/>
              </a:rPr>
              <a:t>ảm ơn thầy và các bạn đã chú ý lắng nghe .</a:t>
            </a:r>
          </a:p>
        </p:txBody>
      </p:sp>
      <p:sp>
        <p:nvSpPr>
          <p:cNvPr name="TextBox 8" id="8"/>
          <p:cNvSpPr txBox="true"/>
          <p:nvPr/>
        </p:nvSpPr>
        <p:spPr>
          <a:xfrm rot="0">
            <a:off x="9663084" y="4040030"/>
            <a:ext cx="8114734" cy="2217895"/>
          </a:xfrm>
          <a:prstGeom prst="rect">
            <a:avLst/>
          </a:prstGeom>
        </p:spPr>
        <p:txBody>
          <a:bodyPr anchor="t" rtlCol="false" tIns="0" lIns="0" bIns="0" rIns="0">
            <a:spAutoFit/>
          </a:bodyPr>
          <a:lstStyle/>
          <a:p>
            <a:pPr algn="l">
              <a:lnSpc>
                <a:spcPts val="8800"/>
              </a:lnSpc>
            </a:pPr>
            <a:r>
              <a:rPr lang="en-US" b="true" sz="7074">
                <a:solidFill>
                  <a:srgbClr val="2D2261"/>
                </a:solidFill>
                <a:latin typeface="Red Hat Display Bold"/>
                <a:ea typeface="Red Hat Display Bold"/>
                <a:cs typeface="Red Hat Display Bold"/>
                <a:sym typeface="Red Hat Display Bold"/>
              </a:rPr>
              <a:t>14. Lời cảm</a:t>
            </a:r>
            <a:r>
              <a:rPr lang="en-US" b="true" sz="7074">
                <a:solidFill>
                  <a:srgbClr val="2D2261"/>
                </a:solidFill>
                <a:latin typeface="Red Hat Display Bold"/>
                <a:ea typeface="Red Hat Display Bold"/>
                <a:cs typeface="Red Hat Display Bold"/>
                <a:sym typeface="Red Hat Display Bold"/>
              </a:rPr>
              <a:t> ơn</a:t>
            </a:r>
          </a:p>
          <a:p>
            <a:pPr algn="l">
              <a:lnSpc>
                <a:spcPts val="8800"/>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DAHD80IXpsM</dc:identifier>
  <dcterms:modified xsi:type="dcterms:W3CDTF">2011-08-01T06:04:30Z</dcterms:modified>
  <cp:revision>1</cp:revision>
  <dc:title>Báo cáo Bài tập lớn</dc:title>
</cp:coreProperties>
</file>